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Roboto Condensed" panose="02000000000000000000" pitchFamily="2" charset="0"/>
      <p:regular r:id="rId27"/>
      <p:bold r:id="rId28"/>
    </p:embeddedFont>
    <p:embeddedFont>
      <p:font typeface="Roboto Condensed SemiBold" panose="02000000000000000000" pitchFamily="2" charset="0"/>
      <p:bold r:id="rId29"/>
    </p:embeddedFont>
    <p:embeddedFont>
      <p:font typeface="Segoe UI" panose="020B05020402040202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38" autoAdjust="0"/>
  </p:normalViewPr>
  <p:slideViewPr>
    <p:cSldViewPr>
      <p:cViewPr varScale="1">
        <p:scale>
          <a:sx n="78" d="100"/>
          <a:sy n="78" d="100"/>
        </p:scale>
        <p:origin x="5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65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Scanvas: a child’s own paper drawing becomes an interactive character in a digital world, in the browser. Live today, 2 worlds, one completed 30-child pilot, no app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Physical creativity has no digital life; digital entertainment rarely lets children create. We tested this with 30 children in one TPA in D.I. Yogyakarta; the sheets shown are their real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Color, Scan, Come Alive, Explore, Discover. The QR opens the public digital trial at scanvas.id/trial.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on this slide is live today at scanvas.id: real screenshots from the current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37-second walk through the free digital trial, recorded on the live product. A child picks the whale, colors it in the browser, brings it to life, sees it swim in a shared ocean, then reads a fact and hears the whale. Click the video to play; it runs without sound until the whale’s call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Scanvas does in one breath, then the four facts that are true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Pilot participants were not paying customers. Its value: five product improvements, two already shipped. Pre-revenue.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Institutions are the first distribution beachhead (demo, pilot, paid session, repeat is the target loop, not history). Families can buy packs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Initial buyer is the PAUD/TK/TPA owner or organizer; the loop is demo, pilot, paid session, repeat. School counts are the beachhead, not the whole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do not claim no competitors: they prove the category exists. Evidence checked Sep 2026 on each product’s official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UVP = the overlap of own creation, web access, and shared worlds. Scope of the claim: the four products in our comparison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pipeline is the asset: physical input, computer-vision processing, personalized asset, interactive runtime, content system. New worlds reuse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Regional row = hypotheses to validate through ITEC. We have no China partner today; we want to explore a partner-led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Revenue models only; no nominal prices because pricing is not validated. B2C is available now, B2B is under validation, Content &amp; IP is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we prove the magic. Next we test repeat value with a 3-lesson Ocean Artist pilot and measure next-lesson start, repeat creation, and willingness to pay. Later layers wait for that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co-founders: Salsabila leads business, partnerships, and GTM; Haikal leads product, engineering, and computer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stage is gated by the previous one. Through ITEC we want partners, distribution, pilot opportunities, and commercialisation guidance, not a claimed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funding amount in this deck. The ask is partners and guidance, each tied to a roadmap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Rp200M when year-1 revenue is Rp77.4M? The first 12 months build the repeatable system and prove repeat use; unit contribution is positive (pack 59%, session 75%). Team is Rp4M per founder per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Exit is indicative. Most realistic: strategic acquisition by a company that wants the engine, the content, and school distribution. No acquirer talks exist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Contacts from the public website (scanvas.id).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Single-year ages are not published in this table, so ages 3-10 are a proportional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Backend detects ArUco markers, corrects perspective, and extracts the object; the frontend shows it with motion, sound, and facts. Child data is minimised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trial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18.png"/><Relationship Id="rId5" Type="http://schemas.openxmlformats.org/officeDocument/2006/relationships/image" Target="../media/image21.png"/><Relationship Id="rId15" Type="http://schemas.openxmlformats.org/officeDocument/2006/relationships/image" Target="../media/image27.png"/><Relationship Id="rId10" Type="http://schemas.openxmlformats.org/officeDocument/2006/relationships/hyperlink" Target="https://www.scanvas.id/trial" TargetMode="Externa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8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8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2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44.pn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trial" TargetMode="External"/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a.me/62895367597379" TargetMode="External"/><Relationship Id="rId5" Type="http://schemas.openxmlformats.org/officeDocument/2006/relationships/image" Target="../media/image49.png"/><Relationship Id="rId4" Type="http://schemas.openxmlformats.org/officeDocument/2006/relationships/hyperlink" Target="https://www.scanvas.id/" TargetMode="External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4.png"/><Relationship Id="rId7" Type="http://schemas.openxmlformats.org/officeDocument/2006/relationships/image" Target="../media/image51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52.png"/><Relationship Id="rId5" Type="http://schemas.openxmlformats.org/officeDocument/2006/relationships/image" Target="../media/image20.png"/><Relationship Id="rId10" Type="http://schemas.openxmlformats.org/officeDocument/2006/relationships/image" Target="../media/image48.png"/><Relationship Id="rId4" Type="http://schemas.openxmlformats.org/officeDocument/2006/relationships/image" Target="../media/image50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497622"/>
            <a:chOff x="0" y="0"/>
            <a:chExt cx="4816593" cy="1310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1061"/>
            </a:xfrm>
            <a:custGeom>
              <a:avLst/>
              <a:gdLst/>
              <a:ahLst/>
              <a:cxnLst/>
              <a:rect l="l" t="t" r="r" b="b"/>
              <a:pathLst>
                <a:path w="4816592" h="131061">
                  <a:moveTo>
                    <a:pt x="0" y="0"/>
                  </a:moveTo>
                  <a:lnTo>
                    <a:pt x="4816592" y="0"/>
                  </a:lnTo>
                  <a:lnTo>
                    <a:pt x="4816592" y="131061"/>
                  </a:lnTo>
                  <a:lnTo>
                    <a:pt x="0" y="131061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69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862471"/>
            <a:ext cx="18288000" cy="673340"/>
            <a:chOff x="0" y="0"/>
            <a:chExt cx="24384000" cy="89778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3304520" y="1508760"/>
            <a:ext cx="3977640" cy="2861158"/>
            <a:chOff x="0" y="0"/>
            <a:chExt cx="5303520" cy="3814877"/>
          </a:xfrm>
        </p:grpSpPr>
        <p:sp>
          <p:nvSpPr>
            <p:cNvPr id="17" name="Freeform 17" descr="assets/itec_logo.png"/>
            <p:cNvSpPr/>
            <p:nvPr/>
          </p:nvSpPr>
          <p:spPr>
            <a:xfrm>
              <a:off x="0" y="0"/>
              <a:ext cx="5303520" cy="3814826"/>
            </a:xfrm>
            <a:custGeom>
              <a:avLst/>
              <a:gdLst/>
              <a:ahLst/>
              <a:cxnLst/>
              <a:rect l="l" t="t" r="r" b="b"/>
              <a:pathLst>
                <a:path w="5303520" h="3814826">
                  <a:moveTo>
                    <a:pt x="0" y="0"/>
                  </a:moveTo>
                  <a:lnTo>
                    <a:pt x="5303520" y="0"/>
                  </a:lnTo>
                  <a:lnTo>
                    <a:pt x="5303520" y="3814826"/>
                  </a:lnTo>
                  <a:lnTo>
                    <a:pt x="0" y="3814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" b="-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" name="Picture 17" descr="Scanva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097280"/>
            <a:ext cx="905307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6736" y="2267712"/>
            <a:ext cx="73152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271FF"/>
                </a:solidFill>
                <a:latin typeface="Roboto Condensed SemiBold"/>
              </a:rPr>
              <a:t>PITCH DECK  ·  ITEC SEA 2026 · DIGITAL CULTURE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43200"/>
            <a:ext cx="7680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200" b="1" i="0">
                <a:solidFill>
                  <a:srgbClr val="172033"/>
                </a:solidFill>
                <a:latin typeface="Roboto Condensed"/>
              </a:rPr>
              <a:t>SCANVAS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51376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7C3AED"/>
                </a:solidFill>
                <a:latin typeface="Roboto Condensed"/>
              </a:rPr>
              <a:t>Where Children’s Creativity</a:t>
            </a:r>
            <a:br/>
            <a:r>
              <a:rPr sz="3600" b="1" i="0">
                <a:solidFill>
                  <a:srgbClr val="7C3AED"/>
                </a:solidFill>
                <a:latin typeface="Roboto Condensed"/>
              </a:rPr>
              <a:t>Comes Alive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548640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300" b="0" i="0">
                <a:solidFill>
                  <a:srgbClr val="172033"/>
                </a:solidFill>
                <a:latin typeface="Roboto Condensed"/>
              </a:rPr>
              <a:t>Children turn their own paper drawings into interactive characters and worlds, directly in the browser.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6912864"/>
            <a:ext cx="7132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Haikal Hilmi</a:t>
            </a:r>
            <a:r>
              <a:rPr sz="1800" b="0" i="0">
                <a:solidFill>
                  <a:srgbClr val="172033"/>
                </a:solidFill>
                <a:latin typeface="Roboto Condensed"/>
              </a:rPr>
              <a:t>  ·  CEO &amp; Co-Founder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7406640"/>
            <a:ext cx="7132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Salsabila Khoirunnisa</a:t>
            </a:r>
            <a:r>
              <a:rPr sz="1800" b="0" i="0">
                <a:solidFill>
                  <a:srgbClr val="172033"/>
                </a:solidFill>
                <a:latin typeface="Roboto Condensed"/>
              </a:rPr>
              <a:t>  ·  CMO &amp; Co-Founder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7936992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  <a:latin typeface="Roboto Condensed SemiBold"/>
              </a:rPr>
              <a:t>Scanvas · scanvas.id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6736" y="8814816"/>
            <a:ext cx="7406640" cy="54864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16736" y="8814816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LIVE PRODUCT · 2 WORLDS · 30-CHILD PILOT · NO APP REQUIRED</a:t>
            </a:r>
          </a:p>
        </p:txBody>
      </p:sp>
      <p:pic>
        <p:nvPicPr>
          <p:cNvPr id="28" name="Picture 2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914400"/>
            <a:ext cx="4023360" cy="3953648"/>
          </a:xfrm>
          <a:prstGeom prst="rect">
            <a:avLst/>
          </a:prstGeom>
        </p:spPr>
      </p:pic>
      <p:pic>
        <p:nvPicPr>
          <p:cNvPr id="29" name="Picture 2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4480560"/>
            <a:ext cx="80467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172033"/>
                </a:solidFill>
                <a:latin typeface="Roboto Condensed"/>
              </a:rPr>
              <a:t>Creativity Starts With the Child —</a:t>
            </a:r>
            <a:br/>
            <a:r>
              <a:rPr sz="4600" b="1" i="0">
                <a:solidFill>
                  <a:srgbClr val="172033"/>
                </a:solidFill>
                <a:latin typeface="Roboto Condensed"/>
              </a:rPr>
              <a:t>But Often Stops at the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23744"/>
            <a:ext cx="7863840" cy="420624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798064"/>
            <a:ext cx="2962656" cy="25775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0" y="28346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Physical creativity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Children draw, color, and imagine. But when the page is finished, the experience usually ends.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742432"/>
            <a:ext cx="1591056" cy="62179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CREATE</a:t>
            </a:r>
          </a:p>
        </p:txBody>
      </p:sp>
      <p:pic>
        <p:nvPicPr>
          <p:cNvPr id="18" name="Picture 1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5916168"/>
            <a:ext cx="274320" cy="274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493008" y="5742432"/>
            <a:ext cx="1901952" cy="62179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FINISHED</a:t>
            </a:r>
          </a:p>
        </p:txBody>
      </p:sp>
      <p:pic>
        <p:nvPicPr>
          <p:cNvPr id="20" name="Picture 1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56" y="5916168"/>
            <a:ext cx="274320" cy="2743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33872" y="5742432"/>
            <a:ext cx="128016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26078"/>
                </a:solidFill>
                <a:latin typeface="Roboto Condensed SemiBold"/>
              </a:rPr>
              <a:t>STOP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523744"/>
            <a:ext cx="7863840" cy="420624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92640" y="2798064"/>
            <a:ext cx="2962656" cy="2578608"/>
          </a:xfrm>
          <a:prstGeom prst="roundRect">
            <a:avLst>
              <a:gd name="adj" fmla="val 851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70463" y="3035808"/>
            <a:ext cx="1207008" cy="210312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508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632" y="3712463"/>
            <a:ext cx="804672" cy="8046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84480" y="28346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Digital entertainment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0" y="347472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Engaging, but children often watch, swipe, and consume someone else’s content.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5742432"/>
            <a:ext cx="1435608" cy="62179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26078"/>
                </a:solidFill>
                <a:latin typeface="Roboto Condensed SemiBold"/>
              </a:rPr>
              <a:t>WATCH</a:t>
            </a:r>
          </a:p>
        </p:txBody>
      </p:sp>
      <p:pic>
        <p:nvPicPr>
          <p:cNvPr id="29" name="Picture 28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0544" y="5916168"/>
            <a:ext cx="274320" cy="27432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1567160" y="5742432"/>
            <a:ext cx="1435608" cy="62179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26078"/>
                </a:solidFill>
                <a:latin typeface="Roboto Condensed SemiBold"/>
              </a:rPr>
              <a:t>SWIPE</a:t>
            </a:r>
          </a:p>
        </p:txBody>
      </p:sp>
      <p:pic>
        <p:nvPicPr>
          <p:cNvPr id="31" name="Picture 30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5064" y="5916168"/>
            <a:ext cx="274320" cy="27432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3441680" y="5742432"/>
            <a:ext cx="1435608" cy="62179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26078"/>
                </a:solidFill>
                <a:latin typeface="Roboto Condensed SemiBold"/>
              </a:rPr>
              <a:t>WATCH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7004304"/>
            <a:ext cx="16093440" cy="1426464"/>
          </a:xfrm>
          <a:prstGeom prst="roundRect">
            <a:avLst>
              <a:gd name="adj" fmla="val 17948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389888" y="7296912"/>
            <a:ext cx="841248" cy="8412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lask-conical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1787" y="7498811"/>
            <a:ext cx="437448" cy="4374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7223760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WHAT WE HAVE TESTED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7626096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30 children · 1 real-world TPA pilot · D.I. Yogyakarta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7132320"/>
            <a:ext cx="2468880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Sheets colored by children in the pilot</a:t>
            </a:r>
          </a:p>
        </p:txBody>
      </p:sp>
      <p:pic>
        <p:nvPicPr>
          <p:cNvPr id="39" name="Picture 38" descr="Artwork colored by a child in the Scanvas TPA pil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07824" y="7132320"/>
            <a:ext cx="1170432" cy="1170432"/>
          </a:xfrm>
          <a:prstGeom prst="rect">
            <a:avLst/>
          </a:prstGeom>
        </p:spPr>
      </p:pic>
      <p:pic>
        <p:nvPicPr>
          <p:cNvPr id="40" name="Picture 39" descr="Artwork colored by a child in the Scanvas TPA pilo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33120" y="7132320"/>
            <a:ext cx="1170432" cy="1170432"/>
          </a:xfrm>
          <a:prstGeom prst="rect">
            <a:avLst/>
          </a:prstGeom>
        </p:spPr>
      </p:pic>
      <p:pic>
        <p:nvPicPr>
          <p:cNvPr id="41" name="Picture 40" descr="Artwork colored by a child in the Scanvas TPA pilo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58416" y="7132320"/>
            <a:ext cx="1170432" cy="1170432"/>
          </a:xfrm>
          <a:prstGeom prst="rect">
            <a:avLst/>
          </a:prstGeom>
        </p:spPr>
      </p:pic>
      <p:pic>
        <p:nvPicPr>
          <p:cNvPr id="42" name="Picture 41" descr="Artwork colored by a child in the Scanvas TPA pilo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83712" y="7132320"/>
            <a:ext cx="1170432" cy="11704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97280" y="8650224"/>
            <a:ext cx="160934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700" b="1" i="0">
                <a:solidFill>
                  <a:srgbClr val="7C3AED"/>
                </a:solidFill>
                <a:latin typeface="Roboto Condensed"/>
              </a:rPr>
              <a:t>What if the child’s own creation became the starting point of the digital experience?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353312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172033"/>
                </a:solidFill>
                <a:latin typeface="Roboto Condensed"/>
              </a:rPr>
              <a:t>A Child’s Own Drawing Becomes</a:t>
            </a:r>
            <a:br/>
            <a:r>
              <a:rPr sz="5200" b="1" i="0">
                <a:solidFill>
                  <a:srgbClr val="172033"/>
                </a:solidFill>
                <a:latin typeface="Roboto Condensed"/>
              </a:rPr>
              <a:t>an Interactive Character in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86000"/>
            <a:ext cx="15179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572768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4190861"/>
            <a:ext cx="2670048" cy="2609365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426464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Color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Child colors a Scanvas sheet</a:t>
            </a:r>
          </a:p>
        </p:txBody>
      </p:sp>
      <p:sp>
        <p:nvSpPr>
          <p:cNvPr id="19" name="Chevron 18"/>
          <p:cNvSpPr/>
          <p:nvPr/>
        </p:nvSpPr>
        <p:spPr>
          <a:xfrm>
            <a:off x="4443983" y="5202936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91456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096" y="3968496"/>
            <a:ext cx="1551918" cy="3054096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4645152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456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Photograph or upload it in the browser</a:t>
            </a:r>
          </a:p>
        </p:txBody>
      </p:sp>
      <p:sp>
        <p:nvSpPr>
          <p:cNvPr id="25" name="Chevron 24"/>
          <p:cNvSpPr/>
          <p:nvPr/>
        </p:nvSpPr>
        <p:spPr>
          <a:xfrm>
            <a:off x="7662672" y="5202936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10144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734580"/>
            <a:ext cx="2670048" cy="1521927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7863840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Come Alive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The artwork is extracted and animated</a:t>
            </a:r>
          </a:p>
        </p:txBody>
      </p:sp>
      <p:sp>
        <p:nvSpPr>
          <p:cNvPr id="31" name="Chevron 30"/>
          <p:cNvSpPr/>
          <p:nvPr/>
        </p:nvSpPr>
        <p:spPr>
          <a:xfrm>
            <a:off x="10881360" y="5202936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228832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4472" y="3968496"/>
            <a:ext cx="1551918" cy="3054096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1082528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28832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Explore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28832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Their character enters an interactive world</a:t>
            </a:r>
          </a:p>
        </p:txBody>
      </p:sp>
      <p:sp>
        <p:nvSpPr>
          <p:cNvPr id="37" name="Chevron 36"/>
          <p:cNvSpPr/>
          <p:nvPr/>
        </p:nvSpPr>
        <p:spPr>
          <a:xfrm>
            <a:off x="14100048" y="5202936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4447520" y="3840480"/>
            <a:ext cx="2743200" cy="32004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Discover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84096" y="4676324"/>
            <a:ext cx="2670048" cy="1638438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14301216" y="3621024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20" y="726033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Discover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0" y="784555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Stories, sounds, and facts extend 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544800" y="1133856"/>
            <a:ext cx="164592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QR code to the Scanvas digital trial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36240" y="1225296"/>
            <a:ext cx="1463040" cy="146304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5326105" y="2907791"/>
            <a:ext cx="2083308" cy="4389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TRY IT LIVE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72768" y="8961120"/>
            <a:ext cx="15142463" cy="6949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72768" y="8961120"/>
            <a:ext cx="15142463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5B21B6"/>
                </a:solidFill>
                <a:latin typeface="Roboto Condensed"/>
              </a:rPr>
              <a:t>Not a stock character. The child’s own creation becomes part of the world.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Rounded Rectangle 11"/>
          <p:cNvSpPr/>
          <p:nvPr/>
        </p:nvSpPr>
        <p:spPr>
          <a:xfrm>
            <a:off x="1097280" y="914400"/>
            <a:ext cx="4473955" cy="54864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7395" tIns="0" rIns="182880" bIns="0" rtlCol="0" anchor="ctr">
            <a:noAutofit/>
          </a:bodyPr>
          <a:lstStyle/>
          <a:p>
            <a:pPr algn="l"/>
            <a:r>
              <a:rPr sz="1700" b="0" i="0">
                <a:solidFill>
                  <a:srgbClr val="15803D"/>
                </a:solidFill>
                <a:latin typeface="Roboto Condensed SemiBold"/>
              </a:rPr>
              <a:t>LIVE TODAY · scanvas.id</a:t>
            </a:r>
          </a:p>
        </p:txBody>
      </p:sp>
      <p:pic>
        <p:nvPicPr>
          <p:cNvPr id="13" name="Picture 12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1018641"/>
            <a:ext cx="340156" cy="3401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1682496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Scanvas Runs Live</a:t>
            </a:r>
            <a:br/>
            <a:r>
              <a:rPr sz="4400" b="1" i="0">
                <a:solidFill>
                  <a:srgbClr val="172033"/>
                </a:solidFill>
                <a:latin typeface="Roboto Condensed"/>
              </a:rPr>
              <a:t>in Any Browser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694176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can-lin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844" y="3869740"/>
            <a:ext cx="380390" cy="3803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48256" y="3639312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Physical </a:t>
            </a:r>
            <a:r>
              <a:rPr sz="21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2100" b="0" i="0">
                <a:solidFill>
                  <a:srgbClr val="172033"/>
                </a:solidFill>
                <a:latin typeface="Roboto Condensed SemiBold"/>
              </a:rPr>
              <a:t>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8256" y="4059936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Print </a:t>
            </a:r>
            <a:r>
              <a:rPr sz="1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900" b="0" i="0">
                <a:solidFill>
                  <a:srgbClr val="172033"/>
                </a:solidFill>
                <a:latin typeface="Roboto Condensed"/>
              </a:rPr>
              <a:t> photo/upload </a:t>
            </a:r>
            <a:r>
              <a:rPr sz="1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900" b="0" i="0">
                <a:solidFill>
                  <a:srgbClr val="172033"/>
                </a:solidFill>
                <a:latin typeface="Roboto Condensed"/>
              </a:rPr>
              <a:t> interactive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645152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844" y="4820716"/>
            <a:ext cx="380390" cy="380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048256" y="4590288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2 interactive worlds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48256" y="5010912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Ocean + Vehicle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5596128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844" y="5771692"/>
            <a:ext cx="380390" cy="3803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048256" y="5541264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Personalized animation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8256" y="5961888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The child’s own artwork is the character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6547104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2844" y="6722668"/>
            <a:ext cx="380390" cy="38039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48256" y="6492240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Story &amp; sound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48256" y="6912864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Objects unlock sound, story, and facts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7498079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palet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2844" y="7673644"/>
            <a:ext cx="380390" cy="3803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48256" y="7443216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Digital 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8256" y="7863840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Try the experience before buying a pack</a:t>
            </a:r>
          </a:p>
        </p:txBody>
      </p:sp>
      <p:sp>
        <p:nvSpPr>
          <p:cNvPr id="35" name="Oval 34"/>
          <p:cNvSpPr/>
          <p:nvPr/>
        </p:nvSpPr>
        <p:spPr>
          <a:xfrm>
            <a:off x="1097280" y="8449055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globe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844" y="8624620"/>
            <a:ext cx="380390" cy="38039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48256" y="8394192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Browser-based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8256" y="8814815"/>
            <a:ext cx="5669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No mandatory app installation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1133856"/>
            <a:ext cx="1572768" cy="1572768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QR code to the Scanvas digital trial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225296"/>
            <a:ext cx="1389888" cy="138988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6101587" y="2816352"/>
            <a:ext cx="1988312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Roboto Condensed SemiBold"/>
              </a:rPr>
              <a:t>TRY IT LIVE</a:t>
            </a:r>
          </a:p>
        </p:txBody>
      </p:sp>
      <p:pic>
        <p:nvPicPr>
          <p:cNvPr id="42" name="Picture 41" descr="Landing p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914400"/>
            <a:ext cx="2648483" cy="52120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29600" y="61813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0" i="0">
                <a:solidFill>
                  <a:srgbClr val="172033"/>
                </a:solidFill>
                <a:latin typeface="Roboto Condensed SemiBold"/>
              </a:rPr>
              <a:t>Landing page</a:t>
            </a:r>
          </a:p>
        </p:txBody>
      </p:sp>
      <p:pic>
        <p:nvPicPr>
          <p:cNvPr id="44" name="Picture 43" descr="Scan / uploa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92256" y="914400"/>
            <a:ext cx="2648483" cy="52120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92256" y="61813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0" i="0">
                <a:solidFill>
                  <a:srgbClr val="172033"/>
                </a:solidFill>
                <a:latin typeface="Roboto Condensed SemiBold"/>
              </a:rPr>
              <a:t>Scan / upload</a:t>
            </a:r>
          </a:p>
        </p:txBody>
      </p:sp>
      <p:pic>
        <p:nvPicPr>
          <p:cNvPr id="46" name="Picture 45" descr="Alive in the worl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54912" y="914400"/>
            <a:ext cx="2648483" cy="52120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54912" y="61813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0" i="0">
                <a:solidFill>
                  <a:srgbClr val="172033"/>
                </a:solidFill>
                <a:latin typeface="Roboto Condensed SemiBold"/>
              </a:rPr>
              <a:t>Alive in the world</a:t>
            </a:r>
          </a:p>
        </p:txBody>
      </p:sp>
      <p:pic>
        <p:nvPicPr>
          <p:cNvPr id="48" name="Picture 47" descr="Vehicle worl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0" y="6729984"/>
            <a:ext cx="4389120" cy="2693323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595360" y="6986016"/>
            <a:ext cx="23423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 SemiBold"/>
              </a:rPr>
              <a:t>Vehicle world</a:t>
            </a:r>
          </a:p>
        </p:txBody>
      </p:sp>
      <p:pic>
        <p:nvPicPr>
          <p:cNvPr id="50" name="Picture 49" descr="Story &amp; soun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65024" y="6729984"/>
            <a:ext cx="4389120" cy="2693323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3130784" y="6986016"/>
            <a:ext cx="23423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 SemiBold"/>
              </a:rPr>
              <a:t>Story &amp; sound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PRODUCT OR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Rounded Rectangle 11"/>
          <p:cNvSpPr/>
          <p:nvPr/>
        </p:nvSpPr>
        <p:spPr>
          <a:xfrm>
            <a:off x="1097280" y="914400"/>
            <a:ext cx="2418588" cy="54864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7395" tIns="0" rIns="182880" bIns="0" rtlCol="0" anchor="ctr">
            <a:noAutofit/>
          </a:bodyPr>
          <a:lstStyle/>
          <a:p>
            <a:pPr algn="l"/>
            <a:r>
              <a:rPr sz="1700" b="0" i="0">
                <a:solidFill>
                  <a:srgbClr val="15803D"/>
                </a:solidFill>
                <a:latin typeface="Roboto Condensed SemiBold"/>
              </a:rPr>
              <a:t>LIVE DEMO</a:t>
            </a:r>
          </a:p>
        </p:txBody>
      </p:sp>
      <p:pic>
        <p:nvPicPr>
          <p:cNvPr id="13" name="Picture 12" descr="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736" y="1018641"/>
            <a:ext cx="340156" cy="3401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1682496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See the Digital Trial</a:t>
            </a:r>
            <a:br/>
            <a:r>
              <a:rPr sz="4400" b="1" i="0">
                <a:solidFill>
                  <a:srgbClr val="172033"/>
                </a:solidFill>
                <a:latin typeface="Roboto Condensed"/>
              </a:rPr>
              <a:t>in 37 Seconds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657600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5376" y="358444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Pick a drawing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3968496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Free, in any browser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572000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49884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Color it in the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5376" y="4882896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Tap inside the lines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486400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65376" y="541324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Watch it come alive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5376" y="5797296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The child’s own colors swim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6400800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632764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It joins a shared ocean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5376" y="6711696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One living world for every drawing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7315200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65376" y="724204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Learn a fact, hear its sound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5376" y="7626096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Play turns into learning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042415"/>
            <a:ext cx="11430000" cy="6509385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Scanvas digital trial 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35040" y="1133856"/>
            <a:ext cx="11247120" cy="632650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7679817"/>
            <a:ext cx="112471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0" i="0">
                <a:solidFill>
                  <a:srgbClr val="172033"/>
                </a:solidFill>
                <a:latin typeface="Roboto Condensed"/>
              </a:rPr>
              <a:t>Recorded on the live product: no app, no account. Click the video to play.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8449056"/>
            <a:ext cx="1487424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No 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31007" y="8449056"/>
            <a:ext cx="204012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No account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17440" y="8449056"/>
            <a:ext cx="2178304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Any browser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PRODUCT OR SERVICE · LIVE DEMO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Scanvas Builds a Physical-to-Digital</a:t>
            </a:r>
            <a:br/>
            <a:r>
              <a:rPr sz="4400" b="1" i="0">
                <a:solidFill>
                  <a:srgbClr val="172033"/>
                </a:solidFill>
                <a:latin typeface="Roboto Condensed"/>
              </a:rPr>
              <a:t>Creation Engine for Children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9966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172033"/>
                </a:solidFill>
                <a:latin typeface="Roboto Condensed"/>
              </a:rPr>
              <a:t>Children aged 3–10 color a printed Scanvas sheet, scan it in the browser, and their own artwork becomes an animated character inside an interactive world with sound, stories, and 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023360"/>
            <a:ext cx="9966960" cy="914400"/>
          </a:xfrm>
          <a:prstGeom prst="roundRect">
            <a:avLst>
              <a:gd name="adj" fmla="val 2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023360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5B21B6"/>
                </a:solidFill>
                <a:latin typeface="Roboto Condensed SemiBold"/>
              </a:rPr>
              <a:t>Our mission: children do not only consume digital culture — they participate in creating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266944"/>
            <a:ext cx="4882896" cy="182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71600" y="5541264"/>
            <a:ext cx="694944" cy="69494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glob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86" y="5708050"/>
            <a:ext cx="361370" cy="3613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31136" y="5541264"/>
            <a:ext cx="3511296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Live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364224"/>
            <a:ext cx="433425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scanvas.id · public digital trial · no app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5266944"/>
            <a:ext cx="4882896" cy="182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55664" y="5541264"/>
            <a:ext cx="694944" cy="69494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ompas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450" y="5708050"/>
            <a:ext cx="361370" cy="3613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0" y="5541264"/>
            <a:ext cx="3511296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2 interactive worlds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6364224"/>
            <a:ext cx="433425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Ocean + Vehicle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7315200"/>
            <a:ext cx="4882896" cy="182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71600" y="7589520"/>
            <a:ext cx="694944" cy="69494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us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8386" y="7756306"/>
            <a:ext cx="361370" cy="3613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231136" y="7589520"/>
            <a:ext cx="3511296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First 30-child 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8412480"/>
            <a:ext cx="433425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One TPA in D.I. Yogyakarta · five product changes from feedback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7315200"/>
            <a:ext cx="4882896" cy="18288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55664" y="7589520"/>
            <a:ext cx="694944" cy="69494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lask-conical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450" y="7756306"/>
            <a:ext cx="361370" cy="36137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15200" y="7589520"/>
            <a:ext cx="3511296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Pre-revenue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8412480"/>
            <a:ext cx="4334256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Pricing and repeat value are being validated</a:t>
            </a:r>
          </a:p>
        </p:txBody>
      </p:sp>
      <p:sp>
        <p:nvSpPr>
          <p:cNvPr id="36" name="Oval 35"/>
          <p:cNvSpPr/>
          <p:nvPr/>
        </p:nvSpPr>
        <p:spPr>
          <a:xfrm>
            <a:off x="11978640" y="2651760"/>
            <a:ext cx="5029200" cy="50292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A child’s scanned whale swimming in the Scanvas Ocean worl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7280" y="1133856"/>
            <a:ext cx="4135351" cy="81381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ABOUT OUR COMPANY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Our First 30-Child Pilot</a:t>
            </a:r>
            <a:br/>
            <a:r>
              <a:rPr sz="4400" b="1" i="0">
                <a:solidFill>
                  <a:srgbClr val="172033"/>
                </a:solidFill>
                <a:latin typeface="Roboto Condensed"/>
              </a:rPr>
              <a:t>Already Changed the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60320"/>
            <a:ext cx="1837943" cy="1975104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183794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584448"/>
            <a:ext cx="154533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interactive worlds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2560320"/>
            <a:ext cx="1837943" cy="1975104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80" y="2651760"/>
            <a:ext cx="183794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3584448"/>
            <a:ext cx="154533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children in first real-world pilot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560320"/>
            <a:ext cx="1837943" cy="1975104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2651760"/>
            <a:ext cx="183794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584448"/>
            <a:ext cx="154533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TPA pilot completed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560320"/>
            <a:ext cx="1837943" cy="1975104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651760"/>
            <a:ext cx="1837943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783" y="3584448"/>
            <a:ext cx="1545335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product improvements from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791456"/>
            <a:ext cx="1435608" cy="58521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BUILT</a:t>
            </a:r>
          </a:p>
        </p:txBody>
      </p:sp>
      <p:pic>
        <p:nvPicPr>
          <p:cNvPr id="26" name="Picture 25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4946904"/>
            <a:ext cx="274320" cy="2743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2971800" y="4791456"/>
            <a:ext cx="1591056" cy="58521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TESTED</a:t>
            </a:r>
          </a:p>
        </p:txBody>
      </p:sp>
      <p:pic>
        <p:nvPicPr>
          <p:cNvPr id="28" name="Picture 27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4946904"/>
            <a:ext cx="274320" cy="27432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001768" y="4791456"/>
            <a:ext cx="1746504" cy="58521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LEARNED</a:t>
            </a:r>
          </a:p>
        </p:txBody>
      </p:sp>
      <p:pic>
        <p:nvPicPr>
          <p:cNvPr id="30" name="Picture 29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4946904"/>
            <a:ext cx="274320" cy="27432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187184" y="4791456"/>
            <a:ext cx="1746504" cy="58521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SHIPPED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669280"/>
            <a:ext cx="82296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63040" y="5815584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72033"/>
                </a:solidFill>
                <a:latin typeface="Roboto Condensed"/>
              </a:rPr>
              <a:t>FEEDBACK </a:t>
            </a:r>
            <a:r>
              <a:rPr sz="23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2300" b="1" i="0">
                <a:solidFill>
                  <a:srgbClr val="172033"/>
                </a:solidFill>
                <a:latin typeface="Roboto Condensed"/>
              </a:rPr>
              <a:t> PRODUCT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6473952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SHIPPED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643737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Larger interactive world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63040" y="7022592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SHIPPED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698601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Digital trial before purchase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63040" y="7571231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753465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Bulk drawing processing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63040" y="8119871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808329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Story &amp; learning space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3040" y="8668512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8631936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Additional worlds</a:t>
            </a:r>
          </a:p>
        </p:txBody>
      </p:sp>
      <p:pic>
        <p:nvPicPr>
          <p:cNvPr id="44" name="Picture 43" descr="Scanvas demo with children during the TPA pi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560320"/>
            <a:ext cx="7498079" cy="4217670"/>
          </a:xfrm>
          <a:prstGeom prst="rect">
            <a:avLst/>
          </a:prstGeom>
        </p:spPr>
      </p:pic>
      <p:pic>
        <p:nvPicPr>
          <p:cNvPr id="45" name="Picture 44" descr="Children coloring Scanvas sheets in the pilot"/>
          <p:cNvPicPr>
            <a:picLocks noChangeAspect="1"/>
          </p:cNvPicPr>
          <p:nvPr/>
        </p:nvPicPr>
        <p:blipFill>
          <a:blip r:embed="rId5"/>
          <a:srcRect l="12500" r="12500"/>
          <a:stretch>
            <a:fillRect/>
          </a:stretch>
        </p:blipFill>
        <p:spPr>
          <a:xfrm>
            <a:off x="9692640" y="6931152"/>
            <a:ext cx="2377439" cy="1783079"/>
          </a:xfrm>
          <a:prstGeom prst="rect">
            <a:avLst/>
          </a:prstGeom>
        </p:spPr>
      </p:pic>
      <p:pic>
        <p:nvPicPr>
          <p:cNvPr id="46" name="Picture 45" descr="Children coloring Scanvas sheets in the pilot"/>
          <p:cNvPicPr>
            <a:picLocks noChangeAspect="1"/>
          </p:cNvPicPr>
          <p:nvPr/>
        </p:nvPicPr>
        <p:blipFill>
          <a:blip r:embed="rId6"/>
          <a:srcRect l="12500" r="12500"/>
          <a:stretch>
            <a:fillRect/>
          </a:stretch>
        </p:blipFill>
        <p:spPr>
          <a:xfrm>
            <a:off x="12252959" y="6931152"/>
            <a:ext cx="2377439" cy="1783079"/>
          </a:xfrm>
          <a:prstGeom prst="rect">
            <a:avLst/>
          </a:prstGeom>
        </p:spPr>
      </p:pic>
      <p:pic>
        <p:nvPicPr>
          <p:cNvPr id="47" name="Picture 46" descr="Children coloring Scanvas sheets in the pilot"/>
          <p:cNvPicPr>
            <a:picLocks noChangeAspect="1"/>
          </p:cNvPicPr>
          <p:nvPr/>
        </p:nvPicPr>
        <p:blipFill>
          <a:blip r:embed="rId7"/>
          <a:srcRect l="12500" r="12500"/>
          <a:stretch>
            <a:fillRect/>
          </a:stretch>
        </p:blipFill>
        <p:spPr>
          <a:xfrm>
            <a:off x="14813280" y="6931152"/>
            <a:ext cx="2377439" cy="178307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92640" y="8887968"/>
            <a:ext cx="749807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First real-world pilot · TPA, D.I. Yogyakarta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ABOUT OUR COMPANY · TRACTION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Two Buyers, One User: Children Aged 3–10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94560"/>
            <a:ext cx="7863840" cy="64008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3040" y="2487168"/>
            <a:ext cx="4933188" cy="47548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TARGET MARKET 1 · FIRST BEACHHEAD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18688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Roboto Condensed"/>
              </a:rPr>
              <a:t>Institutions</a:t>
            </a:r>
          </a:p>
        </p:txBody>
      </p:sp>
      <p:pic>
        <p:nvPicPr>
          <p:cNvPr id="16" name="Picture 15" descr="Institutions use c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3" y="3145536"/>
            <a:ext cx="2779776" cy="1389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4681728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Buyer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92624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PAUD / TK / TPA owner or principal · school or activity organizer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669280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Use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980176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Creative classroom or activity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656832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Why they 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696772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A ready-made creative activity that ends with every child’s artwork alive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7626096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Target acquisition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7955279"/>
            <a:ext cx="7315200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7955279"/>
            <a:ext cx="73152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DEMO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PILOT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PAID SESSION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REPEAT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194560"/>
            <a:ext cx="7863840" cy="64008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692640" y="2487168"/>
            <a:ext cx="4674108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TARGET MARKET 2 · AVAILABLE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18688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Roboto Condensed"/>
              </a:rPr>
              <a:t>Families</a:t>
            </a:r>
          </a:p>
        </p:txBody>
      </p:sp>
      <p:pic>
        <p:nvPicPr>
          <p:cNvPr id="29" name="Picture 28" descr="Families use c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5183" y="3145536"/>
            <a:ext cx="2779776" cy="13898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92640" y="4681728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Buyer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992624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Parents of children aged 3–10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669280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Use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5980176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Creative play at home with a physical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656832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Why they buy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696772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Screen time that starts with their child creating, not swiping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7626096"/>
            <a:ext cx="7132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How we reach them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7955279"/>
            <a:ext cx="7315200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0" y="7955279"/>
            <a:ext cx="73152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SHORT VIDEO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DIGITAL TRIAL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CREATIVE PACK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NEW WORLD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8851392"/>
            <a:ext cx="16093440" cy="6583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palett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8997696"/>
            <a:ext cx="365760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09360" y="8851392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5B21B6"/>
                </a:solidFill>
                <a:latin typeface="Roboto Condensed"/>
              </a:rPr>
              <a:t>USER · children aged 3–10 who create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TARGET MARKET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4630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Start With a Reachable Beachhead,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Then Scale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57984"/>
            <a:ext cx="1609344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Bottom-up: count of PAUD + primary-school units (our institutional buyers), plus a BPS-based estimate of children aged 3–10.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3749039" cy="4151376"/>
          </a:xfrm>
          <a:prstGeom prst="roundRect">
            <a:avLst>
              <a:gd name="adj" fmla="val 7804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389888" y="455371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WEDGE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5684" y="4553712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517550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Roboto Condensed SemiBold"/>
              </a:rPr>
              <a:t>D.I. Yogyakarta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65099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Roboto Condensed"/>
              </a:rPr>
              <a:t>7,123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652881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EDE9FE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696772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Roboto Condensed"/>
              </a:rPr>
              <a:t>First institutional beachhead, where our first pilot ran.</a:t>
            </a:r>
          </a:p>
        </p:txBody>
      </p:sp>
      <p:sp>
        <p:nvSpPr>
          <p:cNvPr id="21" name="Chevron 20"/>
          <p:cNvSpPr/>
          <p:nvPr/>
        </p:nvSpPr>
        <p:spPr>
          <a:xfrm>
            <a:off x="49194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12080" y="3931920"/>
            <a:ext cx="3749039" cy="4517136"/>
          </a:xfrm>
          <a:prstGeom prst="roundRect">
            <a:avLst>
              <a:gd name="adj" fmla="val 7804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504688" y="418795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SCALE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0484" y="4187952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SAM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480974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Central Java + DIY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5285231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5B21B6"/>
                </a:solidFill>
                <a:latin typeface="Roboto Condensed"/>
              </a:rPr>
              <a:t>62,797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616305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660196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School sessions, events, and Scanvas Studio.</a:t>
            </a:r>
          </a:p>
        </p:txBody>
      </p:sp>
      <p:sp>
        <p:nvSpPr>
          <p:cNvPr id="29" name="Chevron 28"/>
          <p:cNvSpPr/>
          <p:nvPr/>
        </p:nvSpPr>
        <p:spPr>
          <a:xfrm>
            <a:off x="90342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26880" y="3566160"/>
            <a:ext cx="3749039" cy="4882896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19488" y="3822192"/>
            <a:ext cx="169468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NATIONAL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23903" y="3822192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TAM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444398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Indonesia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9488" y="491947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5B21B6"/>
                </a:solidFill>
                <a:latin typeface="Roboto Condensed"/>
              </a:rPr>
              <a:t>420,886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579729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623620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≈35.3M children aged 3–10.*</a:t>
            </a:r>
          </a:p>
        </p:txBody>
      </p:sp>
      <p:sp>
        <p:nvSpPr>
          <p:cNvPr id="37" name="Chevron 36"/>
          <p:cNvSpPr/>
          <p:nvPr/>
        </p:nvSpPr>
        <p:spPr>
          <a:xfrm>
            <a:off x="131490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3441680" y="3200400"/>
            <a:ext cx="3749039" cy="5248656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3734288" y="3456432"/>
            <a:ext cx="143560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EXPAND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34288" y="407822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Southeast Asia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34288" y="455371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7C3AED"/>
                </a:solidFill>
                <a:latin typeface="Roboto Condensed"/>
              </a:rPr>
              <a:t>SEA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34288" y="543153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same engine, local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34288" y="587044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New languages, worlds, cultural content, partners.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859536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B21B6"/>
                </a:solidFill>
                <a:latin typeface="Roboto Condensed SemiBold"/>
              </a:rPr>
              <a:t>Institution counts represent the first distribution beachhead — not the entire Scanvas market. Families, events, and content expand beyond it.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9180576"/>
            <a:ext cx="160934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72033"/>
                </a:solidFill>
                <a:latin typeface="Roboto Condensed"/>
              </a:rPr>
              <a:t>Sources: Kemendikdasmen Data Referensi Pendidikan (PAUD, SD), accessed Sep 2026 · *estimated from BPS population by 5-year age group, 2022. Details in Appendix B.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MARKET SIZE / POTENTIAL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172033"/>
                </a:solidFill>
                <a:latin typeface="Roboto Condensed"/>
              </a:rPr>
              <a:t>Competitors Prove the Category; Scanvas Combines</a:t>
            </a:r>
            <a:br/>
            <a:r>
              <a:rPr sz="3800" b="1" i="0">
                <a:solidFill>
                  <a:srgbClr val="172033"/>
                </a:solidFill>
                <a:latin typeface="Roboto Condensed"/>
              </a:rPr>
              <a:t>Web Access, Personalisation, and Shared Worlds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16642080" cy="5925312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2200" b="1" i="0">
                <a:solidFill>
                  <a:srgbClr val="5B21B6"/>
                </a:solidFill>
                <a:latin typeface="Roboto Condensed"/>
              </a:rPr>
              <a:t>Scanvas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Faber-Castell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ARt Alive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9568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Quiver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91872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WAGZAK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JUMP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24176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teamLab Sketch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Aquarium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419856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6464" y="341985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Paper coloring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 SemiBold"/>
              </a:rPr>
              <a:t> digital</a:t>
            </a:r>
          </a:p>
        </p:txBody>
      </p:sp>
      <p:pic>
        <p:nvPicPr>
          <p:cNvPr id="21" name="Picture 20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538728"/>
            <a:ext cx="365760" cy="365760"/>
          </a:xfrm>
          <a:prstGeom prst="rect">
            <a:avLst/>
          </a:prstGeom>
        </p:spPr>
      </p:pic>
      <p:pic>
        <p:nvPicPr>
          <p:cNvPr id="22" name="Picture 2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3538728"/>
            <a:ext cx="365760" cy="365760"/>
          </a:xfrm>
          <a:prstGeom prst="rect">
            <a:avLst/>
          </a:prstGeom>
        </p:spPr>
      </p:pic>
      <p:pic>
        <p:nvPicPr>
          <p:cNvPr id="23" name="Picture 2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3538728"/>
            <a:ext cx="365760" cy="365760"/>
          </a:xfrm>
          <a:prstGeom prst="rect">
            <a:avLst/>
          </a:prstGeom>
        </p:spPr>
      </p:pic>
      <p:pic>
        <p:nvPicPr>
          <p:cNvPr id="24" name="Picture 2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3538728"/>
            <a:ext cx="365760" cy="365760"/>
          </a:xfrm>
          <a:prstGeom prst="rect">
            <a:avLst/>
          </a:prstGeom>
        </p:spPr>
      </p:pic>
      <p:pic>
        <p:nvPicPr>
          <p:cNvPr id="25" name="Picture 2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3538728"/>
            <a:ext cx="365760" cy="3657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371600" y="4023360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26464" y="402336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Child’s artwork becomes character</a:t>
            </a:r>
          </a:p>
        </p:txBody>
      </p:sp>
      <p:pic>
        <p:nvPicPr>
          <p:cNvPr id="28" name="Picture 2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142232"/>
            <a:ext cx="365760" cy="365760"/>
          </a:xfrm>
          <a:prstGeom prst="rect">
            <a:avLst/>
          </a:prstGeom>
        </p:spPr>
      </p:pic>
      <p:pic>
        <p:nvPicPr>
          <p:cNvPr id="29" name="Picture 28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4142232"/>
            <a:ext cx="365760" cy="365760"/>
          </a:xfrm>
          <a:prstGeom prst="rect">
            <a:avLst/>
          </a:prstGeom>
        </p:spPr>
      </p:pic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4142232"/>
            <a:ext cx="365760" cy="365760"/>
          </a:xfrm>
          <a:prstGeom prst="rect">
            <a:avLst/>
          </a:prstGeom>
        </p:spPr>
      </p:pic>
      <p:pic>
        <p:nvPicPr>
          <p:cNvPr id="31" name="Picture 3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4142232"/>
            <a:ext cx="365760" cy="365760"/>
          </a:xfrm>
          <a:prstGeom prst="rect">
            <a:avLst/>
          </a:prstGeom>
        </p:spPr>
      </p:pic>
      <p:pic>
        <p:nvPicPr>
          <p:cNvPr id="32" name="Picture 3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4142232"/>
            <a:ext cx="365760" cy="36576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371600" y="4626864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26464" y="4626864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No app required (web)</a:t>
            </a:r>
          </a:p>
        </p:txBody>
      </p:sp>
      <p:pic>
        <p:nvPicPr>
          <p:cNvPr id="35" name="Picture 34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745736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27264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8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91872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24176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Venue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5230368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26464" y="5230368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Shared interactive worlds</a:t>
            </a:r>
          </a:p>
        </p:txBody>
      </p:sp>
      <p:pic>
        <p:nvPicPr>
          <p:cNvPr id="42" name="Picture 4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5349240"/>
            <a:ext cx="365760" cy="3657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27264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9568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91872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pic>
        <p:nvPicPr>
          <p:cNvPr id="46" name="Picture 45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5349240"/>
            <a:ext cx="365760" cy="36576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371600" y="5833872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833872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Educational / story content</a:t>
            </a:r>
          </a:p>
        </p:txBody>
      </p:sp>
      <p:pic>
        <p:nvPicPr>
          <p:cNvPr id="49" name="Picture 48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5952744"/>
            <a:ext cx="365760" cy="3657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827264" y="583387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Some</a:t>
            </a:r>
          </a:p>
        </p:txBody>
      </p:sp>
      <p:pic>
        <p:nvPicPr>
          <p:cNvPr id="51" name="Picture 5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5952744"/>
            <a:ext cx="365760" cy="365760"/>
          </a:xfrm>
          <a:prstGeom prst="rect">
            <a:avLst/>
          </a:prstGeom>
        </p:spPr>
      </p:pic>
      <p:pic>
        <p:nvPicPr>
          <p:cNvPr id="52" name="Picture 5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5952744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5124176" y="583387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Some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6437376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26464" y="643737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Institutional sessions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7264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59568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Edu subscription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91872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School license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124176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Installation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0" y="7040880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26464" y="704088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Large ready-made content library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2 worlds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27264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pic>
        <p:nvPicPr>
          <p:cNvPr id="65" name="Picture 6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7159751"/>
            <a:ext cx="365760" cy="36576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2691872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100+ lessons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124176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7644383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26464" y="7644383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Brand &amp; distribution reach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94960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Early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7264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Retail brand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59568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26M+ downloads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91872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30 languages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124176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Museums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97280" y="8430768"/>
            <a:ext cx="16093440" cy="9144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26464" y="8430768"/>
            <a:ext cx="15453359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 SemiBold"/>
              </a:rPr>
              <a:t>Scanvas does not need to replace these products. The opportunity is to combine a low-friction web experience, child-generated characters, shared worlds, and a reusable content engine.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" y="9454896"/>
            <a:ext cx="160934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Roboto Condensed"/>
              </a:rPr>
              <a:t>Indirect competition also includes video and game apps that compete for screen time. Evidence checked Sep 2026 on each product’s official site.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36992" y="2103120"/>
            <a:ext cx="7077456" cy="310896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936992" y="2103120"/>
            <a:ext cx="70774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Roboto Condensed SemiBold"/>
              </a:rPr>
              <a:t>DIRECT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5233904" y="2103120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5233904" y="2103120"/>
            <a:ext cx="2212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Roboto Condensed SemiBold"/>
              </a:rPr>
              <a:t>INDIRECT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COMPETITORS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172033"/>
                </a:solidFill>
                <a:latin typeface="Roboto Condensed"/>
              </a:rPr>
              <a:t>Why Choose Scanvas?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65376"/>
            <a:ext cx="15727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172033"/>
                </a:solidFill>
                <a:latin typeface="Roboto Condensed"/>
              </a:rPr>
              <a:t>The child’s own drawing becomes an interactive character in a shared world — in the browser, with no app to install.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2926080"/>
            <a:ext cx="3749039" cy="3749039"/>
          </a:xfrm>
          <a:prstGeom prst="ellipse">
            <a:avLst/>
          </a:prstGeom>
          <a:solidFill>
            <a:srgbClr val="7C3AED">
              <a:alpha val="22000"/>
            </a:srgbClr>
          </a:solidFill>
          <a:ln w="317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31920" y="2926080"/>
            <a:ext cx="3749039" cy="3749039"/>
          </a:xfrm>
          <a:prstGeom prst="ellipse">
            <a:avLst/>
          </a:prstGeom>
          <a:solidFill>
            <a:srgbClr val="5271FF">
              <a:alpha val="22000"/>
            </a:srgbClr>
          </a:solidFill>
          <a:ln w="31750">
            <a:solidFill>
              <a:srgbClr val="52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651760" y="5212080"/>
            <a:ext cx="3749039" cy="3749039"/>
          </a:xfrm>
          <a:prstGeom prst="ellipse">
            <a:avLst/>
          </a:prstGeom>
          <a:solidFill>
            <a:srgbClr val="A78BFA">
              <a:alpha val="22000"/>
            </a:srgbClr>
          </a:solidFill>
          <a:ln w="317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82496" y="3840480"/>
            <a:ext cx="215798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5B21B6"/>
                </a:solidFill>
                <a:latin typeface="Roboto Condensed"/>
              </a:rPr>
              <a:t>Own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6" y="4334256"/>
            <a:ext cx="215798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The child’s artwork is the character, not a stock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3840480"/>
            <a:ext cx="215798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2200" b="1" i="0">
                <a:solidFill>
                  <a:srgbClr val="5B21B6"/>
                </a:solidFill>
                <a:latin typeface="Roboto Condensed"/>
              </a:rPr>
              <a:t>Web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4334256"/>
            <a:ext cx="215798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Works in the browser on a phone or laptop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7315200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200" b="1" i="0">
                <a:solidFill>
                  <a:srgbClr val="5B21B6"/>
                </a:solidFill>
                <a:latin typeface="Roboto Condensed"/>
              </a:rPr>
              <a:t>Shared worlds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7808975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Characters live together in interactive worlds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62172" y="5815584"/>
            <a:ext cx="1746504" cy="5852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Roboto Condensed SemiBold"/>
              </a:rPr>
              <a:t>SCANVAS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017520"/>
            <a:ext cx="8046720" cy="4791456"/>
          </a:xfrm>
          <a:prstGeom prst="roundRect">
            <a:avLst>
              <a:gd name="adj" fmla="val 5343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978640" y="3200400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Roboto Condensed SemiBold"/>
              </a:rPr>
              <a:t>Own creation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0" y="3200400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Roboto Condensed SemiBold"/>
              </a:rPr>
              <a:t>Web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53359" y="3200400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Roboto Condensed SemiBold"/>
              </a:rPr>
              <a:t>Shared worlds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3968496"/>
            <a:ext cx="7498079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73184" y="396849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Faber-Castell ARt Alive</a:t>
            </a:r>
          </a:p>
        </p:txBody>
      </p:sp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0" y="4151376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036040" y="396849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73399" y="396849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4700016"/>
            <a:ext cx="7498079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73184" y="470001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Quiver</a:t>
            </a:r>
          </a:p>
        </p:txBody>
      </p:sp>
      <p:pic>
        <p:nvPicPr>
          <p:cNvPr id="35" name="Picture 34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0" y="4882896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036040" y="470001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73399" y="470001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5431536"/>
            <a:ext cx="7498079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73184" y="543153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WAGZAK JUMP</a:t>
            </a:r>
          </a:p>
        </p:txBody>
      </p:sp>
      <p:pic>
        <p:nvPicPr>
          <p:cNvPr id="40" name="Picture 39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0" y="5614416"/>
            <a:ext cx="365760" cy="3657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036040" y="543153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73399" y="543153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6163056"/>
            <a:ext cx="7498079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73184" y="616305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teamLab Sketch Aquarium</a:t>
            </a:r>
          </a:p>
        </p:txBody>
      </p:sp>
      <p:pic>
        <p:nvPicPr>
          <p:cNvPr id="45" name="Picture 44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0" y="6345936"/>
            <a:ext cx="365760" cy="36576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036040" y="6163056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pic>
        <p:nvPicPr>
          <p:cNvPr id="47" name="Picture 46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59" y="6345936"/>
            <a:ext cx="365760" cy="36576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290304" y="6931152"/>
            <a:ext cx="7754112" cy="658368"/>
          </a:xfrm>
          <a:prstGeom prst="roundRect">
            <a:avLst>
              <a:gd name="adj" fmla="val 27777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73184" y="6894576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5B21B6"/>
                </a:solidFill>
                <a:latin typeface="Roboto Condensed"/>
              </a:rPr>
              <a:t>Scanvas</a:t>
            </a:r>
          </a:p>
        </p:txBody>
      </p:sp>
      <p:pic>
        <p:nvPicPr>
          <p:cNvPr id="50" name="Picture 49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0" y="7077456"/>
            <a:ext cx="365760" cy="365760"/>
          </a:xfrm>
          <a:prstGeom prst="rect">
            <a:avLst/>
          </a:prstGeom>
        </p:spPr>
      </p:pic>
      <p:pic>
        <p:nvPicPr>
          <p:cNvPr id="51" name="Picture 50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800" y="7077456"/>
            <a:ext cx="365760" cy="365760"/>
          </a:xfrm>
          <a:prstGeom prst="rect">
            <a:avLst/>
          </a:prstGeom>
        </p:spPr>
      </p:pic>
      <p:pic>
        <p:nvPicPr>
          <p:cNvPr id="52" name="Picture 51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9159" y="7077456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144000" y="8449056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Among the products we compared (Faber-Castell ARt Alive, Quiver, WAGZAK JUMP, teamLab Sketch Aquarium), Scanvas is the only one combining all three.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UNIQUE VALUE PROPOSITION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371600" y="731520"/>
            <a:ext cx="15544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One Core Engine. Many Interactive Worlds.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682496"/>
            <a:ext cx="15544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>
                <a:solidFill>
                  <a:srgbClr val="172033"/>
                </a:solidFill>
                <a:latin typeface="Roboto Condensed"/>
              </a:rPr>
              <a:t>New content reuses the same scanning, personalization, and interactive-world pipeline.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2926080"/>
            <a:ext cx="4206240" cy="420624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523744"/>
            <a:ext cx="2880806" cy="56692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371600" y="2596896"/>
            <a:ext cx="5394960" cy="2596896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737360" y="2926079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852928"/>
            <a:ext cx="38404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Roboto Condensed"/>
              </a:rPr>
              <a:t>Computer-Vision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877056"/>
            <a:ext cx="475488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Printed markers guide perspective correction, cropping, and object extraction.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521440" y="2596896"/>
            <a:ext cx="5394960" cy="2596896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87200" y="2926079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38176" y="2852928"/>
            <a:ext cx="38404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Roboto Condensed"/>
              </a:rPr>
              <a:t>Personalized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3877056"/>
            <a:ext cx="475488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The child’s extracted artwork, not a stock character, enters the world.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522976"/>
            <a:ext cx="5394960" cy="2596896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37360" y="5852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8336" y="5779008"/>
            <a:ext cx="38404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Roboto Condensed"/>
              </a:rPr>
              <a:t>Code-Linked Physical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6803136"/>
            <a:ext cx="475488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Each printed sheet links to its template and digital experience.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521440" y="5522976"/>
            <a:ext cx="5394960" cy="2596896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887200" y="5852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38176" y="5779008"/>
            <a:ext cx="38404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Roboto Condensed"/>
              </a:rPr>
              <a:t>Reusable World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6803136"/>
            <a:ext cx="475488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Animals · vehicles · nature · culture · characters · stories.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8631936"/>
            <a:ext cx="3767328" cy="8046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8833104"/>
            <a:ext cx="402336" cy="402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8631936"/>
            <a:ext cx="285292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 SemiBold"/>
              </a:rPr>
              <a:t>WEB ACCESS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85232" y="8631936"/>
            <a:ext cx="3767328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wand-sparkle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8833104"/>
            <a:ext cx="402336" cy="4023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08192" y="8631936"/>
            <a:ext cx="285292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B21B6"/>
                </a:solidFill>
                <a:latin typeface="Roboto Condensed SemiBold"/>
              </a:rPr>
              <a:t>PERSONALIZED CONTENT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98864" y="8631936"/>
            <a:ext cx="3767328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compas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8833104"/>
            <a:ext cx="402336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21824" y="8631936"/>
            <a:ext cx="285292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B21B6"/>
                </a:solidFill>
                <a:latin typeface="Roboto Condensed SemiBold"/>
              </a:rPr>
              <a:t>SHARED WORLDS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112496" y="8631936"/>
            <a:ext cx="3767328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layers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05104" y="8833104"/>
            <a:ext cx="402336" cy="4023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3935456" y="8631936"/>
            <a:ext cx="2852928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B21B6"/>
                </a:solidFill>
                <a:latin typeface="Roboto Condensed SemiBold"/>
              </a:rPr>
              <a:t>REUSABLE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COMPETITIVE ADVANTAGE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731520"/>
            <a:ext cx="16093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From Child Creativity to Digital Culture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75104"/>
            <a:ext cx="4937760" cy="420624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26464" y="2267712"/>
            <a:ext cx="804672" cy="80467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85" y="2460833"/>
            <a:ext cx="418429" cy="41842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414015" y="2414016"/>
            <a:ext cx="1487424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291840"/>
            <a:ext cx="4279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Child-generated creativity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3877056"/>
            <a:ext cx="4279392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Children begin with their own imagination and physical artwork.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6464" y="4718304"/>
            <a:ext cx="1375409" cy="42062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Drawing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11602" y="4718304"/>
            <a:ext cx="1493520" cy="42062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Coloring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6464" y="5212080"/>
            <a:ext cx="1847850" cy="42062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Imagination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6217920" y="3803904"/>
            <a:ext cx="274320" cy="54864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75120" y="1975104"/>
            <a:ext cx="4937760" cy="4206240"/>
          </a:xfrm>
          <a:prstGeom prst="roundRect">
            <a:avLst>
              <a:gd name="adj" fmla="val 782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04304" y="2267712"/>
            <a:ext cx="804672" cy="8046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ompas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425" y="2460833"/>
            <a:ext cx="418429" cy="41842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991856" y="2414016"/>
            <a:ext cx="2040128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3291840"/>
            <a:ext cx="4279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Interactive digital worlds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3877056"/>
            <a:ext cx="4279392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Their creation becomes part of a living world.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4304" y="4718304"/>
            <a:ext cx="16116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Animation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25662" y="4718304"/>
            <a:ext cx="113919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Sound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04304" y="5212080"/>
            <a:ext cx="1375409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Stories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89442" y="5212080"/>
            <a:ext cx="184785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Interaction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04304" y="5705856"/>
            <a:ext cx="161163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Discovery</a:t>
            </a:r>
          </a:p>
        </p:txBody>
      </p:sp>
      <p:sp>
        <p:nvSpPr>
          <p:cNvPr id="34" name="Chevron 33"/>
          <p:cNvSpPr/>
          <p:nvPr/>
        </p:nvSpPr>
        <p:spPr>
          <a:xfrm>
            <a:off x="11795760" y="3803904"/>
            <a:ext cx="274320" cy="54864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2252960" y="1975104"/>
            <a:ext cx="4937760" cy="420624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582144" y="2267712"/>
            <a:ext cx="804672" cy="8046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lay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5265" y="2460833"/>
            <a:ext cx="418429" cy="418429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3569696" y="2414016"/>
            <a:ext cx="2316480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CONTENT &amp; 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82144" y="3291840"/>
            <a:ext cx="427939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 Condensed"/>
              </a:rPr>
              <a:t>Scalable worlds &amp; 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82144" y="3877056"/>
            <a:ext cx="4279392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900" b="0" i="0">
                <a:solidFill>
                  <a:srgbClr val="FFFFFF"/>
                </a:solidFill>
                <a:latin typeface="Roboto Condensed"/>
              </a:rPr>
              <a:t>The same platform expands into new content.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82144" y="4718304"/>
            <a:ext cx="12573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Nature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949172" y="4718304"/>
            <a:ext cx="14935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Vehicles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82144" y="5212080"/>
            <a:ext cx="208407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Local culture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775942" y="5212080"/>
            <a:ext cx="17297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Characters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82144" y="5705856"/>
            <a:ext cx="14935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Partners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6492240"/>
            <a:ext cx="16093440" cy="2048256"/>
          </a:xfrm>
          <a:prstGeom prst="roundRect">
            <a:avLst>
              <a:gd name="adj" fmla="val 14285"/>
            </a:avLst>
          </a:prstGeom>
          <a:solidFill>
            <a:srgbClr val="F5F3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371600" y="6784848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glob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7164" y="6960412"/>
            <a:ext cx="380390" cy="38039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231136" y="6748272"/>
            <a:ext cx="2834640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72033"/>
                </a:solidFill>
                <a:latin typeface="Roboto Condensed"/>
              </a:rPr>
              <a:t>SAME CORE ENGINE, LOCALISED CONTENT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71600" y="7735823"/>
            <a:ext cx="3694176" cy="54864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300" b="0" i="0">
                <a:solidFill>
                  <a:srgbClr val="92400E"/>
                </a:solidFill>
                <a:latin typeface="Roboto Condensed SemiBold"/>
              </a:rPr>
              <a:t>What we want to validate through ITEC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58384" y="6711696"/>
            <a:ext cx="3785615" cy="160934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14416" y="6858000"/>
            <a:ext cx="327355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  <a:latin typeface="Roboto Condensed SemiBold"/>
              </a:rPr>
              <a:t>INDONESIA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14416" y="7260336"/>
            <a:ext cx="3273551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Current worlds + local themes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90304" y="6711696"/>
            <a:ext cx="3785615" cy="160934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46336" y="6858000"/>
            <a:ext cx="327355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  <a:latin typeface="Roboto Condensed SemiBold"/>
              </a:rPr>
              <a:t>ASEAN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46336" y="7260336"/>
            <a:ext cx="3273551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Local languages · cultural themes · distribution / content partners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222224" y="6711696"/>
            <a:ext cx="3785615" cy="160934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3478256" y="6858000"/>
            <a:ext cx="327355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7C3AED"/>
                </a:solidFill>
                <a:latin typeface="Roboto Condensed SemiBold"/>
              </a:rPr>
              <a:t>CHAOYANG / CHINA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478256" y="7260336"/>
            <a:ext cx="3273551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Mandarin localisation · partner-led pilot · children’s content / IP collaboration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97280" y="8778240"/>
            <a:ext cx="16093440" cy="7315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97280" y="8778240"/>
            <a:ext cx="160934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5B21B6"/>
                </a:solidFill>
                <a:latin typeface="Roboto Condensed"/>
              </a:rPr>
              <a:t>Children do not only consume digital culture — they participate in creating 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DIGITAL CULTURE TRACK FIT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A Business Model We Can Test and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4592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>
                <a:solidFill>
                  <a:srgbClr val="172033"/>
                </a:solidFill>
                <a:latin typeface="Roboto Condensed"/>
              </a:rPr>
              <a:t>Pre-revenue today. Each path has a validation gate before we scale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77440"/>
            <a:ext cx="5120640" cy="7132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426464" y="2651760"/>
            <a:ext cx="2342388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AVAILABLE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291840"/>
            <a:ext cx="4462272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B2C ·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950208"/>
            <a:ext cx="4462272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Creative packs + the Scanvas digital experience. Repeat-value experiment: levels · worlds · programs.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53312" y="5084064"/>
            <a:ext cx="4608575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36192" y="5157216"/>
            <a:ext cx="42428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Revenue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5486400"/>
            <a:ext cx="42428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Per-pack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327648"/>
            <a:ext cx="44622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Validate by</a:t>
            </a:r>
          </a:p>
        </p:txBody>
      </p:sp>
      <p:pic>
        <p:nvPicPr>
          <p:cNvPr id="22" name="Picture 2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6803136"/>
            <a:ext cx="25603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5376" y="6729983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Pack purchase</a:t>
            </a:r>
          </a:p>
        </p:txBody>
      </p:sp>
      <p:pic>
        <p:nvPicPr>
          <p:cNvPr id="24" name="Picture 23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7278623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65376" y="7205471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Course activation</a:t>
            </a:r>
          </a:p>
        </p:txBody>
      </p:sp>
      <p:pic>
        <p:nvPicPr>
          <p:cNvPr id="26" name="Picture 25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7754111"/>
            <a:ext cx="256032" cy="256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65376" y="7680959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Completion</a:t>
            </a:r>
          </a:p>
        </p:txBody>
      </p:sp>
      <p:pic>
        <p:nvPicPr>
          <p:cNvPr id="28" name="Picture 2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8229600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865376" y="8156448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Repeat purchase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377440"/>
            <a:ext cx="5120640" cy="7132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912864" y="2651760"/>
            <a:ext cx="2731008" cy="4754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92400E"/>
                </a:solidFill>
                <a:latin typeface="Roboto Condensed SemiBold"/>
              </a:rPr>
              <a:t>UNDER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3291840"/>
            <a:ext cx="4462272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B2B · Schools &amp;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3950208"/>
            <a:ext cx="4462272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Pilot sessions today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"/>
              </a:rPr>
              <a:t> Scanvas Studio for repeatable institutional use.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39712" y="5084064"/>
            <a:ext cx="4608575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22592" y="5157216"/>
            <a:ext cx="42428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Revenue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5486400"/>
            <a:ext cx="42428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Per session · per participant · usage-based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2864" y="6327648"/>
            <a:ext cx="44622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Validate by</a:t>
            </a:r>
          </a:p>
        </p:txBody>
      </p:sp>
      <p:pic>
        <p:nvPicPr>
          <p:cNvPr id="38" name="Picture 3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6803136"/>
            <a:ext cx="256032" cy="2560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51776" y="6729983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Demo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"/>
              </a:rPr>
              <a:t> pilot</a:t>
            </a:r>
          </a:p>
        </p:txBody>
      </p:sp>
      <p:pic>
        <p:nvPicPr>
          <p:cNvPr id="40" name="Picture 3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7278623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351776" y="7205471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Pilot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"/>
              </a:rPr>
              <a:t> second session</a:t>
            </a:r>
          </a:p>
        </p:txBody>
      </p:sp>
      <p:pic>
        <p:nvPicPr>
          <p:cNvPr id="42" name="Picture 4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7754111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51776" y="7680959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Participants per session</a:t>
            </a:r>
          </a:p>
        </p:txBody>
      </p:sp>
      <p:pic>
        <p:nvPicPr>
          <p:cNvPr id="44" name="Picture 4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822960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51776" y="8156448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Operating cost per session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70080" y="2377440"/>
            <a:ext cx="5120640" cy="7132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2399263" y="2651760"/>
            <a:ext cx="143560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FUTURE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99263" y="3291840"/>
            <a:ext cx="4462272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Content &amp; 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99263" y="3950208"/>
            <a:ext cx="4462272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New content built on the same engine.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326111" y="5084064"/>
            <a:ext cx="4608575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08992" y="5157216"/>
            <a:ext cx="424281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Revenue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08992" y="5486400"/>
            <a:ext cx="42428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Content add-ons · subscriptions · partnerships / licensing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99263" y="6327648"/>
            <a:ext cx="44622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Offer</a:t>
            </a:r>
          </a:p>
        </p:txBody>
      </p:sp>
      <p:pic>
        <p:nvPicPr>
          <p:cNvPr id="54" name="Picture 5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6803136"/>
            <a:ext cx="256032" cy="25603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2838176" y="6729983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New worlds</a:t>
            </a:r>
          </a:p>
        </p:txBody>
      </p:sp>
      <p:pic>
        <p:nvPicPr>
          <p:cNvPr id="56" name="Picture 5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7229856"/>
            <a:ext cx="256032" cy="25603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838176" y="715670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Original characters</a:t>
            </a:r>
          </a:p>
        </p:txBody>
      </p:sp>
      <p:pic>
        <p:nvPicPr>
          <p:cNvPr id="58" name="Picture 5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7656576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2838176" y="758342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Cultural themes</a:t>
            </a:r>
          </a:p>
        </p:txBody>
      </p:sp>
      <p:pic>
        <p:nvPicPr>
          <p:cNvPr id="60" name="Picture 5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8083296"/>
            <a:ext cx="256032" cy="25603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2838176" y="801014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Creative programs</a:t>
            </a:r>
          </a:p>
        </p:txBody>
      </p:sp>
      <p:pic>
        <p:nvPicPr>
          <p:cNvPr id="62" name="Picture 6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8510016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2838176" y="843686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Partner content</a:t>
            </a:r>
          </a:p>
        </p:txBody>
      </p:sp>
      <p:pic>
        <p:nvPicPr>
          <p:cNvPr id="64" name="Picture 6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8936736"/>
            <a:ext cx="256032" cy="25603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2838176" y="8863584"/>
            <a:ext cx="402335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Licensed collaborations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BUSINESS OR REVENUE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731520"/>
            <a:ext cx="16093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From a Magic Moment to Repeatable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82496"/>
            <a:ext cx="15179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72033"/>
                </a:solidFill>
                <a:latin typeface="Roboto Condensed"/>
              </a:rPr>
              <a:t>The magic gets attention. The next question is whether children want to create again — and whether parents will pay for that repeat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9504"/>
            <a:ext cx="4754880" cy="581558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426464" y="318211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803904"/>
            <a:ext cx="4096512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</a:rPr>
              <a:t>Magic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3312" y="4572000"/>
            <a:ext cx="4242816" cy="62179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53312" y="4572000"/>
            <a:ext cx="4242816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0" i="0">
                <a:solidFill>
                  <a:srgbClr val="5B21B6"/>
                </a:solidFill>
                <a:latin typeface="Roboto Condensed SemiBold"/>
              </a:rPr>
              <a:t>CREATE </a:t>
            </a:r>
            <a:r>
              <a:rPr sz="17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700" b="0" i="0">
                <a:solidFill>
                  <a:srgbClr val="5B21B6"/>
                </a:solidFill>
                <a:latin typeface="Roboto Condensed SemiBold"/>
              </a:rPr>
              <a:t> SCAN </a:t>
            </a:r>
            <a:r>
              <a:rPr sz="17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700" b="0" i="0">
                <a:solidFill>
                  <a:srgbClr val="5B21B6"/>
                </a:solidFill>
                <a:latin typeface="Roboto Condensed SemiBold"/>
              </a:rPr>
              <a:t> ALIVE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5376672"/>
            <a:ext cx="4096512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A child’s own artwork becomes a character in a live interactive world.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53312" y="7388352"/>
            <a:ext cx="4242816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72768" y="7479792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7808976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2 worlds · 30-child pilot</a:t>
            </a:r>
          </a:p>
        </p:txBody>
      </p:sp>
      <p:sp>
        <p:nvSpPr>
          <p:cNvPr id="23" name="Chevron 22"/>
          <p:cNvSpPr/>
          <p:nvPr/>
        </p:nvSpPr>
        <p:spPr>
          <a:xfrm>
            <a:off x="5925312" y="5559552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17920" y="2889504"/>
            <a:ext cx="6217920" cy="5815584"/>
          </a:xfrm>
          <a:prstGeom prst="roundRect">
            <a:avLst>
              <a:gd name="adj" fmla="val 5660"/>
            </a:avLst>
          </a:prstGeom>
          <a:solidFill>
            <a:srgbClr val="EDE9FE"/>
          </a:solidFill>
          <a:ln w="381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47104" y="3182112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92400E"/>
                </a:solidFill>
                <a:latin typeface="Roboto Condensed SemiBold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803904"/>
            <a:ext cx="5559552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</a:rPr>
              <a:t>Repeat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4572000"/>
            <a:ext cx="5705856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4572000"/>
            <a:ext cx="5705856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LEARN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CREATE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ALIVE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PROGRESS </a:t>
            </a:r>
            <a:r>
              <a:rPr sz="16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600" b="0" i="0">
                <a:solidFill>
                  <a:srgbClr val="5B21B6"/>
                </a:solidFill>
                <a:latin typeface="Roboto Condensed SemiBold"/>
              </a:rPr>
              <a:t>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76672"/>
            <a:ext cx="5559552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 SemiBold"/>
              </a:rPr>
              <a:t>Ocean Artist — 3-lesson pilot</a:t>
            </a:r>
          </a:p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Each lesson teaches one creative skill, then the child’s artwork comes alive. A focused pilot, not a generic LMS.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7388352"/>
            <a:ext cx="5705856" cy="1060704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93408" y="7479792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7808976"/>
            <a:ext cx="53035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Next-lesson start · repeat creation · parent willingness to pay</a:t>
            </a:r>
          </a:p>
        </p:txBody>
      </p:sp>
      <p:sp>
        <p:nvSpPr>
          <p:cNvPr id="33" name="Chevron 32"/>
          <p:cNvSpPr/>
          <p:nvPr/>
        </p:nvSpPr>
        <p:spPr>
          <a:xfrm>
            <a:off x="12508992" y="5559552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2801600" y="2889504"/>
            <a:ext cx="4389120" cy="581558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3130784" y="318211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30784" y="3803904"/>
            <a:ext cx="3730752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</a:rPr>
              <a:t>Engage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057632" y="4572000"/>
            <a:ext cx="3877056" cy="62179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057632" y="4572000"/>
            <a:ext cx="3877056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0" i="0">
                <a:solidFill>
                  <a:srgbClr val="5B21B6"/>
                </a:solidFill>
                <a:latin typeface="Roboto Condensed SemiBold"/>
              </a:rPr>
              <a:t>PLAY </a:t>
            </a:r>
            <a:r>
              <a:rPr sz="17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700" b="0" i="0">
                <a:solidFill>
                  <a:srgbClr val="5B21B6"/>
                </a:solidFill>
                <a:latin typeface="Roboto Condensed SemiBold"/>
              </a:rPr>
              <a:t> STORY </a:t>
            </a:r>
            <a:r>
              <a:rPr sz="17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700" b="0" i="0">
                <a:solidFill>
                  <a:srgbClr val="5B21B6"/>
                </a:solidFill>
                <a:latin typeface="Roboto Condensed SemiBold"/>
              </a:rPr>
              <a:t> DISCOVER</a:t>
            </a:r>
          </a:p>
        </p:txBody>
      </p:sp>
      <p:pic>
        <p:nvPicPr>
          <p:cNvPr id="39" name="Picture 38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5468112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569696" y="5376672"/>
            <a:ext cx="329183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Missions</a:t>
            </a:r>
          </a:p>
        </p:txBody>
      </p:sp>
      <p:pic>
        <p:nvPicPr>
          <p:cNvPr id="41" name="Picture 40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5916168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569696" y="5824728"/>
            <a:ext cx="329183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Shared worlds</a:t>
            </a:r>
          </a:p>
        </p:txBody>
      </p:sp>
      <p:pic>
        <p:nvPicPr>
          <p:cNvPr id="43" name="Picture 42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6364224"/>
            <a:ext cx="256032" cy="2560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569696" y="6272784"/>
            <a:ext cx="329183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Interactive stories</a:t>
            </a:r>
          </a:p>
        </p:txBody>
      </p:sp>
      <p:pic>
        <p:nvPicPr>
          <p:cNvPr id="45" name="Picture 4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0" y="6812280"/>
            <a:ext cx="256032" cy="2560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569696" y="6720840"/>
            <a:ext cx="329183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Discovery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057632" y="7388352"/>
            <a:ext cx="3877056" cy="1060704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3277088" y="74797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77088" y="7808976"/>
            <a:ext cx="34747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 SemiBold"/>
              </a:rPr>
              <a:t>Built only after repeat usage is proven</a:t>
            </a:r>
          </a:p>
        </p:txBody>
      </p:sp>
      <p:pic>
        <p:nvPicPr>
          <p:cNvPr id="50" name="Picture 49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8924544"/>
            <a:ext cx="438912" cy="43891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682496" y="8851392"/>
            <a:ext cx="1536192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5B21B6"/>
                </a:solidFill>
                <a:latin typeface="Roboto Condensed SemiBold"/>
              </a:rPr>
              <a:t>The core Scanvas experience remains unchanged: the child creates first, and their own artwork comes alive.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BUSINESS MODEL · REPEAT VALUE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Complementary Founders: Business and 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86000"/>
            <a:ext cx="7863840" cy="5394960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aikal Hilm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834640"/>
            <a:ext cx="4030743" cy="4297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0" y="2871216"/>
            <a:ext cx="3017520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72033"/>
                </a:solidFill>
                <a:latin typeface="Roboto Condensed"/>
              </a:rPr>
              <a:t>Haikal Hilmi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114800"/>
            <a:ext cx="2869184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CEO &amp; Co-Founder</a:t>
            </a:r>
          </a:p>
        </p:txBody>
      </p:sp>
      <p:pic>
        <p:nvPicPr>
          <p:cNvPr id="17" name="Picture 16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5138928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08192" y="5029200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Product &amp; engineering</a:t>
            </a:r>
          </a:p>
        </p:txBody>
      </p:sp>
      <p:pic>
        <p:nvPicPr>
          <p:cNvPr id="19" name="Picture 18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572414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08192" y="5614416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Computer vision</a:t>
            </a:r>
          </a:p>
        </p:txBody>
      </p:sp>
      <p:pic>
        <p:nvPicPr>
          <p:cNvPr id="21" name="Picture 20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6309360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08192" y="6199632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Interactive platform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286000"/>
            <a:ext cx="7863840" cy="5394960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Salsabila Khoirunnis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2834640"/>
            <a:ext cx="3808004" cy="42976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898880" y="2871216"/>
            <a:ext cx="3017520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172033"/>
                </a:solidFill>
                <a:latin typeface="Roboto Condensed"/>
              </a:rPr>
              <a:t>Salsabila Khoirunnisa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898880" y="4114800"/>
            <a:ext cx="2869184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5B21B6"/>
                </a:solidFill>
                <a:latin typeface="Roboto Condensed SemiBold"/>
              </a:rPr>
              <a:t>CMO &amp; Co-Founder</a:t>
            </a:r>
          </a:p>
        </p:txBody>
      </p:sp>
      <p:pic>
        <p:nvPicPr>
          <p:cNvPr id="27" name="Picture 26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0" y="5138928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337792" y="5029200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Business &amp; partnerships</a:t>
            </a:r>
          </a:p>
        </p:txBody>
      </p:sp>
      <p:pic>
        <p:nvPicPr>
          <p:cNvPr id="29" name="Picture 28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0" y="572414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337792" y="5614416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Customer discovery</a:t>
            </a:r>
          </a:p>
        </p:txBody>
      </p:sp>
      <p:pic>
        <p:nvPicPr>
          <p:cNvPr id="31" name="Picture 30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0" y="6309360"/>
            <a:ext cx="292608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337792" y="6199632"/>
            <a:ext cx="2651759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Go-to-market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8046720"/>
            <a:ext cx="16093440" cy="1371600"/>
          </a:xfrm>
          <a:prstGeom prst="roundRect">
            <a:avLst>
              <a:gd name="adj" fmla="val 21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quote_dee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8412480"/>
            <a:ext cx="585216" cy="58521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468880" y="8046720"/>
            <a:ext cx="1426464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Scanvas turns children from digital-content consumers into creators inside interactive worlds.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MEET OUR TEAM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58368"/>
            <a:ext cx="16093440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Prove the Magic </a:t>
            </a:r>
            <a:r>
              <a:rPr sz="40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4000" b="1" i="0">
                <a:solidFill>
                  <a:srgbClr val="172033"/>
                </a:solidFill>
                <a:latin typeface="Roboto Condensed"/>
              </a:rPr>
              <a:t> Prove Repeat Value </a:t>
            </a:r>
            <a:r>
              <a:rPr sz="4000" b="1" i="0">
                <a:solidFill>
                  <a:srgbClr val="172033"/>
                </a:solidFill>
                <a:latin typeface="Segoe UI"/>
              </a:rPr>
              <a:t>→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Expand the Experience </a:t>
            </a:r>
            <a:r>
              <a:rPr sz="40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4000" b="1" i="0">
                <a:solidFill>
                  <a:srgbClr val="172033"/>
                </a:solidFill>
                <a:latin typeface="Roboto Condensed"/>
              </a:rPr>
              <a:t> Scale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94560"/>
            <a:ext cx="3840480" cy="5266944"/>
          </a:xfrm>
          <a:prstGeom prst="roundRect">
            <a:avLst>
              <a:gd name="adj" fmla="val 7619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2450591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723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oboto Condensed"/>
              </a:rPr>
              <a:t>Prove the Magic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EDE9FE"/>
                </a:solidFill>
                <a:latin typeface="Roboto Condensed"/>
              </a:rPr>
              <a:t>Reliable CREATE </a:t>
            </a:r>
            <a:r>
              <a:rPr sz="1700" b="0" i="0">
                <a:solidFill>
                  <a:srgbClr val="EDE9FE"/>
                </a:solidFill>
                <a:latin typeface="Segoe UI"/>
              </a:rPr>
              <a:t>→</a:t>
            </a:r>
            <a:r>
              <a:rPr sz="1700" b="0" i="0">
                <a:solidFill>
                  <a:srgbClr val="EDE9FE"/>
                </a:solidFill>
                <a:latin typeface="Roboto Condensed"/>
              </a:rPr>
              <a:t> SCAN </a:t>
            </a:r>
            <a:r>
              <a:rPr sz="1700" b="0" i="0">
                <a:solidFill>
                  <a:srgbClr val="EDE9FE"/>
                </a:solidFill>
                <a:latin typeface="Segoe UI"/>
              </a:rPr>
              <a:t>→</a:t>
            </a:r>
            <a:r>
              <a:rPr sz="1700" b="0" i="0">
                <a:solidFill>
                  <a:srgbClr val="EDE9FE"/>
                </a:solidFill>
                <a:latin typeface="Roboto Condensed"/>
              </a:rPr>
              <a:t> ALIVE</a:t>
            </a:r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572000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73936" y="44988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"/>
              </a:rPr>
              <a:t>Product live</a:t>
            </a:r>
          </a:p>
        </p:txBody>
      </p:sp>
      <p:pic>
        <p:nvPicPr>
          <p:cNvPr id="19" name="Picture 1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02920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73936" y="49560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"/>
              </a:rPr>
              <a:t>2 worlds</a:t>
            </a:r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48640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73936" y="54132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"/>
              </a:rPr>
              <a:t>First 30-child 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6736" y="6108192"/>
            <a:ext cx="3401568" cy="1133856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99616" y="6217920"/>
            <a:ext cx="30358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6547104"/>
            <a:ext cx="3035808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Scan success · time-to-magic · recovery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0990" y="2194560"/>
            <a:ext cx="3840480" cy="5266944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55310" y="2450591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5310" y="30723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Prove Repeat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5310" y="3657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Collection + 3-lesson creative pilot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446" y="5504688"/>
            <a:ext cx="3401568" cy="17373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83326" y="5614416"/>
            <a:ext cx="30358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3326" y="5943600"/>
            <a:ext cx="3035808" cy="1225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Second creation · next-lesson start · 3-lesson completion · willingness to pay · repeat purchase / Level 2 intent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64700" y="2194560"/>
            <a:ext cx="3840480" cy="526694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539020" y="2450591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THEN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9020" y="30723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Expand the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9020" y="365760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Artwork children play with, return to, and explore</a:t>
            </a:r>
          </a:p>
        </p:txBody>
      </p:sp>
      <p:pic>
        <p:nvPicPr>
          <p:cNvPr id="37" name="Picture 36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0" y="4572000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941356" y="44988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Missions</a:t>
            </a:r>
          </a:p>
        </p:txBody>
      </p:sp>
      <p:pic>
        <p:nvPicPr>
          <p:cNvPr id="39" name="Picture 3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0" y="5029200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41356" y="49560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Shared World</a:t>
            </a:r>
          </a:p>
        </p:txBody>
      </p:sp>
      <p:pic>
        <p:nvPicPr>
          <p:cNvPr id="41" name="Picture 40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0" y="5486400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41356" y="54132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Interactive Story</a:t>
            </a:r>
          </a:p>
        </p:txBody>
      </p:sp>
      <p:pic>
        <p:nvPicPr>
          <p:cNvPr id="43" name="Picture 42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020" y="5943600"/>
            <a:ext cx="274320" cy="2743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941356" y="587044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Discovery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348411" y="2194560"/>
            <a:ext cx="3840480" cy="5266944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3622731" y="2450591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622731" y="307238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Content &amp; IP Platform</a:t>
            </a:r>
          </a:p>
        </p:txBody>
      </p:sp>
      <p:pic>
        <p:nvPicPr>
          <p:cNvPr id="48" name="Picture 4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3730752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025067" y="36576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Additional worlds</a:t>
            </a:r>
          </a:p>
        </p:txBody>
      </p:sp>
      <p:pic>
        <p:nvPicPr>
          <p:cNvPr id="50" name="Picture 4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4187952"/>
            <a:ext cx="274320" cy="274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4025067" y="41148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Original characters</a:t>
            </a:r>
          </a:p>
        </p:txBody>
      </p:sp>
      <p:pic>
        <p:nvPicPr>
          <p:cNvPr id="52" name="Picture 5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464515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4025067" y="45720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Cultural themes</a:t>
            </a:r>
          </a:p>
        </p:txBody>
      </p:sp>
      <p:pic>
        <p:nvPicPr>
          <p:cNvPr id="54" name="Picture 5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5102352"/>
            <a:ext cx="274320" cy="274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025067" y="50292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Classroom format</a:t>
            </a:r>
          </a:p>
        </p:txBody>
      </p:sp>
      <p:pic>
        <p:nvPicPr>
          <p:cNvPr id="56" name="Picture 5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5559552"/>
            <a:ext cx="274320" cy="2743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4025067" y="54864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Partner / licensed content</a:t>
            </a:r>
          </a:p>
        </p:txBody>
      </p:sp>
      <p:pic>
        <p:nvPicPr>
          <p:cNvPr id="58" name="Picture 5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731" y="6016752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4025067" y="594360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ASEAN localisation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97280" y="7863840"/>
            <a:ext cx="16093440" cy="1097280"/>
          </a:xfrm>
          <a:prstGeom prst="roundRect">
            <a:avLst>
              <a:gd name="adj" fmla="val 2666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8138160"/>
            <a:ext cx="548640" cy="54864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286000" y="7863840"/>
            <a:ext cx="14630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oboto Condensed"/>
              </a:rPr>
              <a:t>ONE CONTENT ENGINE 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2400" b="1" i="0">
                <a:solidFill>
                  <a:srgbClr val="FFFFFF"/>
                </a:solidFill>
                <a:latin typeface="Roboto Condensed"/>
              </a:rPr>
              <a:t> MULTIPLE DISTRIBUTION &amp; REVENUE PATHS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ROADMAP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172033"/>
                </a:solidFill>
                <a:latin typeface="Roboto Condensed"/>
              </a:rPr>
              <a:t>Through ITEC, We Want to 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65376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0" i="0">
                <a:solidFill>
                  <a:srgbClr val="172033"/>
                </a:solidFill>
                <a:latin typeface="Roboto Condensed"/>
              </a:rPr>
              <a:t>Our ask: Rp200M for 12 months of validation (next slide), plus partners and guidance through ITEC.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34640"/>
            <a:ext cx="7863840" cy="307238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99616" y="3236976"/>
            <a:ext cx="1024128" cy="10241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ayer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406" y="3482766"/>
            <a:ext cx="532546" cy="53254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23431" y="3273552"/>
            <a:ext cx="247192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UNLOCKS ·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480560"/>
            <a:ext cx="70591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Roboto Condensed"/>
              </a:rPr>
              <a:t>Content &amp; IP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5065776"/>
            <a:ext cx="705916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EDE9FE"/>
                </a:solidFill>
                <a:latin typeface="Roboto Condensed"/>
              </a:rPr>
              <a:t>Children’s content, cultural, and character partners to co-create new worlds.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834640"/>
            <a:ext cx="7863840" cy="307238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29215" y="3236976"/>
            <a:ext cx="1024128" cy="102412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chool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5006" y="3482766"/>
            <a:ext cx="532546" cy="53254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4473935" y="3273552"/>
            <a:ext cx="2351024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UNLOCKS ·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5" y="4480560"/>
            <a:ext cx="70591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Institutional distribution partners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5" y="5065776"/>
            <a:ext cx="705916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School networks, PAUD / TK / TPA groups, and activity organizers for demo </a:t>
            </a:r>
            <a:r>
              <a:rPr sz="1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900" b="0" i="0">
                <a:solidFill>
                  <a:srgbClr val="172033"/>
                </a:solidFill>
                <a:latin typeface="Roboto Condensed"/>
              </a:rPr>
              <a:t> pilot.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6236208"/>
            <a:ext cx="7863840" cy="307238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499616" y="6638544"/>
            <a:ext cx="1024128" cy="102412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glob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406" y="6884334"/>
            <a:ext cx="532546" cy="53254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123431" y="6675120"/>
            <a:ext cx="2471928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UNLOCKS ·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" y="7882128"/>
            <a:ext cx="70591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ASEAN / China pilot 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8467344"/>
            <a:ext cx="705916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Partner-led localisation pilots: language, cultural themes, children’s content.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6236208"/>
            <a:ext cx="7863840" cy="307238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29215" y="6638544"/>
            <a:ext cx="1024128" cy="102412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rocket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006" y="6884334"/>
            <a:ext cx="532546" cy="53254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4473935" y="6675120"/>
            <a:ext cx="2351024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UNLOCKS ·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5" y="7882128"/>
            <a:ext cx="7059168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172033"/>
                </a:solidFill>
                <a:latin typeface="Roboto Condensed"/>
              </a:rPr>
              <a:t>Commercialisation &amp; market entry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5" y="8467344"/>
            <a:ext cx="7059168" cy="7680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Guidance on pricing validation, go-to-market, and regional entry.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THE ASK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768096"/>
            <a:ext cx="138988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Rp200M Funds 12 Months to Prove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Paid, Repeat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5029200" cy="7040880"/>
          </a:xfrm>
          <a:prstGeom prst="roundRect">
            <a:avLst>
              <a:gd name="adj" fmla="val 6545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EDE9FE"/>
                </a:solidFill>
                <a:latin typeface="Roboto Condensed SemiBold"/>
              </a:rPr>
              <a:t>12-MONTH CAPITAL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55264"/>
            <a:ext cx="4389120" cy="11338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Roboto Condensed"/>
              </a:rPr>
              <a:t>Rp200M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2569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EDE9FE"/>
                </a:solidFill>
                <a:latin typeface="Roboto Condensed"/>
              </a:rPr>
              <a:t>≈ US$12K (at Rp16,500 / US$, indicative)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5029200"/>
            <a:ext cx="4297680" cy="18288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5303520"/>
            <a:ext cx="429768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FFFFFF"/>
                </a:solidFill>
                <a:latin typeface="Roboto Condensed"/>
              </a:rPr>
              <a:t>Founder runway, scan reliability, Scanvas Studio, school acquisition, production, and new worlds, so the next round is raised on proven repeat 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8558784"/>
            <a:ext cx="2340864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7395" tIns="0" rIns="182880" bIns="0" rtlCol="0" anchor="ctr">
            <a:noAutofit/>
          </a:bodyPr>
          <a:lstStyle/>
          <a:p>
            <a:pPr algn="l"/>
            <a:r>
              <a:rPr sz="1600" b="0" i="0">
                <a:solidFill>
                  <a:srgbClr val="5B21B6"/>
                </a:solidFill>
                <a:latin typeface="Roboto Condensed SemiBold"/>
              </a:rPr>
              <a:t>12 MONTHS</a:t>
            </a:r>
          </a:p>
        </p:txBody>
      </p:sp>
      <p:pic>
        <p:nvPicPr>
          <p:cNvPr id="20" name="Picture 19" descr="calendar-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8663025"/>
            <a:ext cx="340156" cy="3401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92240" y="2468880"/>
            <a:ext cx="57607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USE OF FUNDS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072384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user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70" y="3221614"/>
            <a:ext cx="323331" cy="3233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96912" y="3035808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 SemiBold"/>
              </a:rPr>
              <a:t>Team &amp;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9" y="303580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900" b="1" i="0">
                <a:solidFill>
                  <a:srgbClr val="5B21B6"/>
                </a:solidFill>
                <a:latin typeface="Roboto Condensed"/>
              </a:rPr>
              <a:t>Rp96M · 48%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6912" y="3511296"/>
            <a:ext cx="4956048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96912" y="3511296"/>
            <a:ext cx="2378903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96912" y="3675887"/>
            <a:ext cx="49560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"/>
              </a:rPr>
              <a:t>Two founders at Rp4M / month each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402336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chool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470" y="4172590"/>
            <a:ext cx="323331" cy="3233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96912" y="3986784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 SemiBold"/>
              </a:rPr>
              <a:t>Go-to-market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59" y="3986784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900" b="1" i="0">
                <a:solidFill>
                  <a:srgbClr val="5B21B6"/>
                </a:solidFill>
                <a:latin typeface="Roboto Condensed"/>
              </a:rPr>
              <a:t>Rp30M · 15%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6912" y="4462272"/>
            <a:ext cx="4956048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296912" y="4462272"/>
            <a:ext cx="743407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96912" y="4626864"/>
            <a:ext cx="49560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"/>
              </a:rPr>
              <a:t>School pilots, demos, community activation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4974336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scan-lin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470" y="5123566"/>
            <a:ext cx="323331" cy="3233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296912" y="4937759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 SemiBold"/>
              </a:rPr>
              <a:t>Product &amp; technology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59" y="4937759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900" b="1" i="0">
                <a:solidFill>
                  <a:srgbClr val="5B21B6"/>
                </a:solidFill>
                <a:latin typeface="Roboto Condensed"/>
              </a:rPr>
              <a:t>Rp24M · 12%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96912" y="5413248"/>
            <a:ext cx="4956048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296912" y="5413248"/>
            <a:ext cx="594725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96912" y="5577840"/>
            <a:ext cx="49560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"/>
              </a:rPr>
              <a:t>Infrastructure, scan reliability, Studio</a:t>
            </a:r>
          </a:p>
        </p:txBody>
      </p:sp>
      <p:sp>
        <p:nvSpPr>
          <p:cNvPr id="43" name="Oval 42"/>
          <p:cNvSpPr/>
          <p:nvPr/>
        </p:nvSpPr>
        <p:spPr>
          <a:xfrm>
            <a:off x="6492240" y="5925312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palette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1470" y="6074542"/>
            <a:ext cx="323331" cy="32333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96912" y="5888736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 SemiBold"/>
              </a:rPr>
              <a:t>Production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59" y="5888736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900" b="1" i="0">
                <a:solidFill>
                  <a:srgbClr val="5B21B6"/>
                </a:solidFill>
                <a:latin typeface="Roboto Condensed"/>
              </a:rPr>
              <a:t>Rp20M · 10%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96912" y="6364224"/>
            <a:ext cx="4956048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296912" y="6364224"/>
            <a:ext cx="495604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96912" y="6528816"/>
            <a:ext cx="49560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"/>
              </a:rPr>
              <a:t>Packs, samples, demo materials</a:t>
            </a:r>
          </a:p>
        </p:txBody>
      </p:sp>
      <p:sp>
        <p:nvSpPr>
          <p:cNvPr id="50" name="Oval 49"/>
          <p:cNvSpPr/>
          <p:nvPr/>
        </p:nvSpPr>
        <p:spPr>
          <a:xfrm>
            <a:off x="6492240" y="6876288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1470" y="7025518"/>
            <a:ext cx="323331" cy="32333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296912" y="6839712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 SemiBold"/>
              </a:rPr>
              <a:t>Content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59" y="6839712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900" b="1" i="0">
                <a:solidFill>
                  <a:srgbClr val="5B21B6"/>
                </a:solidFill>
                <a:latin typeface="Roboto Condensed"/>
              </a:rPr>
              <a:t>Rp20M · 10%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6912" y="7315200"/>
            <a:ext cx="4956048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296912" y="7315200"/>
            <a:ext cx="495604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96912" y="7479792"/>
            <a:ext cx="49560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"/>
              </a:rPr>
              <a:t>2 </a:t>
            </a:r>
            <a:r>
              <a:rPr sz="14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400" b="0" i="0">
                <a:solidFill>
                  <a:srgbClr val="172033"/>
                </a:solidFill>
                <a:latin typeface="Roboto Condensed"/>
              </a:rPr>
              <a:t> 4 interactive worlds</a:t>
            </a:r>
          </a:p>
        </p:txBody>
      </p:sp>
      <p:sp>
        <p:nvSpPr>
          <p:cNvPr id="57" name="Oval 56"/>
          <p:cNvSpPr/>
          <p:nvPr/>
        </p:nvSpPr>
        <p:spPr>
          <a:xfrm>
            <a:off x="6492240" y="7827264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shield-check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470" y="7976494"/>
            <a:ext cx="323331" cy="32333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296912" y="7790688"/>
            <a:ext cx="32918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 SemiBold"/>
              </a:rPr>
              <a:t>Legal &amp; contingency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59" y="779068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900" b="1" i="0">
                <a:solidFill>
                  <a:srgbClr val="5B21B6"/>
                </a:solidFill>
                <a:latin typeface="Roboto Condensed"/>
              </a:rPr>
              <a:t>Rp10M · 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96912" y="8266176"/>
            <a:ext cx="4956048" cy="14630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7296912" y="8266176"/>
            <a:ext cx="247802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96912" y="8430768"/>
            <a:ext cx="49560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"/>
              </a:rPr>
              <a:t>Administration, accounting, contracts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618720" y="2468880"/>
            <a:ext cx="4572000" cy="630936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2893040" y="2688336"/>
            <a:ext cx="41148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C3AED"/>
                </a:solidFill>
                <a:latin typeface="Roboto Condensed SemiBold"/>
              </a:rPr>
              <a:t>MILESTONES IT UNLOCKS · 12 MONTHS</a:t>
            </a:r>
          </a:p>
        </p:txBody>
      </p:sp>
      <p:pic>
        <p:nvPicPr>
          <p:cNvPr id="66" name="Picture 65" descr="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3584448"/>
            <a:ext cx="292608" cy="2926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3313664" y="347472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48 paid school / event sessions</a:t>
            </a:r>
          </a:p>
        </p:txBody>
      </p:sp>
      <p:pic>
        <p:nvPicPr>
          <p:cNvPr id="68" name="Picture 67" descr="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4315968"/>
            <a:ext cx="292608" cy="29260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3313664" y="420624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1,440 children in paid sessions</a:t>
            </a:r>
          </a:p>
        </p:txBody>
      </p:sp>
      <p:pic>
        <p:nvPicPr>
          <p:cNvPr id="70" name="Picture 69" descr="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5047488"/>
            <a:ext cx="292608" cy="29260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3313664" y="493776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600 family packs</a:t>
            </a:r>
          </a:p>
        </p:txBody>
      </p:sp>
      <p:pic>
        <p:nvPicPr>
          <p:cNvPr id="72" name="Picture 71" descr="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5779008"/>
            <a:ext cx="292608" cy="29260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3313664" y="566928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4 interactive worlds</a:t>
            </a:r>
          </a:p>
        </p:txBody>
      </p:sp>
      <p:pic>
        <p:nvPicPr>
          <p:cNvPr id="74" name="Picture 73" descr="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6510528"/>
            <a:ext cx="292608" cy="2926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3313664" y="640080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Scanvas Studio operational</a:t>
            </a:r>
          </a:p>
        </p:txBody>
      </p:sp>
      <p:pic>
        <p:nvPicPr>
          <p:cNvPr id="76" name="Picture 75" descr="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7242048"/>
            <a:ext cx="292608" cy="29260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3313664" y="713232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≥20% repeat purchase / rebooking</a:t>
            </a:r>
          </a:p>
        </p:txBody>
      </p:sp>
      <p:pic>
        <p:nvPicPr>
          <p:cNvPr id="78" name="Picture 77" descr="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93040" y="7973568"/>
            <a:ext cx="292608" cy="29260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3313664" y="786384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Rp77.4M first-year revenue (base case)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8924544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72033"/>
                </a:solidFill>
                <a:latin typeface="Roboto Condensed"/>
              </a:rPr>
              <a:t>Founders’ 12-month financial model, Sep 2026. Base case assumes family pack Rp49K and managed session Rp1M (up to 30 children): current test assumptions, not yet validated at commercial volume.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THE ASK · USE OF FUNDS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768096"/>
            <a:ext cx="1389888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Exit Strategy: Build a Content &amp; IP Engine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That Strategic Buyers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160934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Indicative path, not a commitment: build proven value first, keep exit options open.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218688"/>
            <a:ext cx="12070080" cy="54864"/>
          </a:xfrm>
          <a:prstGeom prst="rect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25296" y="3099815"/>
            <a:ext cx="292608" cy="292608"/>
          </a:xfrm>
          <a:prstGeom prst="ellipse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566160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0–12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95344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172033"/>
                </a:solidFill>
                <a:latin typeface="Roboto Condensed"/>
              </a:rPr>
              <a:t>Prove repeat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8912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48 paid sessions · ≥20% repeat · Rp77.4M base case</a:t>
            </a:r>
          </a:p>
        </p:txBody>
      </p:sp>
      <p:sp>
        <p:nvSpPr>
          <p:cNvPr id="19" name="Oval 18"/>
          <p:cNvSpPr/>
          <p:nvPr/>
        </p:nvSpPr>
        <p:spPr>
          <a:xfrm>
            <a:off x="5248656" y="3099815"/>
            <a:ext cx="292608" cy="292608"/>
          </a:xfrm>
          <a:prstGeom prst="ellipse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3566160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YEARS 1–3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895344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172033"/>
                </a:solidFill>
                <a:latin typeface="Roboto Condensed"/>
              </a:rPr>
              <a:t>Scale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8912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More worlds, school networks, ASEAN localisation</a:t>
            </a:r>
          </a:p>
        </p:txBody>
      </p:sp>
      <p:sp>
        <p:nvSpPr>
          <p:cNvPr id="23" name="Oval 22"/>
          <p:cNvSpPr/>
          <p:nvPr/>
        </p:nvSpPr>
        <p:spPr>
          <a:xfrm>
            <a:off x="9272016" y="3099815"/>
            <a:ext cx="292608" cy="292608"/>
          </a:xfrm>
          <a:prstGeom prst="ellipse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3566160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YEARS 3–5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895344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172033"/>
                </a:solidFill>
                <a:latin typeface="Roboto Condensed"/>
              </a:rPr>
              <a:t>Content &amp; IP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38912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Licensing, partner content, regional institutions</a:t>
            </a:r>
          </a:p>
        </p:txBody>
      </p:sp>
      <p:sp>
        <p:nvSpPr>
          <p:cNvPr id="27" name="Oval 26"/>
          <p:cNvSpPr/>
          <p:nvPr/>
        </p:nvSpPr>
        <p:spPr>
          <a:xfrm>
            <a:off x="13240512" y="3044951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167360" y="3566160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YEAR 5+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0" y="3895344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172033"/>
                </a:solidFill>
                <a:latin typeface="Roboto Condensed"/>
              </a:rPr>
              <a:t>Exit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0" y="4389120"/>
            <a:ext cx="36576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Strategic acquisition or later-stage buyout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394960"/>
            <a:ext cx="3803904" cy="3255264"/>
          </a:xfrm>
          <a:prstGeom prst="roundRect">
            <a:avLst>
              <a:gd name="adj" fmla="val 8988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389888" y="5669280"/>
            <a:ext cx="150469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PRIMARY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6309360"/>
            <a:ext cx="3218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oboto Condensed"/>
              </a:rPr>
              <a:t>Strategic acquisition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6931152"/>
            <a:ext cx="3218688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EDE9FE"/>
                </a:solidFill>
                <a:latin typeface="Roboto Condensed"/>
              </a:rPr>
              <a:t>Edtech platforms, children’s publishers, stationery and toy brands, or media / IP companies gain a ready engine, a content library, and school distribution.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93792" y="5394960"/>
            <a:ext cx="3803904" cy="3255264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486400" y="5669280"/>
            <a:ext cx="1383792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BRIDGE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309360"/>
            <a:ext cx="3218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Licensing &amp; partnerships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931152"/>
            <a:ext cx="3218688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License the engine and worlds to brands and publishers: revenue now, acquirer relationships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90304" y="5394960"/>
            <a:ext cx="3803904" cy="3255264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582912" y="5669280"/>
            <a:ext cx="1988312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ALTERNATIVE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2912" y="6309360"/>
            <a:ext cx="3218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Secondary sale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2" y="6931152"/>
            <a:ext cx="3218688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Later-stage investors buy early shareholders out as Scanvas scales across ASEAN.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386816" y="5394960"/>
            <a:ext cx="3803904" cy="3255264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3679424" y="5669280"/>
            <a:ext cx="1746504" cy="43891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  <a:latin typeface="Roboto Condensed SemiBold"/>
              </a:rPr>
              <a:t>LONG-TERM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679424" y="6309360"/>
            <a:ext cx="32186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172033"/>
                </a:solidFill>
                <a:latin typeface="Roboto Condensed"/>
              </a:rPr>
              <a:t>IPO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79424" y="6931152"/>
            <a:ext cx="3218688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Only at regional scale; not part of the near-term plan.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8887968"/>
            <a:ext cx="16093440" cy="6583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371600" y="8887968"/>
            <a:ext cx="15544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5B21B6"/>
                </a:solidFill>
                <a:latin typeface="Roboto Condensed SemiBold"/>
              </a:rPr>
              <a:t>What makes Scanvas acquirable: reusable world engine · child-generated content format · institutional distribution · privacy-by-design child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EXIT STRATEGY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280160" y="155448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8000" b="1" i="0">
                <a:solidFill>
                  <a:srgbClr val="172033"/>
                </a:solidFill>
                <a:latin typeface="Roboto Condensed"/>
              </a:rPr>
              <a:t>CONTACT 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16736" y="2962656"/>
            <a:ext cx="6217920" cy="54864"/>
          </a:xfrm>
          <a:prstGeom prst="rect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16736" y="3657600"/>
            <a:ext cx="877824" cy="87782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glob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13" y="3868277"/>
            <a:ext cx="456468" cy="4564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68880" y="362102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986784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  <a:hlinkClick r:id="rId4"/>
              </a:rPr>
              <a:t>scanvas.id</a:t>
            </a:r>
          </a:p>
        </p:txBody>
      </p:sp>
      <p:sp>
        <p:nvSpPr>
          <p:cNvPr id="18" name="Oval 17"/>
          <p:cNvSpPr/>
          <p:nvPr/>
        </p:nvSpPr>
        <p:spPr>
          <a:xfrm>
            <a:off x="1316736" y="4864608"/>
            <a:ext cx="877824" cy="87782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message-circl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413" y="5075285"/>
            <a:ext cx="456468" cy="456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68880" y="48280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193792"/>
            <a:ext cx="6400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  <a:hlinkClick r:id="rId6"/>
              </a:rPr>
              <a:t>+62 895-3675-97379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6400800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Haikal Hilmi · CEO   |   Salsabila Khoirunnisa · CMO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6949440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ITEC SEA 2026 · Digital Culture Track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371600"/>
            <a:ext cx="7132320" cy="7955279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canvas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0844" y="1920240"/>
            <a:ext cx="1267431" cy="1280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0" y="338328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800" b="1" i="0">
                <a:solidFill>
                  <a:srgbClr val="172033"/>
                </a:solidFill>
                <a:latin typeface="Roboto Condensed"/>
              </a:rPr>
              <a:t>SCANVAS</a:t>
            </a:r>
          </a:p>
        </p:txBody>
      </p:sp>
      <p:pic>
        <p:nvPicPr>
          <p:cNvPr id="27" name="Picture 26" descr="QR code to the Scanvas digital trial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0" y="4480560"/>
            <a:ext cx="3291840" cy="32918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1222736" y="8083296"/>
            <a:ext cx="4803648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Roboto Condensed SemiBold"/>
              </a:rPr>
              <a:t>TRY IT LIVE · scanvas.id/trial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4023360"/>
            <a:ext cx="1609344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0" b="1" i="0">
                <a:solidFill>
                  <a:srgbClr val="172033"/>
                </a:solidFill>
                <a:latin typeface="Roboto Condensed"/>
              </a:rPr>
              <a:t>SUPPORTING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5669280"/>
            <a:ext cx="3657600" cy="73152"/>
          </a:xfrm>
          <a:prstGeom prst="rect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603504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0" i="0">
                <a:solidFill>
                  <a:srgbClr val="172033"/>
                </a:solidFill>
                <a:latin typeface="Roboto Condensed"/>
              </a:rPr>
              <a:t>Appendix · market data · technology &amp; child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60934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Market Figures Use Indonesian Education Data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and a BPS-Based Child Population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86000"/>
            <a:ext cx="16093440" cy="649224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523744"/>
            <a:ext cx="50292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2374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23744"/>
            <a:ext cx="84124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How it is calculated /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3072384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31455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units, Indonesia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455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243,604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1455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TK 134,789 + KB 86,429 + TPA 2,684 + SPS 19,702 · Kemendikdasmen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9867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4059935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Primary schools (SD sederajat), Indonesia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59935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177,282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059935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Kemendikdasmen Data Referensi Pendidikan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9011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63040" y="49743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+ primary schools, Indonesia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743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420,886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9743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243,604 + 177,282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58155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63040" y="58887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Central Java + D.I. Yogyakarta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8887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62,797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8887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32,839 + 5,071 · SD 22,835 + 2,052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7299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63040" y="68031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D.I. Yogyakarta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8031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7,123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68031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5,071 + SD 2,052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76443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63040" y="77175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Children aged 3–10, Indonesia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77175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≈35.3M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77175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2/5 × 22,094,426 (0–4) + 22,013,768 (5–9) + 1/5 × 22,088,673 (10–14) · BPS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8961120"/>
            <a:ext cx="160934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72033"/>
                </a:solidFill>
                <a:latin typeface="Roboto Condensed"/>
              </a:rPr>
              <a:t>Kemendikdasmen: referensi.data.kemendikdasmen.go.id (PAUD &amp; Dikdas per province), accessed Sep 2026. BPS: Jumlah Penduduk Menurut Kelompok Umur, Long Form SP2020 (2022). TPA in Kemendikdasmen data = Taman Penitipan Anak.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OTHER INFO · MARKET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One Pipeline, Responsible Child Data,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and a Validation Gate Before Every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80160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377439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670" y="2618110"/>
            <a:ext cx="323331" cy="323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Physical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Child colors a Scanvas sheet</a:t>
            </a:r>
          </a:p>
        </p:txBody>
      </p:sp>
      <p:sp>
        <p:nvSpPr>
          <p:cNvPr id="19" name="Chevron 18"/>
          <p:cNvSpPr/>
          <p:nvPr/>
        </p:nvSpPr>
        <p:spPr>
          <a:xfrm>
            <a:off x="3218687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01568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84448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4681728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amera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958" y="2618110"/>
            <a:ext cx="323331" cy="3233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84448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41148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Camera or photo upload</a:t>
            </a:r>
          </a:p>
        </p:txBody>
      </p:sp>
      <p:sp>
        <p:nvSpPr>
          <p:cNvPr id="26" name="Chevron 25"/>
          <p:cNvSpPr/>
          <p:nvPr/>
        </p:nvSpPr>
        <p:spPr>
          <a:xfrm>
            <a:off x="5522976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05855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88736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6986016" y="24688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can-lin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246" y="2618110"/>
            <a:ext cx="323331" cy="3233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Computer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Marker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8736" y="45720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Perspective correction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8736" y="530352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Crop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8736" y="576072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Object extraction</a:t>
            </a:r>
          </a:p>
        </p:txBody>
      </p:sp>
      <p:sp>
        <p:nvSpPr>
          <p:cNvPr id="36" name="Chevron 35"/>
          <p:cNvSpPr/>
          <p:nvPr/>
        </p:nvSpPr>
        <p:spPr>
          <a:xfrm>
            <a:off x="7827263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10143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93023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39" name="Oval 38"/>
          <p:cNvSpPr/>
          <p:nvPr/>
        </p:nvSpPr>
        <p:spPr>
          <a:xfrm>
            <a:off x="9290303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534" y="2618110"/>
            <a:ext cx="323331" cy="32333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93023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Digital asset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4114800"/>
            <a:ext cx="1792223" cy="8229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Child’s artwork becomes the character</a:t>
            </a:r>
          </a:p>
        </p:txBody>
      </p:sp>
      <p:sp>
        <p:nvSpPr>
          <p:cNvPr id="43" name="Chevron 42"/>
          <p:cNvSpPr/>
          <p:nvPr/>
        </p:nvSpPr>
        <p:spPr>
          <a:xfrm>
            <a:off x="10131551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314431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497311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46" name="Oval 45"/>
          <p:cNvSpPr/>
          <p:nvPr/>
        </p:nvSpPr>
        <p:spPr>
          <a:xfrm>
            <a:off x="11594591" y="24688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play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43822" y="2618110"/>
            <a:ext cx="323331" cy="32333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497311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Interactive runtime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1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Animation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7311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Movement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7311" y="50292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Sounds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7311" y="54864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Interactive world</a:t>
            </a:r>
          </a:p>
        </p:txBody>
      </p:sp>
      <p:sp>
        <p:nvSpPr>
          <p:cNvPr id="53" name="Chevron 52"/>
          <p:cNvSpPr/>
          <p:nvPr/>
        </p:nvSpPr>
        <p:spPr>
          <a:xfrm>
            <a:off x="12435839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2618719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2801599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6</a:t>
            </a:r>
          </a:p>
        </p:txBody>
      </p:sp>
      <p:sp>
        <p:nvSpPr>
          <p:cNvPr id="56" name="Oval 55"/>
          <p:cNvSpPr/>
          <p:nvPr/>
        </p:nvSpPr>
        <p:spPr>
          <a:xfrm>
            <a:off x="13898879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48110" y="2618110"/>
            <a:ext cx="323331" cy="32333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801599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Content layer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599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Story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01599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Facts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801599" y="50292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Discovery</a:t>
            </a:r>
          </a:p>
        </p:txBody>
      </p:sp>
      <p:sp>
        <p:nvSpPr>
          <p:cNvPr id="62" name="Chevron 61"/>
          <p:cNvSpPr/>
          <p:nvPr/>
        </p:nvSpPr>
        <p:spPr>
          <a:xfrm>
            <a:off x="14740127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4923007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5105887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7</a:t>
            </a:r>
          </a:p>
        </p:txBody>
      </p:sp>
      <p:sp>
        <p:nvSpPr>
          <p:cNvPr id="65" name="Oval 64"/>
          <p:cNvSpPr/>
          <p:nvPr/>
        </p:nvSpPr>
        <p:spPr>
          <a:xfrm>
            <a:off x="16203167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layers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52398" y="2618110"/>
            <a:ext cx="323331" cy="32333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105887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Reusable world engine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105887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Ocean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105887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Vehicles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105887" y="5029200"/>
            <a:ext cx="1792223" cy="8229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Future: culture, nature, characters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97280" y="6729984"/>
            <a:ext cx="7863840" cy="2743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389888" y="7022592"/>
            <a:ext cx="768096" cy="7680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Picture 72" descr="shield-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231" y="7206935"/>
            <a:ext cx="399409" cy="39940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377440" y="7095744"/>
            <a:ext cx="6217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RESPONSIBLE CHILD DATA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26464" y="7936992"/>
            <a:ext cx="722376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Collect only what is necessary. No child name, parent identity, email, phone, precise location, or artwork itself as analytics payload by default.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326880" y="6729984"/>
            <a:ext cx="7863840" cy="2743200"/>
          </a:xfrm>
          <a:prstGeom prst="roundRect">
            <a:avLst>
              <a:gd name="adj" fmla="val 10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619488" y="702259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 descr="repeat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3831" y="7206935"/>
            <a:ext cx="399409" cy="39940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0607040" y="7095744"/>
            <a:ext cx="6217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VALIDATION PRINCIPLE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56064" y="7973568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</a:t>
            </a:r>
          </a:p>
        </p:txBody>
      </p:sp>
      <p:pic>
        <p:nvPicPr>
          <p:cNvPr id="81" name="Picture 80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07852" y="8074152"/>
            <a:ext cx="274320" cy="274320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11327892" y="7973568"/>
            <a:ext cx="156514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Measure</a:t>
            </a:r>
          </a:p>
        </p:txBody>
      </p:sp>
      <p:pic>
        <p:nvPicPr>
          <p:cNvPr id="83" name="Picture 82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38760" y="8074152"/>
            <a:ext cx="274320" cy="274320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3258800" y="7973568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Gate</a:t>
            </a:r>
          </a:p>
        </p:txBody>
      </p:sp>
      <p:pic>
        <p:nvPicPr>
          <p:cNvPr id="85" name="Picture 84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81048" y="8074152"/>
            <a:ext cx="274320" cy="274320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4801088" y="7973568"/>
            <a:ext cx="143560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Expand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56064" y="8595360"/>
            <a:ext cx="722376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Do not build the full course before a 3-lesson pilot validates progression and willingness to pay. Do not build large Mission/Story/AI layers before repeat usage is proven.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OTHER INFO · TECHNOLOGY &amp; CHILD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3349</Words>
  <Application>Microsoft Office PowerPoint</Application>
  <PresentationFormat>Custom</PresentationFormat>
  <Paragraphs>577</Paragraphs>
  <Slides>24</Slides>
  <Notes>23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Roboto Condensed SemiBold</vt:lpstr>
      <vt:lpstr>Calibri</vt:lpstr>
      <vt:lpstr>Arial</vt:lpstr>
      <vt:lpstr>Roboto Condensed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ITEC PITCH DECK</dc:title>
  <cp:lastModifiedBy>Haikal Hilmi</cp:lastModifiedBy>
  <cp:revision>2</cp:revision>
  <dcterms:created xsi:type="dcterms:W3CDTF">2006-08-16T00:00:00Z</dcterms:created>
  <dcterms:modified xsi:type="dcterms:W3CDTF">2026-10-05T14:11:51Z</dcterms:modified>
  <dc:identifier>DAFt2xZYbnU</dc:identifier>
</cp:coreProperties>
</file>