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Roboto Condensed" panose="02000000000000000000" pitchFamily="2" charset="0"/>
      <p:regular r:id="rId22"/>
      <p:bold r:id="rId23"/>
    </p:embeddedFont>
    <p:embeddedFont>
      <p:font typeface="Roboto Condensed SemiBold" panose="02000000000000000000" pitchFamily="2" charset="0"/>
      <p:bold r:id="rId24"/>
    </p:embeddedFont>
    <p:embeddedFont>
      <p:font typeface="Segoe UI" panose="020B0502040204020203" pitchFamily="34"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38" autoAdjust="0"/>
  </p:normalViewPr>
  <p:slideViewPr>
    <p:cSldViewPr>
      <p:cViewPr varScale="1">
        <p:scale>
          <a:sx n="78" d="100"/>
          <a:sy n="78" d="100"/>
        </p:scale>
        <p:origin x="55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3129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0:15 · Scanvas: where children’s creativity comes alive. Children turn their paper artwork into interactive characters in the browser. I am Salsabila, co-founder and CMO; with me is Haikal, our CEO.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 Yogyakarta is a student city, but modern interactive learning is mostly in international schools or big-city museums, like the 3D animation museums in Jakarta (our observation). Learning about animals stays on paper: a child in our TPA pilot colored a fish, and then the page was done. Screens give ready-made characters. Therefore: Scanvas, an affordable interactive animation learning platform. (No learning-outcome claims: not measured.)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0:25 · Color, scan, come alive, explore. The same whale on paper, in the browser, then swimming in the ocean with its sound and facts. The child’s colors stay at the center. No app to install.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0:55 incl. video · Say before playing: "This video shows our digital trial. Our physical packs use the same animation experience after children photograph their paper artwork." Backup: the MP4 file assets/video/trial_digital_itec.mp4.</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0:35 · 30 children, one TPA pilot in Yogyakarta, two worlds live. Feedback gave us five product priorities: two shipped, three in development. Next we must validate willingness to pay and repeat use. We are pre-revenue.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0:35 · We start with public PAUD, TK, and primary schools in Yogyakarta, plus TPA where we piloted. Buyer: principals, teachers, coordinators. Offer: a facilitated session, about Rp33K per child at the test price. Yogyakarta has 7,123 units; next the cities of Central Java (62,797 with DIY), then Indonesia (420,886). First-year target: 48 paid sessions. Families buy packs alongside.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0:25 · Alternatives exist: Faber-Castell ARt Alive, Quiver, WAGZAK JUMP need an app; teamLab is a venue. Scanvas combines the child’s artwork, browser access, and shared worlds; new themes reuse the same pipeline. Next test: does this combination earn paid, repeat use? Full matrix in the appendix.</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0:35 · Paid sessions first: a managed session for up to 30 children at a test price of Rp1M; we validate booking, delivery cost, rebooking. Family packs at Rp49K alongside. Schools: outreach, demo, first paid session, rebooking. Families: short videos, free trial, order via WhatsApp. Both prices are test assumptions.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 · Salsabila leads customer discovery, partnerships, and sales; Haikal leads product, computer-vision scanning, and the web platform. Together we shipped a live product, two worlds, and a 30-child pilot. Next capability: institutional sales and repeatable session delivery.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 · Done: live product, two worlds, first pilot. Months 1–3: validate the offer and start paid sessions. Months 4–6: test repeat use with Studio and a three-lesson program. Months 7–12: target 48 sessions and 600 packs, two to four worlds, explore localization. Expansion only after evidence.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0:35 · We are seeking Rp200 million for 12 months of validation: Rp96M founder compensation at Rp4M each per month, Rp30M go-to-market, Rp24M product, Rp20M packs and demo materials, Rp20M content, Rp10M legal and contingency. Targets: 48 sessions, 600 packs, four worlds, Studio running. Illustrative revenue Rp77.4M, before costs. All planning assumptions.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0:30 · Through ITEC we want institutional pilot partners, content and localization partners, and to explore a Chaoyang pilot with a local partner: pick a use case, adapt language and content, test demand before committing. (No partner or commitment exists yet.) Scanvas gives children a world shaped by their own creativity. Thank you.</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do not claim no competitors: they prove the category exists. Evidence checked Sep 2026 on each product’s official site.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Initial buyer is the PAUD/TK/TPA owner or organizer; the loop is demo, pilot, paid session, repeat. School counts are the beachhead, not the whole market.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Single-year ages are not published in this table, so ages 3-10 are a proportional estimate.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Backend detects ArUco markers, corrects perspective, and extracts the object; the frontend shows it with motion, sound, and facts. Child data is minimised by default.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Rp200M when year-1 revenue is Rp77.4M? The first 12 months build the repeatable system and prove repeat use; unit contribution is positive (pack 59%, session 75%). Team is Rp4M per founder per month.</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Exit is indicative. Most realistic: strategic acquisition by a company that wants the engine, the content, and school distribution. No acquirer talks exist today.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s://www.scanvas.id/"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7.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jp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16.png"/><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6.png"/><Relationship Id="rId7"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5.png"/><Relationship Id="rId7" Type="http://schemas.openxmlformats.org/officeDocument/2006/relationships/hyperlink" Target="https://www.scanvas.id/trial"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hyperlink" Target="https://www.scanvas.i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2.png"/><Relationship Id="rId7" Type="http://schemas.openxmlformats.org/officeDocument/2006/relationships/image" Target="../media/image40.png"/><Relationship Id="rId12"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9.png"/><Relationship Id="rId11" Type="http://schemas.openxmlformats.org/officeDocument/2006/relationships/image" Target="../media/image41.png"/><Relationship Id="rId5" Type="http://schemas.openxmlformats.org/officeDocument/2006/relationships/image" Target="../media/image31.png"/><Relationship Id="rId10" Type="http://schemas.openxmlformats.org/officeDocument/2006/relationships/image" Target="../media/image34.png"/><Relationship Id="rId4" Type="http://schemas.openxmlformats.org/officeDocument/2006/relationships/image" Target="../media/image38.png"/><Relationship Id="rId9" Type="http://schemas.openxmlformats.org/officeDocument/2006/relationships/image" Target="../media/image35.png"/></Relationships>
</file>

<file path=ppt/slides/_rels/slide1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42.png"/><Relationship Id="rId7"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16.png"/><Relationship Id="rId4" Type="http://schemas.openxmlformats.org/officeDocument/2006/relationships/image" Target="../media/image26.png"/><Relationship Id="rId9" Type="http://schemas.openxmlformats.org/officeDocument/2006/relationships/image" Target="../media/image3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497622"/>
            <a:chOff x="0" y="0"/>
            <a:chExt cx="4816593" cy="131061"/>
          </a:xfrm>
        </p:grpSpPr>
        <p:sp>
          <p:nvSpPr>
            <p:cNvPr id="3" name="Freeform 3"/>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4" name="TextBox 4"/>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0" y="9862471"/>
            <a:ext cx="18288000" cy="673340"/>
            <a:chOff x="0" y="0"/>
            <a:chExt cx="24384000" cy="897786"/>
          </a:xfrm>
        </p:grpSpPr>
        <p:grpSp>
          <p:nvGrpSpPr>
            <p:cNvPr id="8" name="Group 8"/>
            <p:cNvGrpSpPr/>
            <p:nvPr/>
          </p:nvGrpSpPr>
          <p:grpSpPr>
            <a:xfrm>
              <a:off x="0" y="0"/>
              <a:ext cx="24384000" cy="663496"/>
              <a:chOff x="0" y="0"/>
              <a:chExt cx="4816593" cy="131061"/>
            </a:xfrm>
          </p:grpSpPr>
          <p:sp>
            <p:nvSpPr>
              <p:cNvPr id="9" name="Freeform 9"/>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10" name="TextBox 10"/>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0" y="234290"/>
              <a:ext cx="24384000" cy="663496"/>
              <a:chOff x="0" y="0"/>
              <a:chExt cx="4816593" cy="131061"/>
            </a:xfrm>
          </p:grpSpPr>
          <p:sp>
            <p:nvSpPr>
              <p:cNvPr id="12" name="Freeform 12"/>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3" name="TextBox 13"/>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grpSp>
        <p:nvGrpSpPr>
          <p:cNvPr id="16" name="Group 16"/>
          <p:cNvGrpSpPr/>
          <p:nvPr/>
        </p:nvGrpSpPr>
        <p:grpSpPr>
          <a:xfrm>
            <a:off x="13304520" y="1508760"/>
            <a:ext cx="3977640" cy="2861158"/>
            <a:chOff x="0" y="0"/>
            <a:chExt cx="5303520" cy="3814877"/>
          </a:xfrm>
        </p:grpSpPr>
        <p:sp>
          <p:nvSpPr>
            <p:cNvPr id="17" name="Freeform 17" descr="assets/itec_logo.png"/>
            <p:cNvSpPr/>
            <p:nvPr/>
          </p:nvSpPr>
          <p:spPr>
            <a:xfrm>
              <a:off x="0" y="0"/>
              <a:ext cx="5303520" cy="3814826"/>
            </a:xfrm>
            <a:custGeom>
              <a:avLst/>
              <a:gdLst/>
              <a:ahLst/>
              <a:cxnLst/>
              <a:rect l="l" t="t" r="r" b="b"/>
              <a:pathLst>
                <a:path w="5303520" h="3814826">
                  <a:moveTo>
                    <a:pt x="0" y="0"/>
                  </a:moveTo>
                  <a:lnTo>
                    <a:pt x="5303520" y="0"/>
                  </a:lnTo>
                  <a:lnTo>
                    <a:pt x="5303520" y="3814826"/>
                  </a:lnTo>
                  <a:lnTo>
                    <a:pt x="0" y="3814826"/>
                  </a:lnTo>
                  <a:lnTo>
                    <a:pt x="0" y="0"/>
                  </a:lnTo>
                  <a:close/>
                </a:path>
              </a:pathLst>
            </a:custGeom>
            <a:blipFill>
              <a:blip r:embed="rId3"/>
              <a:stretch>
                <a:fillRect t="-12" b="-13"/>
              </a:stretch>
            </a:blipFill>
          </p:spPr>
          <p:txBody>
            <a:bodyPr/>
            <a:lstStyle/>
            <a:p>
              <a:endParaRPr lang="en-US"/>
            </a:p>
          </p:txBody>
        </p:sp>
      </p:grpSp>
      <p:pic>
        <p:nvPicPr>
          <p:cNvPr id="18" name="Picture 17" descr="Scanvas logo"/>
          <p:cNvPicPr>
            <a:picLocks noChangeAspect="1"/>
          </p:cNvPicPr>
          <p:nvPr/>
        </p:nvPicPr>
        <p:blipFill>
          <a:blip r:embed="rId4"/>
          <a:stretch>
            <a:fillRect/>
          </a:stretch>
        </p:blipFill>
        <p:spPr>
          <a:xfrm>
            <a:off x="1316736" y="1097280"/>
            <a:ext cx="905307" cy="914400"/>
          </a:xfrm>
          <a:prstGeom prst="rect">
            <a:avLst/>
          </a:prstGeom>
        </p:spPr>
      </p:pic>
      <p:sp>
        <p:nvSpPr>
          <p:cNvPr id="19" name="TextBox 18"/>
          <p:cNvSpPr txBox="1"/>
          <p:nvPr/>
        </p:nvSpPr>
        <p:spPr>
          <a:xfrm>
            <a:off x="1316736" y="2267712"/>
            <a:ext cx="7315200" cy="438912"/>
          </a:xfrm>
          <a:prstGeom prst="rect">
            <a:avLst/>
          </a:prstGeom>
          <a:noFill/>
        </p:spPr>
        <p:txBody>
          <a:bodyPr wrap="square" lIns="0" tIns="0" rIns="0" bIns="0" anchor="ctr">
            <a:noAutofit/>
          </a:bodyPr>
          <a:lstStyle/>
          <a:p>
            <a:pPr algn="l"/>
            <a:r>
              <a:rPr sz="1700" b="0" i="0">
                <a:solidFill>
                  <a:srgbClr val="5271FF"/>
                </a:solidFill>
                <a:latin typeface="Roboto Condensed SemiBold"/>
              </a:rPr>
              <a:t>PITCH DECK</a:t>
            </a:r>
          </a:p>
        </p:txBody>
      </p:sp>
      <p:sp>
        <p:nvSpPr>
          <p:cNvPr id="20" name="TextBox 19"/>
          <p:cNvSpPr txBox="1"/>
          <p:nvPr/>
        </p:nvSpPr>
        <p:spPr>
          <a:xfrm>
            <a:off x="1280160" y="2743200"/>
            <a:ext cx="7680960" cy="1371600"/>
          </a:xfrm>
          <a:prstGeom prst="rect">
            <a:avLst/>
          </a:prstGeom>
          <a:noFill/>
        </p:spPr>
        <p:txBody>
          <a:bodyPr wrap="square" lIns="0" tIns="0" rIns="0" bIns="0" anchor="t">
            <a:noAutofit/>
          </a:bodyPr>
          <a:lstStyle/>
          <a:p>
            <a:pPr algn="l">
              <a:lnSpc>
                <a:spcPct val="95000"/>
              </a:lnSpc>
            </a:pPr>
            <a:r>
              <a:rPr sz="9200" b="1" i="0">
                <a:solidFill>
                  <a:srgbClr val="172033"/>
                </a:solidFill>
                <a:latin typeface="Roboto Condensed"/>
              </a:rPr>
              <a:t>SCANVAS</a:t>
            </a:r>
          </a:p>
        </p:txBody>
      </p:sp>
      <p:sp>
        <p:nvSpPr>
          <p:cNvPr id="21" name="TextBox 20"/>
          <p:cNvSpPr txBox="1"/>
          <p:nvPr/>
        </p:nvSpPr>
        <p:spPr>
          <a:xfrm>
            <a:off x="1316736" y="4151376"/>
            <a:ext cx="7132320" cy="1280160"/>
          </a:xfrm>
          <a:prstGeom prst="rect">
            <a:avLst/>
          </a:prstGeom>
          <a:noFill/>
        </p:spPr>
        <p:txBody>
          <a:bodyPr wrap="square" lIns="0" tIns="0" rIns="0" bIns="0" anchor="t">
            <a:noAutofit/>
          </a:bodyPr>
          <a:lstStyle/>
          <a:p>
            <a:pPr algn="l">
              <a:lnSpc>
                <a:spcPct val="95000"/>
              </a:lnSpc>
            </a:pPr>
            <a:r>
              <a:rPr sz="3600" b="1" i="0">
                <a:solidFill>
                  <a:srgbClr val="7C3AED"/>
                </a:solidFill>
                <a:latin typeface="Roboto Condensed"/>
              </a:rPr>
              <a:t>Where Children’s Creativity</a:t>
            </a:r>
            <a:br/>
            <a:r>
              <a:rPr sz="3600" b="1" i="0">
                <a:solidFill>
                  <a:srgbClr val="7C3AED"/>
                </a:solidFill>
                <a:latin typeface="Roboto Condensed"/>
              </a:rPr>
              <a:t>Comes Alive</a:t>
            </a:r>
          </a:p>
        </p:txBody>
      </p:sp>
      <p:sp>
        <p:nvSpPr>
          <p:cNvPr id="22" name="TextBox 21"/>
          <p:cNvSpPr txBox="1"/>
          <p:nvPr/>
        </p:nvSpPr>
        <p:spPr>
          <a:xfrm>
            <a:off x="1316736" y="5486400"/>
            <a:ext cx="6583680" cy="1005840"/>
          </a:xfrm>
          <a:prstGeom prst="rect">
            <a:avLst/>
          </a:prstGeom>
          <a:noFill/>
        </p:spPr>
        <p:txBody>
          <a:bodyPr wrap="square" lIns="0" tIns="0" rIns="0" bIns="0" anchor="t">
            <a:noAutofit/>
          </a:bodyPr>
          <a:lstStyle/>
          <a:p>
            <a:pPr algn="l">
              <a:lnSpc>
                <a:spcPct val="112000"/>
              </a:lnSpc>
            </a:pPr>
            <a:r>
              <a:rPr sz="2400" b="0" i="0">
                <a:solidFill>
                  <a:srgbClr val="172033"/>
                </a:solidFill>
                <a:latin typeface="Roboto Condensed"/>
              </a:rPr>
              <a:t>Children turn their paper artwork into interactive characters in the browser.</a:t>
            </a:r>
          </a:p>
        </p:txBody>
      </p:sp>
      <p:sp>
        <p:nvSpPr>
          <p:cNvPr id="23" name="TextBox 22"/>
          <p:cNvSpPr txBox="1"/>
          <p:nvPr/>
        </p:nvSpPr>
        <p:spPr>
          <a:xfrm>
            <a:off x="1316736" y="6803136"/>
            <a:ext cx="7132320" cy="438912"/>
          </a:xfrm>
          <a:prstGeom prst="rect">
            <a:avLst/>
          </a:prstGeom>
          <a:noFill/>
        </p:spPr>
        <p:txBody>
          <a:bodyPr wrap="square" lIns="0" tIns="0" rIns="0" bIns="0" anchor="ctr">
            <a:noAutofit/>
          </a:bodyPr>
          <a:lstStyle/>
          <a:p>
            <a:pPr algn="l"/>
            <a:r>
              <a:rPr sz="2100" b="0" i="0">
                <a:solidFill>
                  <a:srgbClr val="172033"/>
                </a:solidFill>
                <a:latin typeface="Roboto Condensed SemiBold"/>
              </a:rPr>
              <a:t>Haikal Hilmi</a:t>
            </a:r>
            <a:r>
              <a:rPr sz="1800" b="0" i="0">
                <a:solidFill>
                  <a:srgbClr val="172033"/>
                </a:solidFill>
                <a:latin typeface="Roboto Condensed"/>
              </a:rPr>
              <a:t>  —  CEO &amp; Co-Founder</a:t>
            </a:r>
          </a:p>
        </p:txBody>
      </p:sp>
      <p:sp>
        <p:nvSpPr>
          <p:cNvPr id="24" name="TextBox 23"/>
          <p:cNvSpPr txBox="1"/>
          <p:nvPr/>
        </p:nvSpPr>
        <p:spPr>
          <a:xfrm>
            <a:off x="1316736" y="7296912"/>
            <a:ext cx="7132320" cy="438912"/>
          </a:xfrm>
          <a:prstGeom prst="rect">
            <a:avLst/>
          </a:prstGeom>
          <a:noFill/>
        </p:spPr>
        <p:txBody>
          <a:bodyPr wrap="square" lIns="0" tIns="0" rIns="0" bIns="0" anchor="ctr">
            <a:noAutofit/>
          </a:bodyPr>
          <a:lstStyle/>
          <a:p>
            <a:pPr algn="l"/>
            <a:r>
              <a:rPr sz="2100" b="0" i="0">
                <a:solidFill>
                  <a:srgbClr val="172033"/>
                </a:solidFill>
                <a:latin typeface="Roboto Condensed SemiBold"/>
              </a:rPr>
              <a:t>Salsabila Khoirunnisa</a:t>
            </a:r>
            <a:r>
              <a:rPr sz="1800" b="0" i="0">
                <a:solidFill>
                  <a:srgbClr val="172033"/>
                </a:solidFill>
                <a:latin typeface="Roboto Condensed"/>
              </a:rPr>
              <a:t>  —  CMO &amp; Co-Founder</a:t>
            </a:r>
          </a:p>
        </p:txBody>
      </p:sp>
      <p:sp>
        <p:nvSpPr>
          <p:cNvPr id="25" name="TextBox 24"/>
          <p:cNvSpPr txBox="1"/>
          <p:nvPr/>
        </p:nvSpPr>
        <p:spPr>
          <a:xfrm>
            <a:off x="1316736" y="8229600"/>
            <a:ext cx="7132320" cy="402336"/>
          </a:xfrm>
          <a:prstGeom prst="rect">
            <a:avLst/>
          </a:prstGeom>
          <a:noFill/>
        </p:spPr>
        <p:txBody>
          <a:bodyPr wrap="square" lIns="0" tIns="0" rIns="0" bIns="0" anchor="ctr">
            <a:noAutofit/>
          </a:bodyPr>
          <a:lstStyle/>
          <a:p>
            <a:pPr algn="l"/>
            <a:r>
              <a:rPr sz="1800" b="0" i="0">
                <a:solidFill>
                  <a:srgbClr val="5271FF"/>
                </a:solidFill>
                <a:latin typeface="Roboto Condensed SemiBold"/>
              </a:rPr>
              <a:t>ITEC SEA 2026 · Digital Culture Track</a:t>
            </a:r>
          </a:p>
        </p:txBody>
      </p:sp>
      <p:sp>
        <p:nvSpPr>
          <p:cNvPr id="26" name="TextBox 25"/>
          <p:cNvSpPr txBox="1"/>
          <p:nvPr/>
        </p:nvSpPr>
        <p:spPr>
          <a:xfrm>
            <a:off x="1316736" y="8668512"/>
            <a:ext cx="3657600" cy="475488"/>
          </a:xfrm>
          <a:prstGeom prst="rect">
            <a:avLst/>
          </a:prstGeom>
          <a:noFill/>
        </p:spPr>
        <p:txBody>
          <a:bodyPr wrap="square" lIns="0" tIns="0" rIns="0" bIns="0" anchor="ctr">
            <a:noAutofit/>
          </a:bodyPr>
          <a:lstStyle/>
          <a:p>
            <a:pPr algn="l"/>
            <a:r>
              <a:rPr sz="2400" b="1" i="0">
                <a:solidFill>
                  <a:srgbClr val="7C3AED"/>
                </a:solidFill>
                <a:latin typeface="Roboto Condensed"/>
                <a:hlinkClick r:id="rId5"/>
              </a:rPr>
              <a:t>scanvas.id</a:t>
            </a:r>
          </a:p>
        </p:txBody>
      </p:sp>
      <p:pic>
        <p:nvPicPr>
          <p:cNvPr id="27" name="Picture 26" descr="A child-colored Scanvas whale sheet"/>
          <p:cNvPicPr>
            <a:picLocks noChangeAspect="1"/>
          </p:cNvPicPr>
          <p:nvPr/>
        </p:nvPicPr>
        <p:blipFill>
          <a:blip r:embed="rId6"/>
          <a:stretch>
            <a:fillRect/>
          </a:stretch>
        </p:blipFill>
        <p:spPr>
          <a:xfrm>
            <a:off x="8321040" y="1920240"/>
            <a:ext cx="4663440" cy="4582637"/>
          </a:xfrm>
          <a:prstGeom prst="rect">
            <a:avLst/>
          </a:prstGeom>
        </p:spPr>
      </p:pic>
      <p:sp>
        <p:nvSpPr>
          <p:cNvPr id="28" name="Chevron 27"/>
          <p:cNvSpPr/>
          <p:nvPr/>
        </p:nvSpPr>
        <p:spPr>
          <a:xfrm>
            <a:off x="12947904" y="5760720"/>
            <a:ext cx="292608" cy="621792"/>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13258800" y="5029200"/>
            <a:ext cx="4023360" cy="4023360"/>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The same whale swimming in the Scanvas ocean world"/>
          <p:cNvPicPr>
            <a:picLocks noChangeAspect="1"/>
          </p:cNvPicPr>
          <p:nvPr/>
        </p:nvPicPr>
        <p:blipFill>
          <a:blip r:embed="rId7"/>
          <a:stretch>
            <a:fillRect/>
          </a:stretch>
        </p:blipFill>
        <p:spPr>
          <a:xfrm>
            <a:off x="13935456" y="4480560"/>
            <a:ext cx="2648483" cy="5212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822960"/>
            <a:ext cx="14630400" cy="914400"/>
          </a:xfrm>
          <a:prstGeom prst="rect">
            <a:avLst/>
          </a:prstGeom>
          <a:noFill/>
        </p:spPr>
        <p:txBody>
          <a:bodyPr wrap="square" lIns="0" tIns="0" rIns="0" bIns="0" anchor="t">
            <a:noAutofit/>
          </a:bodyPr>
          <a:lstStyle/>
          <a:p>
            <a:pPr algn="l">
              <a:lnSpc>
                <a:spcPct val="95000"/>
              </a:lnSpc>
            </a:pPr>
            <a:r>
              <a:rPr sz="4400" b="1" i="0">
                <a:solidFill>
                  <a:srgbClr val="172033"/>
                </a:solidFill>
                <a:latin typeface="Roboto Condensed"/>
              </a:rPr>
              <a:t>Interactive Learning Is Still Hard to Reach in Yogyakarta</a:t>
            </a:r>
          </a:p>
        </p:txBody>
      </p:sp>
      <p:sp>
        <p:nvSpPr>
          <p:cNvPr id="13" name="Oval 12"/>
          <p:cNvSpPr/>
          <p:nvPr/>
        </p:nvSpPr>
        <p:spPr>
          <a:xfrm>
            <a:off x="1097280" y="2231136"/>
            <a:ext cx="585216" cy="5852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000" b="1" i="0">
                <a:solidFill>
                  <a:srgbClr val="FFFFFF"/>
                </a:solidFill>
                <a:latin typeface="Roboto Condensed"/>
              </a:rPr>
              <a:t>1</a:t>
            </a:r>
          </a:p>
        </p:txBody>
      </p:sp>
      <p:sp>
        <p:nvSpPr>
          <p:cNvPr id="14" name="TextBox 13"/>
          <p:cNvSpPr txBox="1"/>
          <p:nvPr/>
        </p:nvSpPr>
        <p:spPr>
          <a:xfrm>
            <a:off x="1920240" y="2194560"/>
            <a:ext cx="6949440" cy="365760"/>
          </a:xfrm>
          <a:prstGeom prst="rect">
            <a:avLst/>
          </a:prstGeom>
          <a:noFill/>
        </p:spPr>
        <p:txBody>
          <a:bodyPr wrap="square" lIns="0" tIns="0" rIns="0" bIns="0" anchor="t">
            <a:noAutofit/>
          </a:bodyPr>
          <a:lstStyle/>
          <a:p>
            <a:pPr algn="l"/>
            <a:r>
              <a:rPr sz="1500" b="0" i="0">
                <a:solidFill>
                  <a:srgbClr val="7C3AED"/>
                </a:solidFill>
                <a:latin typeface="Roboto Condensed SemiBold"/>
              </a:rPr>
              <a:t>ACCESS</a:t>
            </a:r>
          </a:p>
        </p:txBody>
      </p:sp>
      <p:sp>
        <p:nvSpPr>
          <p:cNvPr id="15" name="TextBox 14"/>
          <p:cNvSpPr txBox="1"/>
          <p:nvPr/>
        </p:nvSpPr>
        <p:spPr>
          <a:xfrm>
            <a:off x="1920240" y="2560320"/>
            <a:ext cx="7040880" cy="1097280"/>
          </a:xfrm>
          <a:prstGeom prst="rect">
            <a:avLst/>
          </a:prstGeom>
          <a:noFill/>
        </p:spPr>
        <p:txBody>
          <a:bodyPr wrap="square" lIns="0" tIns="0" rIns="0" bIns="0" anchor="t">
            <a:noAutofit/>
          </a:bodyPr>
          <a:lstStyle/>
          <a:p>
            <a:pPr algn="l">
              <a:lnSpc>
                <a:spcPct val="108000"/>
              </a:lnSpc>
            </a:pPr>
            <a:r>
              <a:rPr sz="2100" b="0" i="0">
                <a:solidFill>
                  <a:srgbClr val="172033"/>
                </a:solidFill>
                <a:latin typeface="Roboto Condensed"/>
              </a:rPr>
              <a:t>Yogyakarta is a student city, yet modern interactive learning is mostly found in international schools, or in big-city museums with 3D animation, such as in Jakarta.</a:t>
            </a:r>
          </a:p>
        </p:txBody>
      </p:sp>
      <p:sp>
        <p:nvSpPr>
          <p:cNvPr id="16" name="Oval 15"/>
          <p:cNvSpPr/>
          <p:nvPr/>
        </p:nvSpPr>
        <p:spPr>
          <a:xfrm>
            <a:off x="1097280" y="3840480"/>
            <a:ext cx="585216" cy="5852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000" b="1" i="0">
                <a:solidFill>
                  <a:srgbClr val="FFFFFF"/>
                </a:solidFill>
                <a:latin typeface="Roboto Condensed"/>
              </a:rPr>
              <a:t>2</a:t>
            </a:r>
          </a:p>
        </p:txBody>
      </p:sp>
      <p:sp>
        <p:nvSpPr>
          <p:cNvPr id="17" name="TextBox 16"/>
          <p:cNvSpPr txBox="1"/>
          <p:nvPr/>
        </p:nvSpPr>
        <p:spPr>
          <a:xfrm>
            <a:off x="1920240" y="3803904"/>
            <a:ext cx="6949440" cy="365760"/>
          </a:xfrm>
          <a:prstGeom prst="rect">
            <a:avLst/>
          </a:prstGeom>
          <a:noFill/>
        </p:spPr>
        <p:txBody>
          <a:bodyPr wrap="square" lIns="0" tIns="0" rIns="0" bIns="0" anchor="t">
            <a:noAutofit/>
          </a:bodyPr>
          <a:lstStyle/>
          <a:p>
            <a:pPr algn="l"/>
            <a:r>
              <a:rPr sz="1500" b="0" i="0">
                <a:solidFill>
                  <a:srgbClr val="7C3AED"/>
                </a:solidFill>
                <a:latin typeface="Roboto Condensed SemiBold"/>
              </a:rPr>
              <a:t>STAYS ON THE PAGE</a:t>
            </a:r>
          </a:p>
        </p:txBody>
      </p:sp>
      <p:sp>
        <p:nvSpPr>
          <p:cNvPr id="18" name="TextBox 17"/>
          <p:cNvSpPr txBox="1"/>
          <p:nvPr/>
        </p:nvSpPr>
        <p:spPr>
          <a:xfrm>
            <a:off x="1920240" y="4169664"/>
            <a:ext cx="7040880" cy="1097280"/>
          </a:xfrm>
          <a:prstGeom prst="rect">
            <a:avLst/>
          </a:prstGeom>
          <a:noFill/>
        </p:spPr>
        <p:txBody>
          <a:bodyPr wrap="square" lIns="0" tIns="0" rIns="0" bIns="0" anchor="t">
            <a:noAutofit/>
          </a:bodyPr>
          <a:lstStyle/>
          <a:p>
            <a:pPr algn="l">
              <a:lnSpc>
                <a:spcPct val="108000"/>
              </a:lnSpc>
            </a:pPr>
            <a:r>
              <a:rPr sz="2100" b="0" i="0">
                <a:solidFill>
                  <a:srgbClr val="172033"/>
                </a:solidFill>
                <a:latin typeface="Roboto Condensed"/>
              </a:rPr>
              <a:t>Learning about animals of the ocean, land, and air often stays in books and worksheets. When the coloring ends, the activity ends.</a:t>
            </a:r>
          </a:p>
        </p:txBody>
      </p:sp>
      <p:sp>
        <p:nvSpPr>
          <p:cNvPr id="19" name="Oval 18"/>
          <p:cNvSpPr/>
          <p:nvPr/>
        </p:nvSpPr>
        <p:spPr>
          <a:xfrm>
            <a:off x="1097280" y="5449824"/>
            <a:ext cx="585216" cy="58521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000" b="1" i="0">
                <a:solidFill>
                  <a:srgbClr val="FFFFFF"/>
                </a:solidFill>
                <a:latin typeface="Roboto Condensed"/>
              </a:rPr>
              <a:t>3</a:t>
            </a:r>
          </a:p>
        </p:txBody>
      </p:sp>
      <p:sp>
        <p:nvSpPr>
          <p:cNvPr id="20" name="TextBox 19"/>
          <p:cNvSpPr txBox="1"/>
          <p:nvPr/>
        </p:nvSpPr>
        <p:spPr>
          <a:xfrm>
            <a:off x="1920240" y="5413248"/>
            <a:ext cx="6949440" cy="365760"/>
          </a:xfrm>
          <a:prstGeom prst="rect">
            <a:avLst/>
          </a:prstGeom>
          <a:noFill/>
        </p:spPr>
        <p:txBody>
          <a:bodyPr wrap="square" lIns="0" tIns="0" rIns="0" bIns="0" anchor="t">
            <a:noAutofit/>
          </a:bodyPr>
          <a:lstStyle/>
          <a:p>
            <a:pPr algn="l"/>
            <a:r>
              <a:rPr sz="1500" b="0" i="0">
                <a:solidFill>
                  <a:srgbClr val="7C3AED"/>
                </a:solidFill>
                <a:latin typeface="Roboto Condensed SemiBold"/>
              </a:rPr>
              <a:t>PASSIVE SCREENS</a:t>
            </a:r>
          </a:p>
        </p:txBody>
      </p:sp>
      <p:sp>
        <p:nvSpPr>
          <p:cNvPr id="21" name="TextBox 20"/>
          <p:cNvSpPr txBox="1"/>
          <p:nvPr/>
        </p:nvSpPr>
        <p:spPr>
          <a:xfrm>
            <a:off x="1920240" y="5779008"/>
            <a:ext cx="7040880" cy="1097280"/>
          </a:xfrm>
          <a:prstGeom prst="rect">
            <a:avLst/>
          </a:prstGeom>
          <a:noFill/>
        </p:spPr>
        <p:txBody>
          <a:bodyPr wrap="square" lIns="0" tIns="0" rIns="0" bIns="0" anchor="t">
            <a:noAutofit/>
          </a:bodyPr>
          <a:lstStyle/>
          <a:p>
            <a:pPr algn="l">
              <a:lnSpc>
                <a:spcPct val="108000"/>
              </a:lnSpc>
            </a:pPr>
            <a:r>
              <a:rPr sz="2100" b="0" i="0">
                <a:solidFill>
                  <a:srgbClr val="172033"/>
                </a:solidFill>
                <a:latin typeface="Roboto Condensed"/>
              </a:rPr>
              <a:t>Digital entertainment gives children ready-made characters to watch, not to create.</a:t>
            </a:r>
          </a:p>
        </p:txBody>
      </p:sp>
      <p:sp>
        <p:nvSpPr>
          <p:cNvPr id="22" name="Rounded Rectangle 21"/>
          <p:cNvSpPr/>
          <p:nvPr/>
        </p:nvSpPr>
        <p:spPr>
          <a:xfrm>
            <a:off x="1097280" y="7168896"/>
            <a:ext cx="7955279" cy="1920240"/>
          </a:xfrm>
          <a:prstGeom prst="roundRect">
            <a:avLst>
              <a:gd name="adj" fmla="val 15238"/>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499616" y="7333488"/>
            <a:ext cx="7132320" cy="365760"/>
          </a:xfrm>
          <a:prstGeom prst="rect">
            <a:avLst/>
          </a:prstGeom>
          <a:noFill/>
        </p:spPr>
        <p:txBody>
          <a:bodyPr wrap="square" lIns="0" tIns="0" rIns="0" bIns="0" anchor="t">
            <a:noAutofit/>
          </a:bodyPr>
          <a:lstStyle/>
          <a:p>
            <a:pPr algn="l"/>
            <a:r>
              <a:rPr sz="1500" b="0" i="0">
                <a:solidFill>
                  <a:srgbClr val="EDE9FE"/>
                </a:solidFill>
                <a:latin typeface="Roboto Condensed SemiBold"/>
              </a:rPr>
              <a:t>THEREFORE</a:t>
            </a:r>
          </a:p>
        </p:txBody>
      </p:sp>
      <p:sp>
        <p:nvSpPr>
          <p:cNvPr id="24" name="TextBox 23"/>
          <p:cNvSpPr txBox="1"/>
          <p:nvPr/>
        </p:nvSpPr>
        <p:spPr>
          <a:xfrm>
            <a:off x="1499616" y="7699248"/>
            <a:ext cx="7223760" cy="1280160"/>
          </a:xfrm>
          <a:prstGeom prst="rect">
            <a:avLst/>
          </a:prstGeom>
          <a:noFill/>
        </p:spPr>
        <p:txBody>
          <a:bodyPr wrap="square" lIns="0" tIns="0" rIns="0" bIns="0" anchor="t">
            <a:noAutofit/>
          </a:bodyPr>
          <a:lstStyle/>
          <a:p>
            <a:pPr algn="l">
              <a:lnSpc>
                <a:spcPct val="100000"/>
              </a:lnSpc>
            </a:pPr>
            <a:r>
              <a:rPr sz="2500" b="1" i="0">
                <a:solidFill>
                  <a:srgbClr val="FFFFFF"/>
                </a:solidFill>
                <a:latin typeface="Roboto Condensed"/>
              </a:rPr>
              <a:t>Scanvas is an affordable interactive animation learning platform: children learn about animals through their own artwork.</a:t>
            </a:r>
          </a:p>
        </p:txBody>
      </p:sp>
      <p:pic>
        <p:nvPicPr>
          <p:cNvPr id="25" name="Picture 24" descr="A child coloring a Scanvas fish sheet in the pilot"/>
          <p:cNvPicPr>
            <a:picLocks noChangeAspect="1"/>
          </p:cNvPicPr>
          <p:nvPr/>
        </p:nvPicPr>
        <p:blipFill>
          <a:blip r:embed="rId3"/>
          <a:stretch>
            <a:fillRect/>
          </a:stretch>
        </p:blipFill>
        <p:spPr>
          <a:xfrm>
            <a:off x="9509760" y="2286000"/>
            <a:ext cx="7680960" cy="4320540"/>
          </a:xfrm>
          <a:prstGeom prst="rect">
            <a:avLst/>
          </a:prstGeom>
        </p:spPr>
      </p:pic>
      <p:pic>
        <p:nvPicPr>
          <p:cNvPr id="26" name="Picture 25" descr="Artwork colored by a child in the pilot"/>
          <p:cNvPicPr>
            <a:picLocks noChangeAspect="1"/>
          </p:cNvPicPr>
          <p:nvPr/>
        </p:nvPicPr>
        <p:blipFill>
          <a:blip r:embed="rId4"/>
          <a:stretch>
            <a:fillRect/>
          </a:stretch>
        </p:blipFill>
        <p:spPr>
          <a:xfrm>
            <a:off x="9509760" y="6766560"/>
            <a:ext cx="1755648" cy="1755648"/>
          </a:xfrm>
          <a:prstGeom prst="rect">
            <a:avLst/>
          </a:prstGeom>
        </p:spPr>
      </p:pic>
      <p:pic>
        <p:nvPicPr>
          <p:cNvPr id="27" name="Picture 26" descr="Artwork colored by a child in the pilot"/>
          <p:cNvPicPr>
            <a:picLocks noChangeAspect="1"/>
          </p:cNvPicPr>
          <p:nvPr/>
        </p:nvPicPr>
        <p:blipFill>
          <a:blip r:embed="rId5"/>
          <a:stretch>
            <a:fillRect/>
          </a:stretch>
        </p:blipFill>
        <p:spPr>
          <a:xfrm>
            <a:off x="11484864" y="6766560"/>
            <a:ext cx="1755648" cy="1755648"/>
          </a:xfrm>
          <a:prstGeom prst="rect">
            <a:avLst/>
          </a:prstGeom>
        </p:spPr>
      </p:pic>
      <p:pic>
        <p:nvPicPr>
          <p:cNvPr id="28" name="Picture 27" descr="Artwork colored by a child in the pilot"/>
          <p:cNvPicPr>
            <a:picLocks noChangeAspect="1"/>
          </p:cNvPicPr>
          <p:nvPr/>
        </p:nvPicPr>
        <p:blipFill>
          <a:blip r:embed="rId6"/>
          <a:stretch>
            <a:fillRect/>
          </a:stretch>
        </p:blipFill>
        <p:spPr>
          <a:xfrm>
            <a:off x="13459968" y="6766560"/>
            <a:ext cx="1755648" cy="1755648"/>
          </a:xfrm>
          <a:prstGeom prst="rect">
            <a:avLst/>
          </a:prstGeom>
        </p:spPr>
      </p:pic>
      <p:pic>
        <p:nvPicPr>
          <p:cNvPr id="29" name="Picture 28" descr="Artwork colored by a child in the pilot"/>
          <p:cNvPicPr>
            <a:picLocks noChangeAspect="1"/>
          </p:cNvPicPr>
          <p:nvPr/>
        </p:nvPicPr>
        <p:blipFill>
          <a:blip r:embed="rId7"/>
          <a:stretch>
            <a:fillRect/>
          </a:stretch>
        </p:blipFill>
        <p:spPr>
          <a:xfrm>
            <a:off x="15435072" y="6766560"/>
            <a:ext cx="1755648" cy="1755648"/>
          </a:xfrm>
          <a:prstGeom prst="rect">
            <a:avLst/>
          </a:prstGeom>
        </p:spPr>
      </p:pic>
      <p:sp>
        <p:nvSpPr>
          <p:cNvPr id="30" name="TextBox 29"/>
          <p:cNvSpPr txBox="1"/>
          <p:nvPr/>
        </p:nvSpPr>
        <p:spPr>
          <a:xfrm>
            <a:off x="9509760" y="8631936"/>
            <a:ext cx="7680960" cy="402336"/>
          </a:xfrm>
          <a:prstGeom prst="rect">
            <a:avLst/>
          </a:prstGeom>
          <a:noFill/>
        </p:spPr>
        <p:txBody>
          <a:bodyPr wrap="square" lIns="0" tIns="0" rIns="0" bIns="0" anchor="ctr">
            <a:noAutofit/>
          </a:bodyPr>
          <a:lstStyle/>
          <a:p>
            <a:pPr algn="l"/>
            <a:r>
              <a:rPr sz="1600" b="0" i="0">
                <a:solidFill>
                  <a:srgbClr val="7C3AED"/>
                </a:solidFill>
                <a:latin typeface="Roboto Condensed SemiBold"/>
              </a:rPr>
              <a:t>From our pilot at a TPA in D.I. Yogyakarta</a:t>
            </a:r>
          </a:p>
        </p:txBody>
      </p:sp>
      <p:sp>
        <p:nvSpPr>
          <p:cNvPr id="31" name="TextBox 30"/>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PROBLEM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822960"/>
            <a:ext cx="14630400" cy="914400"/>
          </a:xfrm>
          <a:prstGeom prst="rect">
            <a:avLst/>
          </a:prstGeom>
          <a:noFill/>
        </p:spPr>
        <p:txBody>
          <a:bodyPr wrap="square" lIns="0" tIns="0" rIns="0" bIns="0" anchor="t">
            <a:noAutofit/>
          </a:bodyPr>
          <a:lstStyle/>
          <a:p>
            <a:pPr algn="l">
              <a:lnSpc>
                <a:spcPct val="95000"/>
              </a:lnSpc>
            </a:pPr>
            <a:r>
              <a:rPr sz="5200" b="1" i="0">
                <a:solidFill>
                  <a:srgbClr val="172033"/>
                </a:solidFill>
                <a:latin typeface="Roboto Condensed"/>
              </a:rPr>
              <a:t>Their Artwork Becomes the Character</a:t>
            </a:r>
          </a:p>
        </p:txBody>
      </p:sp>
      <p:sp>
        <p:nvSpPr>
          <p:cNvPr id="13" name="Rounded Rectangle 12"/>
          <p:cNvSpPr/>
          <p:nvPr/>
        </p:nvSpPr>
        <p:spPr>
          <a:xfrm>
            <a:off x="1097280" y="2468880"/>
            <a:ext cx="3621024" cy="3749039"/>
          </a:xfrm>
          <a:prstGeom prst="roundRect">
            <a:avLst>
              <a:gd name="adj" fmla="val 808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COLOR step"/>
          <p:cNvPicPr>
            <a:picLocks noChangeAspect="1"/>
          </p:cNvPicPr>
          <p:nvPr/>
        </p:nvPicPr>
        <p:blipFill>
          <a:blip r:embed="rId3"/>
          <a:stretch>
            <a:fillRect/>
          </a:stretch>
        </p:blipFill>
        <p:spPr>
          <a:xfrm>
            <a:off x="1152144" y="2627653"/>
            <a:ext cx="3511296" cy="3431493"/>
          </a:xfrm>
          <a:prstGeom prst="rect">
            <a:avLst/>
          </a:prstGeom>
        </p:spPr>
      </p:pic>
      <p:sp>
        <p:nvSpPr>
          <p:cNvPr id="15" name="Oval 14"/>
          <p:cNvSpPr/>
          <p:nvPr/>
        </p:nvSpPr>
        <p:spPr>
          <a:xfrm>
            <a:off x="950976" y="2249424"/>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200" b="1" i="0">
                <a:solidFill>
                  <a:srgbClr val="FFFFFF"/>
                </a:solidFill>
                <a:latin typeface="Roboto Condensed"/>
              </a:rPr>
              <a:t>1</a:t>
            </a:r>
          </a:p>
        </p:txBody>
      </p:sp>
      <p:sp>
        <p:nvSpPr>
          <p:cNvPr id="16" name="TextBox 15"/>
          <p:cNvSpPr txBox="1"/>
          <p:nvPr/>
        </p:nvSpPr>
        <p:spPr>
          <a:xfrm>
            <a:off x="1097280" y="6473952"/>
            <a:ext cx="3621024" cy="548640"/>
          </a:xfrm>
          <a:prstGeom prst="rect">
            <a:avLst/>
          </a:prstGeom>
          <a:noFill/>
        </p:spPr>
        <p:txBody>
          <a:bodyPr wrap="square" lIns="0" tIns="0" rIns="0" bIns="0" anchor="t">
            <a:noAutofit/>
          </a:bodyPr>
          <a:lstStyle/>
          <a:p>
            <a:pPr algn="l"/>
            <a:r>
              <a:rPr sz="3000" b="1" i="0">
                <a:solidFill>
                  <a:srgbClr val="5B21B6"/>
                </a:solidFill>
                <a:latin typeface="Roboto Condensed"/>
              </a:rPr>
              <a:t>COLOR</a:t>
            </a:r>
          </a:p>
        </p:txBody>
      </p:sp>
      <p:sp>
        <p:nvSpPr>
          <p:cNvPr id="17" name="TextBox 16"/>
          <p:cNvSpPr txBox="1"/>
          <p:nvPr/>
        </p:nvSpPr>
        <p:spPr>
          <a:xfrm>
            <a:off x="1097280" y="7059168"/>
            <a:ext cx="3621024" cy="914400"/>
          </a:xfrm>
          <a:prstGeom prst="rect">
            <a:avLst/>
          </a:prstGeom>
          <a:noFill/>
        </p:spPr>
        <p:txBody>
          <a:bodyPr wrap="square" lIns="0" tIns="0" rIns="0" bIns="0" anchor="t">
            <a:noAutofit/>
          </a:bodyPr>
          <a:lstStyle/>
          <a:p>
            <a:pPr algn="l">
              <a:lnSpc>
                <a:spcPct val="108000"/>
              </a:lnSpc>
            </a:pPr>
            <a:r>
              <a:rPr sz="2100" b="0" i="0">
                <a:solidFill>
                  <a:srgbClr val="172033"/>
                </a:solidFill>
                <a:latin typeface="Roboto Condensed"/>
              </a:rPr>
              <a:t>Create on a printed Scanvas sheet.</a:t>
            </a:r>
          </a:p>
        </p:txBody>
      </p:sp>
      <p:sp>
        <p:nvSpPr>
          <p:cNvPr id="18" name="Chevron 17"/>
          <p:cNvSpPr/>
          <p:nvPr/>
        </p:nvSpPr>
        <p:spPr>
          <a:xfrm>
            <a:off x="4882896" y="4087368"/>
            <a:ext cx="219456" cy="51206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248656" y="2468880"/>
            <a:ext cx="3621024" cy="3749039"/>
          </a:xfrm>
          <a:prstGeom prst="roundRect">
            <a:avLst>
              <a:gd name="adj" fmla="val 808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SCAN step"/>
          <p:cNvPicPr>
            <a:picLocks noChangeAspect="1"/>
          </p:cNvPicPr>
          <p:nvPr/>
        </p:nvPicPr>
        <p:blipFill>
          <a:blip r:embed="rId4"/>
          <a:stretch>
            <a:fillRect/>
          </a:stretch>
        </p:blipFill>
        <p:spPr>
          <a:xfrm>
            <a:off x="6153107" y="2560320"/>
            <a:ext cx="1812120" cy="3566159"/>
          </a:xfrm>
          <a:prstGeom prst="rect">
            <a:avLst/>
          </a:prstGeom>
        </p:spPr>
      </p:pic>
      <p:sp>
        <p:nvSpPr>
          <p:cNvPr id="21" name="Oval 20"/>
          <p:cNvSpPr/>
          <p:nvPr/>
        </p:nvSpPr>
        <p:spPr>
          <a:xfrm>
            <a:off x="5102352" y="2249424"/>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200" b="1" i="0">
                <a:solidFill>
                  <a:srgbClr val="FFFFFF"/>
                </a:solidFill>
                <a:latin typeface="Roboto Condensed"/>
              </a:rPr>
              <a:t>2</a:t>
            </a:r>
          </a:p>
        </p:txBody>
      </p:sp>
      <p:sp>
        <p:nvSpPr>
          <p:cNvPr id="22" name="TextBox 21"/>
          <p:cNvSpPr txBox="1"/>
          <p:nvPr/>
        </p:nvSpPr>
        <p:spPr>
          <a:xfrm>
            <a:off x="5248656" y="6473952"/>
            <a:ext cx="3621024" cy="548640"/>
          </a:xfrm>
          <a:prstGeom prst="rect">
            <a:avLst/>
          </a:prstGeom>
          <a:noFill/>
        </p:spPr>
        <p:txBody>
          <a:bodyPr wrap="square" lIns="0" tIns="0" rIns="0" bIns="0" anchor="t">
            <a:noAutofit/>
          </a:bodyPr>
          <a:lstStyle/>
          <a:p>
            <a:pPr algn="l"/>
            <a:r>
              <a:rPr sz="3000" b="1" i="0">
                <a:solidFill>
                  <a:srgbClr val="5B21B6"/>
                </a:solidFill>
                <a:latin typeface="Roboto Condensed"/>
              </a:rPr>
              <a:t>SCAN</a:t>
            </a:r>
          </a:p>
        </p:txBody>
      </p:sp>
      <p:sp>
        <p:nvSpPr>
          <p:cNvPr id="23" name="TextBox 22"/>
          <p:cNvSpPr txBox="1"/>
          <p:nvPr/>
        </p:nvSpPr>
        <p:spPr>
          <a:xfrm>
            <a:off x="5248656" y="7059168"/>
            <a:ext cx="3621024" cy="914400"/>
          </a:xfrm>
          <a:prstGeom prst="rect">
            <a:avLst/>
          </a:prstGeom>
          <a:noFill/>
        </p:spPr>
        <p:txBody>
          <a:bodyPr wrap="square" lIns="0" tIns="0" rIns="0" bIns="0" anchor="t">
            <a:noAutofit/>
          </a:bodyPr>
          <a:lstStyle/>
          <a:p>
            <a:pPr algn="l">
              <a:lnSpc>
                <a:spcPct val="108000"/>
              </a:lnSpc>
            </a:pPr>
            <a:r>
              <a:rPr sz="2100" b="0" i="0">
                <a:solidFill>
                  <a:srgbClr val="172033"/>
                </a:solidFill>
                <a:latin typeface="Roboto Condensed"/>
              </a:rPr>
              <a:t>Photograph or upload the artwork in the browser.</a:t>
            </a:r>
          </a:p>
        </p:txBody>
      </p:sp>
      <p:sp>
        <p:nvSpPr>
          <p:cNvPr id="24" name="Chevron 23"/>
          <p:cNvSpPr/>
          <p:nvPr/>
        </p:nvSpPr>
        <p:spPr>
          <a:xfrm>
            <a:off x="9034272" y="4087368"/>
            <a:ext cx="219456" cy="51206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400032" y="2468880"/>
            <a:ext cx="3621024" cy="3749039"/>
          </a:xfrm>
          <a:prstGeom prst="roundRect">
            <a:avLst>
              <a:gd name="adj" fmla="val 808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COME ALIVE step"/>
          <p:cNvPicPr>
            <a:picLocks noChangeAspect="1"/>
          </p:cNvPicPr>
          <p:nvPr/>
        </p:nvPicPr>
        <p:blipFill>
          <a:blip r:embed="rId5"/>
          <a:stretch>
            <a:fillRect/>
          </a:stretch>
        </p:blipFill>
        <p:spPr>
          <a:xfrm>
            <a:off x="9454896" y="3342680"/>
            <a:ext cx="3511296" cy="2001438"/>
          </a:xfrm>
          <a:prstGeom prst="rect">
            <a:avLst/>
          </a:prstGeom>
        </p:spPr>
      </p:pic>
      <p:sp>
        <p:nvSpPr>
          <p:cNvPr id="27" name="Oval 26"/>
          <p:cNvSpPr/>
          <p:nvPr/>
        </p:nvSpPr>
        <p:spPr>
          <a:xfrm>
            <a:off x="9253728" y="2249424"/>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200" b="1" i="0">
                <a:solidFill>
                  <a:srgbClr val="FFFFFF"/>
                </a:solidFill>
                <a:latin typeface="Roboto Condensed"/>
              </a:rPr>
              <a:t>3</a:t>
            </a:r>
          </a:p>
        </p:txBody>
      </p:sp>
      <p:sp>
        <p:nvSpPr>
          <p:cNvPr id="28" name="TextBox 27"/>
          <p:cNvSpPr txBox="1"/>
          <p:nvPr/>
        </p:nvSpPr>
        <p:spPr>
          <a:xfrm>
            <a:off x="9400032" y="6473952"/>
            <a:ext cx="3621024" cy="548640"/>
          </a:xfrm>
          <a:prstGeom prst="rect">
            <a:avLst/>
          </a:prstGeom>
          <a:noFill/>
        </p:spPr>
        <p:txBody>
          <a:bodyPr wrap="square" lIns="0" tIns="0" rIns="0" bIns="0" anchor="t">
            <a:noAutofit/>
          </a:bodyPr>
          <a:lstStyle/>
          <a:p>
            <a:pPr algn="l"/>
            <a:r>
              <a:rPr sz="3000" b="1" i="0">
                <a:solidFill>
                  <a:srgbClr val="5B21B6"/>
                </a:solidFill>
                <a:latin typeface="Roboto Condensed"/>
              </a:rPr>
              <a:t>COME ALIVE</a:t>
            </a:r>
          </a:p>
        </p:txBody>
      </p:sp>
      <p:sp>
        <p:nvSpPr>
          <p:cNvPr id="29" name="TextBox 28"/>
          <p:cNvSpPr txBox="1"/>
          <p:nvPr/>
        </p:nvSpPr>
        <p:spPr>
          <a:xfrm>
            <a:off x="9400032" y="7059168"/>
            <a:ext cx="3621024" cy="914400"/>
          </a:xfrm>
          <a:prstGeom prst="rect">
            <a:avLst/>
          </a:prstGeom>
          <a:noFill/>
        </p:spPr>
        <p:txBody>
          <a:bodyPr wrap="square" lIns="0" tIns="0" rIns="0" bIns="0" anchor="t">
            <a:noAutofit/>
          </a:bodyPr>
          <a:lstStyle/>
          <a:p>
            <a:pPr algn="l">
              <a:lnSpc>
                <a:spcPct val="108000"/>
              </a:lnSpc>
            </a:pPr>
            <a:r>
              <a:rPr sz="2100" b="0" i="0">
                <a:solidFill>
                  <a:srgbClr val="172033"/>
                </a:solidFill>
                <a:latin typeface="Roboto Condensed"/>
              </a:rPr>
              <a:t>See the drawing move inside an interactive world.</a:t>
            </a:r>
          </a:p>
        </p:txBody>
      </p:sp>
      <p:sp>
        <p:nvSpPr>
          <p:cNvPr id="30" name="Chevron 29"/>
          <p:cNvSpPr/>
          <p:nvPr/>
        </p:nvSpPr>
        <p:spPr>
          <a:xfrm>
            <a:off x="13185647" y="4087368"/>
            <a:ext cx="219456" cy="51206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3551408" y="2468880"/>
            <a:ext cx="3621024" cy="3749039"/>
          </a:xfrm>
          <a:prstGeom prst="roundRect">
            <a:avLst>
              <a:gd name="adj" fmla="val 808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EXPLORE step"/>
          <p:cNvPicPr>
            <a:picLocks noChangeAspect="1"/>
          </p:cNvPicPr>
          <p:nvPr/>
        </p:nvPicPr>
        <p:blipFill>
          <a:blip r:embed="rId6"/>
          <a:stretch>
            <a:fillRect/>
          </a:stretch>
        </p:blipFill>
        <p:spPr>
          <a:xfrm>
            <a:off x="13606272" y="3266070"/>
            <a:ext cx="3511296" cy="2154658"/>
          </a:xfrm>
          <a:prstGeom prst="rect">
            <a:avLst/>
          </a:prstGeom>
        </p:spPr>
      </p:pic>
      <p:sp>
        <p:nvSpPr>
          <p:cNvPr id="33" name="Oval 32"/>
          <p:cNvSpPr/>
          <p:nvPr/>
        </p:nvSpPr>
        <p:spPr>
          <a:xfrm>
            <a:off x="13405104" y="2249424"/>
            <a:ext cx="658368" cy="65836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2200" b="1" i="0">
                <a:solidFill>
                  <a:srgbClr val="FFFFFF"/>
                </a:solidFill>
                <a:latin typeface="Roboto Condensed"/>
              </a:rPr>
              <a:t>4</a:t>
            </a:r>
          </a:p>
        </p:txBody>
      </p:sp>
      <p:sp>
        <p:nvSpPr>
          <p:cNvPr id="34" name="TextBox 33"/>
          <p:cNvSpPr txBox="1"/>
          <p:nvPr/>
        </p:nvSpPr>
        <p:spPr>
          <a:xfrm>
            <a:off x="13551408" y="6473952"/>
            <a:ext cx="3621024" cy="548640"/>
          </a:xfrm>
          <a:prstGeom prst="rect">
            <a:avLst/>
          </a:prstGeom>
          <a:noFill/>
        </p:spPr>
        <p:txBody>
          <a:bodyPr wrap="square" lIns="0" tIns="0" rIns="0" bIns="0" anchor="t">
            <a:noAutofit/>
          </a:bodyPr>
          <a:lstStyle/>
          <a:p>
            <a:pPr algn="l"/>
            <a:r>
              <a:rPr sz="3000" b="1" i="0">
                <a:solidFill>
                  <a:srgbClr val="5B21B6"/>
                </a:solidFill>
                <a:latin typeface="Roboto Condensed"/>
              </a:rPr>
              <a:t>EXPLORE</a:t>
            </a:r>
          </a:p>
        </p:txBody>
      </p:sp>
      <p:sp>
        <p:nvSpPr>
          <p:cNvPr id="35" name="TextBox 34"/>
          <p:cNvSpPr txBox="1"/>
          <p:nvPr/>
        </p:nvSpPr>
        <p:spPr>
          <a:xfrm>
            <a:off x="13551408" y="7059168"/>
            <a:ext cx="3621024" cy="914400"/>
          </a:xfrm>
          <a:prstGeom prst="rect">
            <a:avLst/>
          </a:prstGeom>
          <a:noFill/>
        </p:spPr>
        <p:txBody>
          <a:bodyPr wrap="square" lIns="0" tIns="0" rIns="0" bIns="0" anchor="t">
            <a:noAutofit/>
          </a:bodyPr>
          <a:lstStyle/>
          <a:p>
            <a:pPr algn="l">
              <a:lnSpc>
                <a:spcPct val="108000"/>
              </a:lnSpc>
            </a:pPr>
            <a:r>
              <a:rPr sz="2100" b="0" i="0">
                <a:solidFill>
                  <a:srgbClr val="172033"/>
                </a:solidFill>
                <a:latin typeface="Roboto Condensed"/>
              </a:rPr>
              <a:t>Discover sounds and facts connected to the character.</a:t>
            </a:r>
          </a:p>
        </p:txBody>
      </p:sp>
      <p:sp>
        <p:nvSpPr>
          <p:cNvPr id="36" name="Rounded Rectangle 35"/>
          <p:cNvSpPr/>
          <p:nvPr/>
        </p:nvSpPr>
        <p:spPr>
          <a:xfrm>
            <a:off x="1097280" y="8449056"/>
            <a:ext cx="16093440" cy="91440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554480" y="8449056"/>
            <a:ext cx="10789920" cy="914400"/>
          </a:xfrm>
          <a:prstGeom prst="rect">
            <a:avLst/>
          </a:prstGeom>
          <a:noFill/>
        </p:spPr>
        <p:txBody>
          <a:bodyPr wrap="square" lIns="0" tIns="0" rIns="0" bIns="0" anchor="ctr">
            <a:noAutofit/>
          </a:bodyPr>
          <a:lstStyle/>
          <a:p>
            <a:pPr algn="l"/>
            <a:r>
              <a:rPr sz="2500" b="1" i="0">
                <a:solidFill>
                  <a:srgbClr val="5B21B6"/>
                </a:solidFill>
                <a:latin typeface="Roboto Condensed"/>
              </a:rPr>
              <a:t>The child’s colors and artwork stay at the center of the experience.</a:t>
            </a:r>
          </a:p>
        </p:txBody>
      </p:sp>
      <p:sp>
        <p:nvSpPr>
          <p:cNvPr id="38" name="Rounded Rectangle 37"/>
          <p:cNvSpPr/>
          <p:nvPr/>
        </p:nvSpPr>
        <p:spPr>
          <a:xfrm>
            <a:off x="11737644" y="8650224"/>
            <a:ext cx="5178755" cy="512064"/>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618865" tIns="0" rIns="182880" bIns="0" rtlCol="0" anchor="ctr">
            <a:noAutofit/>
          </a:bodyPr>
          <a:lstStyle/>
          <a:p>
            <a:pPr algn="l"/>
            <a:r>
              <a:rPr sz="1700" b="0" i="0">
                <a:solidFill>
                  <a:srgbClr val="FFFFFF"/>
                </a:solidFill>
                <a:latin typeface="Roboto Condensed SemiBold"/>
              </a:rPr>
              <a:t>No app installation required</a:t>
            </a:r>
          </a:p>
        </p:txBody>
      </p:sp>
      <p:pic>
        <p:nvPicPr>
          <p:cNvPr id="39" name="Picture 38" descr="check_white.png"/>
          <p:cNvPicPr>
            <a:picLocks noChangeAspect="1"/>
          </p:cNvPicPr>
          <p:nvPr/>
        </p:nvPicPr>
        <p:blipFill>
          <a:blip r:embed="rId7"/>
          <a:stretch>
            <a:fillRect/>
          </a:stretch>
        </p:blipFill>
        <p:spPr>
          <a:xfrm>
            <a:off x="11957100" y="8747516"/>
            <a:ext cx="317479" cy="317479"/>
          </a:xfrm>
          <a:prstGeom prst="rect">
            <a:avLst/>
          </a:prstGeom>
        </p:spPr>
      </p:pic>
      <p:sp>
        <p:nvSpPr>
          <p:cNvPr id="40" name="TextBox 39"/>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SOLUTION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Rounded Rectangle 11"/>
          <p:cNvSpPr/>
          <p:nvPr/>
        </p:nvSpPr>
        <p:spPr>
          <a:xfrm>
            <a:off x="1097280" y="914400"/>
            <a:ext cx="4107891" cy="512064"/>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wrap="square" lIns="618865" tIns="0" rIns="182880" bIns="0" rtlCol="0" anchor="ctr">
            <a:noAutofit/>
          </a:bodyPr>
          <a:lstStyle/>
          <a:p>
            <a:pPr algn="l"/>
            <a:r>
              <a:rPr sz="1600" b="0" i="0">
                <a:solidFill>
                  <a:srgbClr val="15803D"/>
                </a:solidFill>
                <a:latin typeface="Roboto Condensed SemiBold"/>
              </a:rPr>
              <a:t>LIVE DEMO · 37 SECONDS</a:t>
            </a:r>
          </a:p>
        </p:txBody>
      </p:sp>
      <p:pic>
        <p:nvPicPr>
          <p:cNvPr id="13" name="Picture 12" descr="play_green.png"/>
          <p:cNvPicPr>
            <a:picLocks noChangeAspect="1"/>
          </p:cNvPicPr>
          <p:nvPr/>
        </p:nvPicPr>
        <p:blipFill>
          <a:blip r:embed="rId5"/>
          <a:stretch>
            <a:fillRect/>
          </a:stretch>
        </p:blipFill>
        <p:spPr>
          <a:xfrm>
            <a:off x="1316736" y="1011692"/>
            <a:ext cx="317479" cy="317479"/>
          </a:xfrm>
          <a:prstGeom prst="rect">
            <a:avLst/>
          </a:prstGeom>
        </p:spPr>
      </p:pic>
      <p:sp>
        <p:nvSpPr>
          <p:cNvPr id="14" name="TextBox 13"/>
          <p:cNvSpPr txBox="1"/>
          <p:nvPr/>
        </p:nvSpPr>
        <p:spPr>
          <a:xfrm>
            <a:off x="1097280" y="1645920"/>
            <a:ext cx="4754880" cy="1554480"/>
          </a:xfrm>
          <a:prstGeom prst="rect">
            <a:avLst/>
          </a:prstGeom>
          <a:noFill/>
        </p:spPr>
        <p:txBody>
          <a:bodyPr wrap="square" lIns="0" tIns="0" rIns="0" bIns="0" anchor="t">
            <a:noAutofit/>
          </a:bodyPr>
          <a:lstStyle/>
          <a:p>
            <a:pPr algn="l">
              <a:lnSpc>
                <a:spcPct val="95000"/>
              </a:lnSpc>
            </a:pPr>
            <a:r>
              <a:rPr sz="4800" b="1" i="0">
                <a:solidFill>
                  <a:srgbClr val="172033"/>
                </a:solidFill>
                <a:latin typeface="Roboto Condensed"/>
              </a:rPr>
              <a:t>See Scanvas</a:t>
            </a:r>
            <a:br/>
            <a:r>
              <a:rPr sz="4800" b="1" i="0">
                <a:solidFill>
                  <a:srgbClr val="172033"/>
                </a:solidFill>
                <a:latin typeface="Roboto Condensed"/>
              </a:rPr>
              <a:t>in Action</a:t>
            </a:r>
          </a:p>
        </p:txBody>
      </p:sp>
      <p:sp>
        <p:nvSpPr>
          <p:cNvPr id="15" name="TextBox 14"/>
          <p:cNvSpPr txBox="1"/>
          <p:nvPr/>
        </p:nvSpPr>
        <p:spPr>
          <a:xfrm>
            <a:off x="1097280" y="3328416"/>
            <a:ext cx="4663440" cy="2194560"/>
          </a:xfrm>
          <a:prstGeom prst="rect">
            <a:avLst/>
          </a:prstGeom>
          <a:noFill/>
        </p:spPr>
        <p:txBody>
          <a:bodyPr wrap="square" lIns="0" tIns="0" rIns="0" bIns="0" anchor="t">
            <a:noAutofit/>
          </a:bodyPr>
          <a:lstStyle/>
          <a:p>
            <a:pPr algn="l">
              <a:lnSpc>
                <a:spcPct val="110000"/>
              </a:lnSpc>
            </a:pPr>
            <a:r>
              <a:rPr sz="1900" b="0" i="0">
                <a:solidFill>
                  <a:srgbClr val="172033"/>
                </a:solidFill>
                <a:latin typeface="Roboto Condensed"/>
              </a:rPr>
              <a:t>Our free digital trial lets families experience Scanvas before buying a physical pack.</a:t>
            </a:r>
          </a:p>
          <a:p>
            <a:pPr algn="l">
              <a:lnSpc>
                <a:spcPct val="110000"/>
              </a:lnSpc>
            </a:pPr>
            <a:r>
              <a:rPr sz="1900" b="0" i="0">
                <a:solidFill>
                  <a:srgbClr val="172033"/>
                </a:solidFill>
                <a:latin typeface="Roboto Condensed"/>
              </a:rPr>
              <a:t>Choose a drawing, color it in the browser, and watch it come alive in the ocean.</a:t>
            </a:r>
          </a:p>
        </p:txBody>
      </p:sp>
      <p:sp>
        <p:nvSpPr>
          <p:cNvPr id="16" name="TextBox 15"/>
          <p:cNvSpPr txBox="1"/>
          <p:nvPr/>
        </p:nvSpPr>
        <p:spPr>
          <a:xfrm>
            <a:off x="1097280" y="5632704"/>
            <a:ext cx="4572000" cy="365760"/>
          </a:xfrm>
          <a:prstGeom prst="rect">
            <a:avLst/>
          </a:prstGeom>
          <a:noFill/>
        </p:spPr>
        <p:txBody>
          <a:bodyPr wrap="square" lIns="0" tIns="0" rIns="0" bIns="0" anchor="t">
            <a:noAutofit/>
          </a:bodyPr>
          <a:lstStyle/>
          <a:p>
            <a:pPr algn="l"/>
            <a:r>
              <a:rPr sz="1500" b="0" i="0">
                <a:solidFill>
                  <a:srgbClr val="7C3AED"/>
                </a:solidFill>
                <a:latin typeface="Roboto Condensed SemiBold"/>
              </a:rPr>
              <a:t>LIVE TODAY</a:t>
            </a:r>
          </a:p>
        </p:txBody>
      </p:sp>
      <p:pic>
        <p:nvPicPr>
          <p:cNvPr id="17" name="Picture 16" descr="check_purple.png"/>
          <p:cNvPicPr>
            <a:picLocks noChangeAspect="1"/>
          </p:cNvPicPr>
          <p:nvPr/>
        </p:nvPicPr>
        <p:blipFill>
          <a:blip r:embed="rId6"/>
          <a:stretch>
            <a:fillRect/>
          </a:stretch>
        </p:blipFill>
        <p:spPr>
          <a:xfrm>
            <a:off x="1097280" y="6163055"/>
            <a:ext cx="292608" cy="292608"/>
          </a:xfrm>
          <a:prstGeom prst="rect">
            <a:avLst/>
          </a:prstGeom>
        </p:spPr>
      </p:pic>
      <p:sp>
        <p:nvSpPr>
          <p:cNvPr id="18" name="TextBox 17"/>
          <p:cNvSpPr txBox="1"/>
          <p:nvPr/>
        </p:nvSpPr>
        <p:spPr>
          <a:xfrm>
            <a:off x="1536192" y="6071616"/>
            <a:ext cx="4389120" cy="475488"/>
          </a:xfrm>
          <a:prstGeom prst="rect">
            <a:avLst/>
          </a:prstGeom>
          <a:noFill/>
        </p:spPr>
        <p:txBody>
          <a:bodyPr wrap="square" lIns="0" tIns="0" rIns="0" bIns="0" anchor="ctr">
            <a:noAutofit/>
          </a:bodyPr>
          <a:lstStyle/>
          <a:p>
            <a:pPr algn="l"/>
            <a:r>
              <a:rPr sz="2000" b="0" i="0">
                <a:solidFill>
                  <a:srgbClr val="172033"/>
                </a:solidFill>
                <a:latin typeface="Roboto Condensed"/>
              </a:rPr>
              <a:t>Ocean and Vehicle worlds</a:t>
            </a:r>
          </a:p>
        </p:txBody>
      </p:sp>
      <p:pic>
        <p:nvPicPr>
          <p:cNvPr id="19" name="Picture 18" descr="check_purple.png"/>
          <p:cNvPicPr>
            <a:picLocks noChangeAspect="1"/>
          </p:cNvPicPr>
          <p:nvPr/>
        </p:nvPicPr>
        <p:blipFill>
          <a:blip r:embed="rId6"/>
          <a:stretch>
            <a:fillRect/>
          </a:stretch>
        </p:blipFill>
        <p:spPr>
          <a:xfrm>
            <a:off x="1097280" y="6711695"/>
            <a:ext cx="292608" cy="292608"/>
          </a:xfrm>
          <a:prstGeom prst="rect">
            <a:avLst/>
          </a:prstGeom>
        </p:spPr>
      </p:pic>
      <p:sp>
        <p:nvSpPr>
          <p:cNvPr id="20" name="TextBox 19"/>
          <p:cNvSpPr txBox="1"/>
          <p:nvPr/>
        </p:nvSpPr>
        <p:spPr>
          <a:xfrm>
            <a:off x="1536192" y="6620255"/>
            <a:ext cx="4389120" cy="475488"/>
          </a:xfrm>
          <a:prstGeom prst="rect">
            <a:avLst/>
          </a:prstGeom>
          <a:noFill/>
        </p:spPr>
        <p:txBody>
          <a:bodyPr wrap="square" lIns="0" tIns="0" rIns="0" bIns="0" anchor="ctr">
            <a:noAutofit/>
          </a:bodyPr>
          <a:lstStyle/>
          <a:p>
            <a:pPr algn="l"/>
            <a:r>
              <a:rPr sz="2000" b="0" i="0">
                <a:solidFill>
                  <a:srgbClr val="172033"/>
                </a:solidFill>
                <a:latin typeface="Roboto Condensed"/>
              </a:rPr>
              <a:t>Paper artwork scanning</a:t>
            </a:r>
          </a:p>
        </p:txBody>
      </p:sp>
      <p:pic>
        <p:nvPicPr>
          <p:cNvPr id="21" name="Picture 20" descr="check_purple.png"/>
          <p:cNvPicPr>
            <a:picLocks noChangeAspect="1"/>
          </p:cNvPicPr>
          <p:nvPr/>
        </p:nvPicPr>
        <p:blipFill>
          <a:blip r:embed="rId6"/>
          <a:stretch>
            <a:fillRect/>
          </a:stretch>
        </p:blipFill>
        <p:spPr>
          <a:xfrm>
            <a:off x="1097280" y="7260336"/>
            <a:ext cx="292608" cy="292608"/>
          </a:xfrm>
          <a:prstGeom prst="rect">
            <a:avLst/>
          </a:prstGeom>
        </p:spPr>
      </p:pic>
      <p:sp>
        <p:nvSpPr>
          <p:cNvPr id="22" name="TextBox 21"/>
          <p:cNvSpPr txBox="1"/>
          <p:nvPr/>
        </p:nvSpPr>
        <p:spPr>
          <a:xfrm>
            <a:off x="1536192" y="7168896"/>
            <a:ext cx="4389120" cy="475488"/>
          </a:xfrm>
          <a:prstGeom prst="rect">
            <a:avLst/>
          </a:prstGeom>
          <a:noFill/>
        </p:spPr>
        <p:txBody>
          <a:bodyPr wrap="square" lIns="0" tIns="0" rIns="0" bIns="0" anchor="ctr">
            <a:noAutofit/>
          </a:bodyPr>
          <a:lstStyle/>
          <a:p>
            <a:pPr algn="l"/>
            <a:r>
              <a:rPr sz="2000" b="0" i="0">
                <a:solidFill>
                  <a:srgbClr val="172033"/>
                </a:solidFill>
                <a:latin typeface="Roboto Condensed"/>
              </a:rPr>
              <a:t>Free digital coloring trial</a:t>
            </a:r>
          </a:p>
        </p:txBody>
      </p:sp>
      <p:pic>
        <p:nvPicPr>
          <p:cNvPr id="23" name="Picture 22" descr="check_purple.png"/>
          <p:cNvPicPr>
            <a:picLocks noChangeAspect="1"/>
          </p:cNvPicPr>
          <p:nvPr/>
        </p:nvPicPr>
        <p:blipFill>
          <a:blip r:embed="rId6"/>
          <a:stretch>
            <a:fillRect/>
          </a:stretch>
        </p:blipFill>
        <p:spPr>
          <a:xfrm>
            <a:off x="1097280" y="7808975"/>
            <a:ext cx="292608" cy="292608"/>
          </a:xfrm>
          <a:prstGeom prst="rect">
            <a:avLst/>
          </a:prstGeom>
        </p:spPr>
      </p:pic>
      <p:sp>
        <p:nvSpPr>
          <p:cNvPr id="24" name="TextBox 23"/>
          <p:cNvSpPr txBox="1"/>
          <p:nvPr/>
        </p:nvSpPr>
        <p:spPr>
          <a:xfrm>
            <a:off x="1536192" y="7717536"/>
            <a:ext cx="4389120" cy="475488"/>
          </a:xfrm>
          <a:prstGeom prst="rect">
            <a:avLst/>
          </a:prstGeom>
          <a:noFill/>
        </p:spPr>
        <p:txBody>
          <a:bodyPr wrap="square" lIns="0" tIns="0" rIns="0" bIns="0" anchor="ctr">
            <a:noAutofit/>
          </a:bodyPr>
          <a:lstStyle/>
          <a:p>
            <a:pPr algn="l"/>
            <a:r>
              <a:rPr sz="2000" b="0" i="0">
                <a:solidFill>
                  <a:srgbClr val="172033"/>
                </a:solidFill>
                <a:latin typeface="Roboto Condensed"/>
              </a:rPr>
              <a:t>Character sounds and facts</a:t>
            </a:r>
          </a:p>
        </p:txBody>
      </p:sp>
      <p:sp>
        <p:nvSpPr>
          <p:cNvPr id="25" name="Rounded Rectangle 24"/>
          <p:cNvSpPr/>
          <p:nvPr/>
        </p:nvSpPr>
        <p:spPr>
          <a:xfrm>
            <a:off x="5943600" y="1005839"/>
            <a:ext cx="11338559" cy="6457950"/>
          </a:xfrm>
          <a:prstGeom prst="roundRect">
            <a:avLst>
              <a:gd name="adj" fmla="val 1699"/>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Scanvas digital trial dem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6035040" y="1097280"/>
            <a:ext cx="11155680" cy="6275070"/>
          </a:xfrm>
          <a:prstGeom prst="rect">
            <a:avLst/>
          </a:prstGeom>
        </p:spPr>
      </p:pic>
      <p:sp>
        <p:nvSpPr>
          <p:cNvPr id="27" name="TextBox 26"/>
          <p:cNvSpPr txBox="1"/>
          <p:nvPr/>
        </p:nvSpPr>
        <p:spPr>
          <a:xfrm>
            <a:off x="6035040" y="7628381"/>
            <a:ext cx="11155680" cy="402336"/>
          </a:xfrm>
          <a:prstGeom prst="rect">
            <a:avLst/>
          </a:prstGeom>
          <a:noFill/>
        </p:spPr>
        <p:txBody>
          <a:bodyPr wrap="square" lIns="0" tIns="0" rIns="0" bIns="0" anchor="ctr">
            <a:noAutofit/>
          </a:bodyPr>
          <a:lstStyle/>
          <a:p>
            <a:pPr algn="ctr"/>
            <a:r>
              <a:rPr sz="1700" b="0" i="0">
                <a:solidFill>
                  <a:srgbClr val="172033"/>
                </a:solidFill>
                <a:latin typeface="Roboto Condensed"/>
              </a:rPr>
              <a:t>Recorded on the live product. Click the video to play.</a:t>
            </a:r>
          </a:p>
        </p:txBody>
      </p:sp>
      <p:sp>
        <p:nvSpPr>
          <p:cNvPr id="28" name="TextBox 27"/>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PRODUCT OR SERVICE · LIVE DEMO</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26"/>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822960"/>
            <a:ext cx="14630400" cy="914400"/>
          </a:xfrm>
          <a:prstGeom prst="rect">
            <a:avLst/>
          </a:prstGeom>
          <a:noFill/>
        </p:spPr>
        <p:txBody>
          <a:bodyPr wrap="square" lIns="0" tIns="0" rIns="0" bIns="0" anchor="t">
            <a:noAutofit/>
          </a:bodyPr>
          <a:lstStyle/>
          <a:p>
            <a:pPr algn="l">
              <a:lnSpc>
                <a:spcPct val="95000"/>
              </a:lnSpc>
            </a:pPr>
            <a:r>
              <a:rPr sz="5200" b="1" i="0">
                <a:solidFill>
                  <a:srgbClr val="172033"/>
                </a:solidFill>
                <a:latin typeface="Roboto Condensed"/>
              </a:rPr>
              <a:t>Our First Pilot Shaped the Product</a:t>
            </a:r>
          </a:p>
        </p:txBody>
      </p:sp>
      <p:sp>
        <p:nvSpPr>
          <p:cNvPr id="13" name="Rounded Rectangle 12"/>
          <p:cNvSpPr/>
          <p:nvPr/>
        </p:nvSpPr>
        <p:spPr>
          <a:xfrm>
            <a:off x="1097280" y="2194560"/>
            <a:ext cx="2621280" cy="2048256"/>
          </a:xfrm>
          <a:prstGeom prst="roundRect">
            <a:avLst>
              <a:gd name="adj" fmla="val 1250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2267712"/>
            <a:ext cx="2621280" cy="914400"/>
          </a:xfrm>
          <a:prstGeom prst="rect">
            <a:avLst/>
          </a:prstGeom>
          <a:noFill/>
        </p:spPr>
        <p:txBody>
          <a:bodyPr wrap="square" lIns="0" tIns="0" rIns="0" bIns="0" anchor="ctr">
            <a:noAutofit/>
          </a:bodyPr>
          <a:lstStyle/>
          <a:p>
            <a:pPr algn="ctr"/>
            <a:r>
              <a:rPr sz="5600" b="1" i="0">
                <a:solidFill>
                  <a:srgbClr val="5B21B6"/>
                </a:solidFill>
                <a:latin typeface="Roboto Condensed"/>
              </a:rPr>
              <a:t>30</a:t>
            </a:r>
          </a:p>
        </p:txBody>
      </p:sp>
      <p:sp>
        <p:nvSpPr>
          <p:cNvPr id="15" name="TextBox 14"/>
          <p:cNvSpPr txBox="1"/>
          <p:nvPr/>
        </p:nvSpPr>
        <p:spPr>
          <a:xfrm>
            <a:off x="1243584" y="3182112"/>
            <a:ext cx="2328672" cy="987552"/>
          </a:xfrm>
          <a:prstGeom prst="rect">
            <a:avLst/>
          </a:prstGeom>
          <a:noFill/>
        </p:spPr>
        <p:txBody>
          <a:bodyPr wrap="square" lIns="0" tIns="0" rIns="0" bIns="0" anchor="t">
            <a:noAutofit/>
          </a:bodyPr>
          <a:lstStyle/>
          <a:p>
            <a:pPr algn="ctr">
              <a:lnSpc>
                <a:spcPct val="100000"/>
              </a:lnSpc>
            </a:pPr>
            <a:r>
              <a:rPr sz="1600" b="0" i="0">
                <a:solidFill>
                  <a:srgbClr val="172033"/>
                </a:solidFill>
                <a:latin typeface="Roboto Condensed SemiBold"/>
              </a:rPr>
              <a:t>children · one real-world TPA pilot in D.I. Yogyakarta</a:t>
            </a:r>
          </a:p>
        </p:txBody>
      </p:sp>
      <p:sp>
        <p:nvSpPr>
          <p:cNvPr id="16" name="Rounded Rectangle 15"/>
          <p:cNvSpPr/>
          <p:nvPr/>
        </p:nvSpPr>
        <p:spPr>
          <a:xfrm>
            <a:off x="3901440" y="2194560"/>
            <a:ext cx="2621280" cy="2048256"/>
          </a:xfrm>
          <a:prstGeom prst="roundRect">
            <a:avLst>
              <a:gd name="adj" fmla="val 1250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901440" y="2267712"/>
            <a:ext cx="2621280" cy="914400"/>
          </a:xfrm>
          <a:prstGeom prst="rect">
            <a:avLst/>
          </a:prstGeom>
          <a:noFill/>
        </p:spPr>
        <p:txBody>
          <a:bodyPr wrap="square" lIns="0" tIns="0" rIns="0" bIns="0" anchor="ctr">
            <a:noAutofit/>
          </a:bodyPr>
          <a:lstStyle/>
          <a:p>
            <a:pPr algn="ctr"/>
            <a:r>
              <a:rPr sz="5600" b="1" i="0">
                <a:solidFill>
                  <a:srgbClr val="5B21B6"/>
                </a:solidFill>
                <a:latin typeface="Roboto Condensed"/>
              </a:rPr>
              <a:t>2</a:t>
            </a:r>
          </a:p>
        </p:txBody>
      </p:sp>
      <p:sp>
        <p:nvSpPr>
          <p:cNvPr id="18" name="TextBox 17"/>
          <p:cNvSpPr txBox="1"/>
          <p:nvPr/>
        </p:nvSpPr>
        <p:spPr>
          <a:xfrm>
            <a:off x="4047744" y="3182112"/>
            <a:ext cx="2328672" cy="987552"/>
          </a:xfrm>
          <a:prstGeom prst="rect">
            <a:avLst/>
          </a:prstGeom>
          <a:noFill/>
        </p:spPr>
        <p:txBody>
          <a:bodyPr wrap="square" lIns="0" tIns="0" rIns="0" bIns="0" anchor="t">
            <a:noAutofit/>
          </a:bodyPr>
          <a:lstStyle/>
          <a:p>
            <a:pPr algn="ctr">
              <a:lnSpc>
                <a:spcPct val="100000"/>
              </a:lnSpc>
            </a:pPr>
            <a:r>
              <a:rPr sz="1600" b="0" i="0">
                <a:solidFill>
                  <a:srgbClr val="172033"/>
                </a:solidFill>
                <a:latin typeface="Roboto Condensed SemiBold"/>
              </a:rPr>
              <a:t>interactive worlds live</a:t>
            </a:r>
          </a:p>
        </p:txBody>
      </p:sp>
      <p:sp>
        <p:nvSpPr>
          <p:cNvPr id="19" name="Rounded Rectangle 18"/>
          <p:cNvSpPr/>
          <p:nvPr/>
        </p:nvSpPr>
        <p:spPr>
          <a:xfrm>
            <a:off x="6705600" y="2194560"/>
            <a:ext cx="2621280" cy="2048256"/>
          </a:xfrm>
          <a:prstGeom prst="roundRect">
            <a:avLst>
              <a:gd name="adj" fmla="val 1250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05600" y="2267712"/>
            <a:ext cx="2621280" cy="914400"/>
          </a:xfrm>
          <a:prstGeom prst="rect">
            <a:avLst/>
          </a:prstGeom>
          <a:noFill/>
        </p:spPr>
        <p:txBody>
          <a:bodyPr wrap="square" lIns="0" tIns="0" rIns="0" bIns="0" anchor="ctr">
            <a:noAutofit/>
          </a:bodyPr>
          <a:lstStyle/>
          <a:p>
            <a:pPr algn="ctr"/>
            <a:r>
              <a:rPr sz="5600" b="1" i="0">
                <a:solidFill>
                  <a:srgbClr val="5B21B6"/>
                </a:solidFill>
                <a:latin typeface="Roboto Condensed"/>
              </a:rPr>
              <a:t>5</a:t>
            </a:r>
          </a:p>
        </p:txBody>
      </p:sp>
      <p:sp>
        <p:nvSpPr>
          <p:cNvPr id="21" name="TextBox 20"/>
          <p:cNvSpPr txBox="1"/>
          <p:nvPr/>
        </p:nvSpPr>
        <p:spPr>
          <a:xfrm>
            <a:off x="6851904" y="3182112"/>
            <a:ext cx="2328672" cy="987552"/>
          </a:xfrm>
          <a:prstGeom prst="rect">
            <a:avLst/>
          </a:prstGeom>
          <a:noFill/>
        </p:spPr>
        <p:txBody>
          <a:bodyPr wrap="square" lIns="0" tIns="0" rIns="0" bIns="0" anchor="t">
            <a:noAutofit/>
          </a:bodyPr>
          <a:lstStyle/>
          <a:p>
            <a:pPr algn="ctr">
              <a:lnSpc>
                <a:spcPct val="100000"/>
              </a:lnSpc>
            </a:pPr>
            <a:r>
              <a:rPr sz="1600" b="0" i="0">
                <a:solidFill>
                  <a:srgbClr val="172033"/>
                </a:solidFill>
                <a:latin typeface="Roboto Condensed SemiBold"/>
              </a:rPr>
              <a:t>product priorities identified from feedback</a:t>
            </a:r>
          </a:p>
        </p:txBody>
      </p:sp>
      <p:sp>
        <p:nvSpPr>
          <p:cNvPr id="22" name="Rounded Rectangle 21"/>
          <p:cNvSpPr/>
          <p:nvPr/>
        </p:nvSpPr>
        <p:spPr>
          <a:xfrm>
            <a:off x="1097280" y="4480560"/>
            <a:ext cx="8229600" cy="2560320"/>
          </a:xfrm>
          <a:prstGeom prst="roundRect">
            <a:avLst>
              <a:gd name="adj" fmla="val 1000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426464" y="4718304"/>
            <a:ext cx="1565148" cy="475488"/>
          </a:xfrm>
          <a:prstGeom prst="roundRect">
            <a:avLst>
              <a:gd name="adj" fmla="val 50000"/>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15803D"/>
                </a:solidFill>
                <a:latin typeface="Roboto Condensed SemiBold"/>
              </a:rPr>
              <a:t>SHIPPED</a:t>
            </a:r>
          </a:p>
        </p:txBody>
      </p:sp>
      <p:pic>
        <p:nvPicPr>
          <p:cNvPr id="24" name="Picture 23" descr="check_green.png"/>
          <p:cNvPicPr>
            <a:picLocks noChangeAspect="1"/>
          </p:cNvPicPr>
          <p:nvPr/>
        </p:nvPicPr>
        <p:blipFill>
          <a:blip r:embed="rId3"/>
          <a:stretch>
            <a:fillRect/>
          </a:stretch>
        </p:blipFill>
        <p:spPr>
          <a:xfrm>
            <a:off x="1426464" y="5504688"/>
            <a:ext cx="274320" cy="274320"/>
          </a:xfrm>
          <a:prstGeom prst="rect">
            <a:avLst/>
          </a:prstGeom>
        </p:spPr>
      </p:pic>
      <p:sp>
        <p:nvSpPr>
          <p:cNvPr id="25" name="TextBox 24"/>
          <p:cNvSpPr txBox="1"/>
          <p:nvPr/>
        </p:nvSpPr>
        <p:spPr>
          <a:xfrm>
            <a:off x="1828800" y="5413248"/>
            <a:ext cx="3566160" cy="475488"/>
          </a:xfrm>
          <a:prstGeom prst="rect">
            <a:avLst/>
          </a:prstGeom>
          <a:noFill/>
        </p:spPr>
        <p:txBody>
          <a:bodyPr wrap="square" lIns="0" tIns="0" rIns="0" bIns="0" anchor="ctr">
            <a:noAutofit/>
          </a:bodyPr>
          <a:lstStyle/>
          <a:p>
            <a:pPr algn="l"/>
            <a:r>
              <a:rPr sz="1900" b="0" i="0">
                <a:solidFill>
                  <a:srgbClr val="172033"/>
                </a:solidFill>
                <a:latin typeface="Roboto Condensed"/>
              </a:rPr>
              <a:t>Larger interactive world</a:t>
            </a:r>
          </a:p>
        </p:txBody>
      </p:sp>
      <p:pic>
        <p:nvPicPr>
          <p:cNvPr id="26" name="Picture 25" descr="check_green.png"/>
          <p:cNvPicPr>
            <a:picLocks noChangeAspect="1"/>
          </p:cNvPicPr>
          <p:nvPr/>
        </p:nvPicPr>
        <p:blipFill>
          <a:blip r:embed="rId3"/>
          <a:stretch>
            <a:fillRect/>
          </a:stretch>
        </p:blipFill>
        <p:spPr>
          <a:xfrm>
            <a:off x="1426464" y="6016752"/>
            <a:ext cx="274320" cy="274320"/>
          </a:xfrm>
          <a:prstGeom prst="rect">
            <a:avLst/>
          </a:prstGeom>
        </p:spPr>
      </p:pic>
      <p:sp>
        <p:nvSpPr>
          <p:cNvPr id="27" name="TextBox 26"/>
          <p:cNvSpPr txBox="1"/>
          <p:nvPr/>
        </p:nvSpPr>
        <p:spPr>
          <a:xfrm>
            <a:off x="1828800" y="5925312"/>
            <a:ext cx="3566160" cy="475488"/>
          </a:xfrm>
          <a:prstGeom prst="rect">
            <a:avLst/>
          </a:prstGeom>
          <a:noFill/>
        </p:spPr>
        <p:txBody>
          <a:bodyPr wrap="square" lIns="0" tIns="0" rIns="0" bIns="0" anchor="ctr">
            <a:noAutofit/>
          </a:bodyPr>
          <a:lstStyle/>
          <a:p>
            <a:pPr algn="l"/>
            <a:r>
              <a:rPr sz="1900" b="0" i="0">
                <a:solidFill>
                  <a:srgbClr val="172033"/>
                </a:solidFill>
                <a:latin typeface="Roboto Condensed"/>
              </a:rPr>
              <a:t>Digital trial before purchase</a:t>
            </a:r>
          </a:p>
        </p:txBody>
      </p:sp>
      <p:sp>
        <p:nvSpPr>
          <p:cNvPr id="28" name="Rounded Rectangle 27"/>
          <p:cNvSpPr/>
          <p:nvPr/>
        </p:nvSpPr>
        <p:spPr>
          <a:xfrm>
            <a:off x="5449824" y="4718304"/>
            <a:ext cx="2471928" cy="47548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5B21B6"/>
                </a:solidFill>
                <a:latin typeface="Roboto Condensed SemiBold"/>
              </a:rPr>
              <a:t>IN DEVELOPMENT</a:t>
            </a:r>
          </a:p>
        </p:txBody>
      </p:sp>
      <p:pic>
        <p:nvPicPr>
          <p:cNvPr id="29" name="Picture 28" descr="arrow-right_purple.png"/>
          <p:cNvPicPr>
            <a:picLocks noChangeAspect="1"/>
          </p:cNvPicPr>
          <p:nvPr/>
        </p:nvPicPr>
        <p:blipFill>
          <a:blip r:embed="rId4"/>
          <a:stretch>
            <a:fillRect/>
          </a:stretch>
        </p:blipFill>
        <p:spPr>
          <a:xfrm>
            <a:off x="5449824" y="5504688"/>
            <a:ext cx="274320" cy="274320"/>
          </a:xfrm>
          <a:prstGeom prst="rect">
            <a:avLst/>
          </a:prstGeom>
        </p:spPr>
      </p:pic>
      <p:sp>
        <p:nvSpPr>
          <p:cNvPr id="30" name="TextBox 29"/>
          <p:cNvSpPr txBox="1"/>
          <p:nvPr/>
        </p:nvSpPr>
        <p:spPr>
          <a:xfrm>
            <a:off x="5852160" y="5413248"/>
            <a:ext cx="3566160" cy="475488"/>
          </a:xfrm>
          <a:prstGeom prst="rect">
            <a:avLst/>
          </a:prstGeom>
          <a:noFill/>
        </p:spPr>
        <p:txBody>
          <a:bodyPr wrap="square" lIns="0" tIns="0" rIns="0" bIns="0" anchor="ctr">
            <a:noAutofit/>
          </a:bodyPr>
          <a:lstStyle/>
          <a:p>
            <a:pPr algn="l"/>
            <a:r>
              <a:rPr sz="1900" b="0" i="0">
                <a:solidFill>
                  <a:srgbClr val="172033"/>
                </a:solidFill>
                <a:latin typeface="Roboto Condensed"/>
              </a:rPr>
              <a:t>Bulk drawing processing</a:t>
            </a:r>
          </a:p>
        </p:txBody>
      </p:sp>
      <p:pic>
        <p:nvPicPr>
          <p:cNvPr id="31" name="Picture 30" descr="arrow-right_purple.png"/>
          <p:cNvPicPr>
            <a:picLocks noChangeAspect="1"/>
          </p:cNvPicPr>
          <p:nvPr/>
        </p:nvPicPr>
        <p:blipFill>
          <a:blip r:embed="rId4"/>
          <a:stretch>
            <a:fillRect/>
          </a:stretch>
        </p:blipFill>
        <p:spPr>
          <a:xfrm>
            <a:off x="5449824" y="6016752"/>
            <a:ext cx="274320" cy="274320"/>
          </a:xfrm>
          <a:prstGeom prst="rect">
            <a:avLst/>
          </a:prstGeom>
        </p:spPr>
      </p:pic>
      <p:sp>
        <p:nvSpPr>
          <p:cNvPr id="32" name="TextBox 31"/>
          <p:cNvSpPr txBox="1"/>
          <p:nvPr/>
        </p:nvSpPr>
        <p:spPr>
          <a:xfrm>
            <a:off x="5852160" y="5925312"/>
            <a:ext cx="3566160" cy="475488"/>
          </a:xfrm>
          <a:prstGeom prst="rect">
            <a:avLst/>
          </a:prstGeom>
          <a:noFill/>
        </p:spPr>
        <p:txBody>
          <a:bodyPr wrap="square" lIns="0" tIns="0" rIns="0" bIns="0" anchor="ctr">
            <a:noAutofit/>
          </a:bodyPr>
          <a:lstStyle/>
          <a:p>
            <a:pPr algn="l"/>
            <a:r>
              <a:rPr sz="1900" b="0" i="0">
                <a:solidFill>
                  <a:srgbClr val="172033"/>
                </a:solidFill>
                <a:latin typeface="Roboto Condensed"/>
              </a:rPr>
              <a:t>Story and learning space</a:t>
            </a:r>
          </a:p>
        </p:txBody>
      </p:sp>
      <p:pic>
        <p:nvPicPr>
          <p:cNvPr id="33" name="Picture 32" descr="arrow-right_purple.png"/>
          <p:cNvPicPr>
            <a:picLocks noChangeAspect="1"/>
          </p:cNvPicPr>
          <p:nvPr/>
        </p:nvPicPr>
        <p:blipFill>
          <a:blip r:embed="rId4"/>
          <a:stretch>
            <a:fillRect/>
          </a:stretch>
        </p:blipFill>
        <p:spPr>
          <a:xfrm>
            <a:off x="5449824" y="6528816"/>
            <a:ext cx="274320" cy="274320"/>
          </a:xfrm>
          <a:prstGeom prst="rect">
            <a:avLst/>
          </a:prstGeom>
        </p:spPr>
      </p:pic>
      <p:sp>
        <p:nvSpPr>
          <p:cNvPr id="34" name="TextBox 33"/>
          <p:cNvSpPr txBox="1"/>
          <p:nvPr/>
        </p:nvSpPr>
        <p:spPr>
          <a:xfrm>
            <a:off x="5852160" y="6437376"/>
            <a:ext cx="3566160" cy="475488"/>
          </a:xfrm>
          <a:prstGeom prst="rect">
            <a:avLst/>
          </a:prstGeom>
          <a:noFill/>
        </p:spPr>
        <p:txBody>
          <a:bodyPr wrap="square" lIns="0" tIns="0" rIns="0" bIns="0" anchor="ctr">
            <a:noAutofit/>
          </a:bodyPr>
          <a:lstStyle/>
          <a:p>
            <a:pPr algn="l"/>
            <a:r>
              <a:rPr sz="1900" b="0" i="0">
                <a:solidFill>
                  <a:srgbClr val="172033"/>
                </a:solidFill>
                <a:latin typeface="Roboto Condensed"/>
              </a:rPr>
              <a:t>Additional worlds</a:t>
            </a:r>
          </a:p>
        </p:txBody>
      </p:sp>
      <p:sp>
        <p:nvSpPr>
          <p:cNvPr id="35" name="Rounded Rectangle 34"/>
          <p:cNvSpPr/>
          <p:nvPr/>
        </p:nvSpPr>
        <p:spPr>
          <a:xfrm>
            <a:off x="1097280" y="7278624"/>
            <a:ext cx="4023360" cy="1645920"/>
          </a:xfrm>
          <a:prstGeom prst="roundRect">
            <a:avLst>
              <a:gd name="adj" fmla="val 13333"/>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353312" y="7388352"/>
            <a:ext cx="3566160" cy="365760"/>
          </a:xfrm>
          <a:prstGeom prst="rect">
            <a:avLst/>
          </a:prstGeom>
          <a:noFill/>
        </p:spPr>
        <p:txBody>
          <a:bodyPr wrap="square" lIns="0" tIns="0" rIns="0" bIns="0" anchor="t">
            <a:noAutofit/>
          </a:bodyPr>
          <a:lstStyle/>
          <a:p>
            <a:pPr algn="l"/>
            <a:r>
              <a:rPr sz="1400" b="0" i="0">
                <a:solidFill>
                  <a:srgbClr val="7C3AED"/>
                </a:solidFill>
                <a:latin typeface="Roboto Condensed SemiBold"/>
              </a:rPr>
              <a:t>WHAT WE HAVE DEMONSTRATED</a:t>
            </a:r>
          </a:p>
        </p:txBody>
      </p:sp>
      <p:sp>
        <p:nvSpPr>
          <p:cNvPr id="37" name="TextBox 36"/>
          <p:cNvSpPr txBox="1"/>
          <p:nvPr/>
        </p:nvSpPr>
        <p:spPr>
          <a:xfrm>
            <a:off x="1353312" y="7790688"/>
            <a:ext cx="3566160" cy="1097280"/>
          </a:xfrm>
          <a:prstGeom prst="rect">
            <a:avLst/>
          </a:prstGeom>
          <a:noFill/>
        </p:spPr>
        <p:txBody>
          <a:bodyPr wrap="square" lIns="0" tIns="0" rIns="0" bIns="0" anchor="t">
            <a:noAutofit/>
          </a:bodyPr>
          <a:lstStyle/>
          <a:p>
            <a:pPr algn="l">
              <a:lnSpc>
                <a:spcPct val="105000"/>
              </a:lnSpc>
            </a:pPr>
            <a:r>
              <a:rPr sz="1800" b="0" i="0">
                <a:solidFill>
                  <a:srgbClr val="172033"/>
                </a:solidFill>
                <a:latin typeface="Roboto Condensed"/>
              </a:rPr>
              <a:t>We ran the experience with children and used feedback to guide development.</a:t>
            </a:r>
          </a:p>
        </p:txBody>
      </p:sp>
      <p:sp>
        <p:nvSpPr>
          <p:cNvPr id="38" name="Rounded Rectangle 37"/>
          <p:cNvSpPr/>
          <p:nvPr/>
        </p:nvSpPr>
        <p:spPr>
          <a:xfrm>
            <a:off x="5303520" y="7278624"/>
            <a:ext cx="4023360" cy="1645920"/>
          </a:xfrm>
          <a:prstGeom prst="roundRect">
            <a:avLst>
              <a:gd name="adj" fmla="val 13333"/>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559552" y="7388352"/>
            <a:ext cx="3566160" cy="365760"/>
          </a:xfrm>
          <a:prstGeom prst="rect">
            <a:avLst/>
          </a:prstGeom>
          <a:noFill/>
        </p:spPr>
        <p:txBody>
          <a:bodyPr wrap="square" lIns="0" tIns="0" rIns="0" bIns="0" anchor="t">
            <a:noAutofit/>
          </a:bodyPr>
          <a:lstStyle/>
          <a:p>
            <a:pPr algn="l"/>
            <a:r>
              <a:rPr sz="1400" b="0" i="0">
                <a:solidFill>
                  <a:srgbClr val="92400E"/>
                </a:solidFill>
                <a:latin typeface="Roboto Condensed SemiBold"/>
              </a:rPr>
              <a:t>WHAT WE NEED TO VALIDATE NEXT</a:t>
            </a:r>
          </a:p>
        </p:txBody>
      </p:sp>
      <p:sp>
        <p:nvSpPr>
          <p:cNvPr id="40" name="TextBox 39"/>
          <p:cNvSpPr txBox="1"/>
          <p:nvPr/>
        </p:nvSpPr>
        <p:spPr>
          <a:xfrm>
            <a:off x="5559552" y="7790688"/>
            <a:ext cx="3566160" cy="1097280"/>
          </a:xfrm>
          <a:prstGeom prst="rect">
            <a:avLst/>
          </a:prstGeom>
          <a:noFill/>
        </p:spPr>
        <p:txBody>
          <a:bodyPr wrap="square" lIns="0" tIns="0" rIns="0" bIns="0" anchor="t">
            <a:noAutofit/>
          </a:bodyPr>
          <a:lstStyle/>
          <a:p>
            <a:pPr algn="l">
              <a:lnSpc>
                <a:spcPct val="105000"/>
              </a:lnSpc>
            </a:pPr>
            <a:r>
              <a:rPr sz="1800" b="0" i="0">
                <a:solidFill>
                  <a:srgbClr val="172033"/>
                </a:solidFill>
                <a:latin typeface="Roboto Condensed"/>
              </a:rPr>
              <a:t>Willingness to pay and repeat use.</a:t>
            </a:r>
          </a:p>
        </p:txBody>
      </p:sp>
      <p:sp>
        <p:nvSpPr>
          <p:cNvPr id="41" name="Rounded Rectangle 40"/>
          <p:cNvSpPr/>
          <p:nvPr/>
        </p:nvSpPr>
        <p:spPr>
          <a:xfrm>
            <a:off x="1097280" y="9107424"/>
            <a:ext cx="2083308" cy="438912"/>
          </a:xfrm>
          <a:prstGeom prst="roundRect">
            <a:avLst>
              <a:gd name="adj" fmla="val 50000"/>
            </a:avLst>
          </a:prstGeom>
          <a:solidFill>
            <a:srgbClr val="FFFFFF"/>
          </a:solidFill>
          <a:ln w="31750">
            <a:solidFill>
              <a:srgbClr val="5B21B6"/>
            </a:solid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5B21B6"/>
                </a:solidFill>
                <a:latin typeface="Roboto Condensed SemiBold"/>
              </a:rPr>
              <a:t>PRE-REVENUE</a:t>
            </a:r>
          </a:p>
        </p:txBody>
      </p:sp>
      <p:pic>
        <p:nvPicPr>
          <p:cNvPr id="42" name="Picture 41" descr="Scanvas demo with children during the TPA pilot"/>
          <p:cNvPicPr>
            <a:picLocks noChangeAspect="1"/>
          </p:cNvPicPr>
          <p:nvPr/>
        </p:nvPicPr>
        <p:blipFill>
          <a:blip r:embed="rId5"/>
          <a:stretch>
            <a:fillRect/>
          </a:stretch>
        </p:blipFill>
        <p:spPr>
          <a:xfrm>
            <a:off x="9692640" y="2194560"/>
            <a:ext cx="7498079" cy="4217670"/>
          </a:xfrm>
          <a:prstGeom prst="rect">
            <a:avLst/>
          </a:prstGeom>
        </p:spPr>
      </p:pic>
      <p:pic>
        <p:nvPicPr>
          <p:cNvPr id="43" name="Picture 42" descr="Children coloring Scanvas sheets in the pilot"/>
          <p:cNvPicPr>
            <a:picLocks noChangeAspect="1"/>
          </p:cNvPicPr>
          <p:nvPr/>
        </p:nvPicPr>
        <p:blipFill>
          <a:blip r:embed="rId6"/>
          <a:stretch>
            <a:fillRect/>
          </a:stretch>
        </p:blipFill>
        <p:spPr>
          <a:xfrm>
            <a:off x="9692640" y="6583680"/>
            <a:ext cx="3657599" cy="2057399"/>
          </a:xfrm>
          <a:prstGeom prst="rect">
            <a:avLst/>
          </a:prstGeom>
        </p:spPr>
      </p:pic>
      <p:pic>
        <p:nvPicPr>
          <p:cNvPr id="44" name="Picture 43" descr="Children coloring Scanvas sheets in the pilot"/>
          <p:cNvPicPr>
            <a:picLocks noChangeAspect="1"/>
          </p:cNvPicPr>
          <p:nvPr/>
        </p:nvPicPr>
        <p:blipFill>
          <a:blip r:embed="rId7"/>
          <a:stretch>
            <a:fillRect/>
          </a:stretch>
        </p:blipFill>
        <p:spPr>
          <a:xfrm>
            <a:off x="13533119" y="6583680"/>
            <a:ext cx="3657599" cy="2057399"/>
          </a:xfrm>
          <a:prstGeom prst="rect">
            <a:avLst/>
          </a:prstGeom>
        </p:spPr>
      </p:pic>
      <p:sp>
        <p:nvSpPr>
          <p:cNvPr id="45" name="TextBox 44"/>
          <p:cNvSpPr txBox="1"/>
          <p:nvPr/>
        </p:nvSpPr>
        <p:spPr>
          <a:xfrm>
            <a:off x="9692640" y="8814816"/>
            <a:ext cx="7498079" cy="402336"/>
          </a:xfrm>
          <a:prstGeom prst="rect">
            <a:avLst/>
          </a:prstGeom>
          <a:noFill/>
        </p:spPr>
        <p:txBody>
          <a:bodyPr wrap="square" lIns="0" tIns="0" rIns="0" bIns="0" anchor="ctr">
            <a:noAutofit/>
          </a:bodyPr>
          <a:lstStyle/>
          <a:p>
            <a:pPr algn="l"/>
            <a:r>
              <a:rPr sz="1600" b="0" i="0">
                <a:solidFill>
                  <a:srgbClr val="7C3AED"/>
                </a:solidFill>
                <a:latin typeface="Roboto Condensed SemiBold"/>
              </a:rPr>
              <a:t>First real-world pilot · TPA, D.I. Yogyakarta</a:t>
            </a:r>
          </a:p>
        </p:txBody>
      </p:sp>
      <p:sp>
        <p:nvSpPr>
          <p:cNvPr id="46" name="TextBox 45"/>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TRACTION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822960"/>
            <a:ext cx="14264640" cy="914400"/>
          </a:xfrm>
          <a:prstGeom prst="rect">
            <a:avLst/>
          </a:prstGeom>
          <a:noFill/>
        </p:spPr>
        <p:txBody>
          <a:bodyPr wrap="square" lIns="0" tIns="0" rIns="0" bIns="0" anchor="t">
            <a:noAutofit/>
          </a:bodyPr>
          <a:lstStyle/>
          <a:p>
            <a:pPr algn="l">
              <a:lnSpc>
                <a:spcPct val="95000"/>
              </a:lnSpc>
            </a:pPr>
            <a:r>
              <a:rPr sz="4000" b="1" i="0">
                <a:solidFill>
                  <a:srgbClr val="172033"/>
                </a:solidFill>
                <a:latin typeface="Roboto Condensed"/>
              </a:rPr>
              <a:t>Starting With Public Schools in Yogyakarta, Then Other Cities</a:t>
            </a:r>
          </a:p>
        </p:txBody>
      </p:sp>
      <p:sp>
        <p:nvSpPr>
          <p:cNvPr id="13" name="Rounded Rectangle 12"/>
          <p:cNvSpPr/>
          <p:nvPr/>
        </p:nvSpPr>
        <p:spPr>
          <a:xfrm>
            <a:off x="1097280" y="2194560"/>
            <a:ext cx="9144000" cy="6217920"/>
          </a:xfrm>
          <a:prstGeom prst="roundRect">
            <a:avLst>
              <a:gd name="adj" fmla="val 5294"/>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A facilitated Scanvas coloring session"/>
          <p:cNvPicPr>
            <a:picLocks noChangeAspect="1"/>
          </p:cNvPicPr>
          <p:nvPr/>
        </p:nvPicPr>
        <p:blipFill>
          <a:blip r:embed="rId3"/>
          <a:stretch>
            <a:fillRect/>
          </a:stretch>
        </p:blipFill>
        <p:spPr>
          <a:xfrm>
            <a:off x="7040880" y="2468880"/>
            <a:ext cx="2926080" cy="1463040"/>
          </a:xfrm>
          <a:prstGeom prst="rect">
            <a:avLst/>
          </a:prstGeom>
        </p:spPr>
      </p:pic>
      <p:sp>
        <p:nvSpPr>
          <p:cNvPr id="15" name="TextBox 14"/>
          <p:cNvSpPr txBox="1"/>
          <p:nvPr/>
        </p:nvSpPr>
        <p:spPr>
          <a:xfrm>
            <a:off x="1463040" y="2523744"/>
            <a:ext cx="5669280" cy="365760"/>
          </a:xfrm>
          <a:prstGeom prst="rect">
            <a:avLst/>
          </a:prstGeom>
          <a:noFill/>
        </p:spPr>
        <p:txBody>
          <a:bodyPr wrap="square" lIns="0" tIns="0" rIns="0" bIns="0" anchor="t">
            <a:noAutofit/>
          </a:bodyPr>
          <a:lstStyle/>
          <a:p>
            <a:pPr algn="l"/>
            <a:r>
              <a:rPr sz="1500" b="0" i="0">
                <a:solidFill>
                  <a:srgbClr val="7C3AED"/>
                </a:solidFill>
                <a:latin typeface="Roboto Condensed SemiBold"/>
              </a:rPr>
              <a:t>FIRST CUSTOMER SEGMENT</a:t>
            </a:r>
          </a:p>
        </p:txBody>
      </p:sp>
      <p:sp>
        <p:nvSpPr>
          <p:cNvPr id="16" name="TextBox 15"/>
          <p:cNvSpPr txBox="1"/>
          <p:nvPr/>
        </p:nvSpPr>
        <p:spPr>
          <a:xfrm>
            <a:off x="1463040" y="2889503"/>
            <a:ext cx="5669280" cy="804672"/>
          </a:xfrm>
          <a:prstGeom prst="rect">
            <a:avLst/>
          </a:prstGeom>
          <a:noFill/>
        </p:spPr>
        <p:txBody>
          <a:bodyPr wrap="square" lIns="0" tIns="0" rIns="0" bIns="0" anchor="t">
            <a:noAutofit/>
          </a:bodyPr>
          <a:lstStyle/>
          <a:p>
            <a:pPr algn="l">
              <a:lnSpc>
                <a:spcPct val="105000"/>
              </a:lnSpc>
            </a:pPr>
            <a:r>
              <a:rPr sz="2200" b="0" i="0">
                <a:solidFill>
                  <a:srgbClr val="172033"/>
                </a:solidFill>
                <a:latin typeface="Roboto Condensed"/>
              </a:rPr>
              <a:t>Public PAUD, TK, and primary schools in Yogyakarta, plus TPA, where we ran our pilot.</a:t>
            </a:r>
          </a:p>
        </p:txBody>
      </p:sp>
      <p:sp>
        <p:nvSpPr>
          <p:cNvPr id="17" name="TextBox 16"/>
          <p:cNvSpPr txBox="1"/>
          <p:nvPr/>
        </p:nvSpPr>
        <p:spPr>
          <a:xfrm>
            <a:off x="1463040" y="4133087"/>
            <a:ext cx="8412480" cy="365760"/>
          </a:xfrm>
          <a:prstGeom prst="rect">
            <a:avLst/>
          </a:prstGeom>
          <a:noFill/>
        </p:spPr>
        <p:txBody>
          <a:bodyPr wrap="square" lIns="0" tIns="0" rIns="0" bIns="0" anchor="t">
            <a:noAutofit/>
          </a:bodyPr>
          <a:lstStyle/>
          <a:p>
            <a:pPr algn="l"/>
            <a:r>
              <a:rPr sz="1500" b="0" i="0">
                <a:solidFill>
                  <a:srgbClr val="7C3AED"/>
                </a:solidFill>
                <a:latin typeface="Roboto Condensed SemiBold"/>
              </a:rPr>
              <a:t>BUYER</a:t>
            </a:r>
          </a:p>
        </p:txBody>
      </p:sp>
      <p:sp>
        <p:nvSpPr>
          <p:cNvPr id="18" name="TextBox 17"/>
          <p:cNvSpPr txBox="1"/>
          <p:nvPr/>
        </p:nvSpPr>
        <p:spPr>
          <a:xfrm>
            <a:off x="1463040" y="4498848"/>
            <a:ext cx="8412480" cy="402336"/>
          </a:xfrm>
          <a:prstGeom prst="rect">
            <a:avLst/>
          </a:prstGeom>
          <a:noFill/>
        </p:spPr>
        <p:txBody>
          <a:bodyPr wrap="square" lIns="0" tIns="0" rIns="0" bIns="0" anchor="t">
            <a:noAutofit/>
          </a:bodyPr>
          <a:lstStyle/>
          <a:p>
            <a:pPr algn="l">
              <a:lnSpc>
                <a:spcPct val="105000"/>
              </a:lnSpc>
            </a:pPr>
            <a:r>
              <a:rPr sz="2200" b="0" i="0">
                <a:solidFill>
                  <a:srgbClr val="172033"/>
                </a:solidFill>
                <a:latin typeface="Roboto Condensed"/>
              </a:rPr>
              <a:t>Principals, teachers, and activity coordinators.</a:t>
            </a:r>
          </a:p>
        </p:txBody>
      </p:sp>
      <p:sp>
        <p:nvSpPr>
          <p:cNvPr id="19" name="TextBox 18"/>
          <p:cNvSpPr txBox="1"/>
          <p:nvPr/>
        </p:nvSpPr>
        <p:spPr>
          <a:xfrm>
            <a:off x="1463040" y="5340096"/>
            <a:ext cx="8412480" cy="365760"/>
          </a:xfrm>
          <a:prstGeom prst="rect">
            <a:avLst/>
          </a:prstGeom>
          <a:noFill/>
        </p:spPr>
        <p:txBody>
          <a:bodyPr wrap="square" lIns="0" tIns="0" rIns="0" bIns="0" anchor="t">
            <a:noAutofit/>
          </a:bodyPr>
          <a:lstStyle/>
          <a:p>
            <a:pPr algn="l"/>
            <a:r>
              <a:rPr sz="1500" b="0" i="0">
                <a:solidFill>
                  <a:srgbClr val="7C3AED"/>
                </a:solidFill>
                <a:latin typeface="Roboto Condensed SemiBold"/>
              </a:rPr>
              <a:t>USER</a:t>
            </a:r>
          </a:p>
        </p:txBody>
      </p:sp>
      <p:sp>
        <p:nvSpPr>
          <p:cNvPr id="20" name="TextBox 19"/>
          <p:cNvSpPr txBox="1"/>
          <p:nvPr/>
        </p:nvSpPr>
        <p:spPr>
          <a:xfrm>
            <a:off x="1463040" y="5705856"/>
            <a:ext cx="8412480" cy="402336"/>
          </a:xfrm>
          <a:prstGeom prst="rect">
            <a:avLst/>
          </a:prstGeom>
          <a:noFill/>
        </p:spPr>
        <p:txBody>
          <a:bodyPr wrap="square" lIns="0" tIns="0" rIns="0" bIns="0" anchor="t">
            <a:noAutofit/>
          </a:bodyPr>
          <a:lstStyle/>
          <a:p>
            <a:pPr algn="l">
              <a:lnSpc>
                <a:spcPct val="105000"/>
              </a:lnSpc>
            </a:pPr>
            <a:r>
              <a:rPr sz="2200" b="0" i="0">
                <a:solidFill>
                  <a:srgbClr val="172033"/>
                </a:solidFill>
                <a:latin typeface="Roboto Condensed"/>
              </a:rPr>
              <a:t>Children aged 3–10, supported by adults.</a:t>
            </a:r>
          </a:p>
        </p:txBody>
      </p:sp>
      <p:sp>
        <p:nvSpPr>
          <p:cNvPr id="21" name="TextBox 20"/>
          <p:cNvSpPr txBox="1"/>
          <p:nvPr/>
        </p:nvSpPr>
        <p:spPr>
          <a:xfrm>
            <a:off x="1463040" y="6547104"/>
            <a:ext cx="8412480" cy="365760"/>
          </a:xfrm>
          <a:prstGeom prst="rect">
            <a:avLst/>
          </a:prstGeom>
          <a:noFill/>
        </p:spPr>
        <p:txBody>
          <a:bodyPr wrap="square" lIns="0" tIns="0" rIns="0" bIns="0" anchor="t">
            <a:noAutofit/>
          </a:bodyPr>
          <a:lstStyle/>
          <a:p>
            <a:pPr algn="l"/>
            <a:r>
              <a:rPr sz="1500" b="0" i="0">
                <a:solidFill>
                  <a:srgbClr val="7C3AED"/>
                </a:solidFill>
                <a:latin typeface="Roboto Condensed SemiBold"/>
              </a:rPr>
              <a:t>INITIAL OFFER</a:t>
            </a:r>
          </a:p>
        </p:txBody>
      </p:sp>
      <p:sp>
        <p:nvSpPr>
          <p:cNvPr id="22" name="TextBox 21"/>
          <p:cNvSpPr txBox="1"/>
          <p:nvPr/>
        </p:nvSpPr>
        <p:spPr>
          <a:xfrm>
            <a:off x="1463040" y="6912864"/>
            <a:ext cx="8412480" cy="804672"/>
          </a:xfrm>
          <a:prstGeom prst="rect">
            <a:avLst/>
          </a:prstGeom>
          <a:noFill/>
        </p:spPr>
        <p:txBody>
          <a:bodyPr wrap="square" lIns="0" tIns="0" rIns="0" bIns="0" anchor="t">
            <a:noAutofit/>
          </a:bodyPr>
          <a:lstStyle/>
          <a:p>
            <a:pPr algn="l">
              <a:lnSpc>
                <a:spcPct val="105000"/>
              </a:lnSpc>
            </a:pPr>
            <a:r>
              <a:rPr sz="2200" b="0" i="0">
                <a:solidFill>
                  <a:srgbClr val="172033"/>
                </a:solidFill>
                <a:latin typeface="Roboto Condensed"/>
              </a:rPr>
              <a:t>A facilitated session where children see their artwork come alive: about Rp33K per child at our test price.</a:t>
            </a:r>
          </a:p>
        </p:txBody>
      </p:sp>
      <p:sp>
        <p:nvSpPr>
          <p:cNvPr id="23" name="Rounded Rectangle 22"/>
          <p:cNvSpPr/>
          <p:nvPr/>
        </p:nvSpPr>
        <p:spPr>
          <a:xfrm>
            <a:off x="10607040" y="2194560"/>
            <a:ext cx="6583680" cy="3657600"/>
          </a:xfrm>
          <a:prstGeom prst="roundRect">
            <a:avLst>
              <a:gd name="adj" fmla="val 900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972800" y="2414016"/>
            <a:ext cx="5852160" cy="365760"/>
          </a:xfrm>
          <a:prstGeom prst="rect">
            <a:avLst/>
          </a:prstGeom>
          <a:noFill/>
        </p:spPr>
        <p:txBody>
          <a:bodyPr wrap="square" lIns="0" tIns="0" rIns="0" bIns="0" anchor="t">
            <a:noAutofit/>
          </a:bodyPr>
          <a:lstStyle/>
          <a:p>
            <a:pPr algn="l"/>
            <a:r>
              <a:rPr sz="1500" b="0" i="0">
                <a:solidFill>
                  <a:srgbClr val="7C3AED"/>
                </a:solidFill>
                <a:latin typeface="Roboto Condensed SemiBold"/>
              </a:rPr>
              <a:t>WHERE WE GO · PAUD + PRIMARY SCHOOL UNITS</a:t>
            </a:r>
          </a:p>
        </p:txBody>
      </p:sp>
      <p:sp>
        <p:nvSpPr>
          <p:cNvPr id="25" name="TextBox 24"/>
          <p:cNvSpPr txBox="1"/>
          <p:nvPr/>
        </p:nvSpPr>
        <p:spPr>
          <a:xfrm>
            <a:off x="10972800" y="2852928"/>
            <a:ext cx="2834640" cy="853440"/>
          </a:xfrm>
          <a:prstGeom prst="rect">
            <a:avLst/>
          </a:prstGeom>
          <a:noFill/>
        </p:spPr>
        <p:txBody>
          <a:bodyPr wrap="square" lIns="0" tIns="0" rIns="0" bIns="0" anchor="ctr">
            <a:noAutofit/>
          </a:bodyPr>
          <a:lstStyle/>
          <a:p>
            <a:pPr algn="l"/>
            <a:r>
              <a:rPr sz="4800" b="1" i="0">
                <a:solidFill>
                  <a:srgbClr val="5B21B6"/>
                </a:solidFill>
                <a:latin typeface="Roboto Condensed"/>
              </a:rPr>
              <a:t>7,123</a:t>
            </a:r>
          </a:p>
        </p:txBody>
      </p:sp>
      <p:sp>
        <p:nvSpPr>
          <p:cNvPr id="26" name="TextBox 25"/>
          <p:cNvSpPr txBox="1"/>
          <p:nvPr/>
        </p:nvSpPr>
        <p:spPr>
          <a:xfrm>
            <a:off x="13807440" y="2852928"/>
            <a:ext cx="3291840" cy="853440"/>
          </a:xfrm>
          <a:prstGeom prst="rect">
            <a:avLst/>
          </a:prstGeom>
          <a:noFill/>
        </p:spPr>
        <p:txBody>
          <a:bodyPr wrap="square" lIns="0" tIns="0" rIns="0" bIns="0" anchor="ctr">
            <a:noAutofit/>
          </a:bodyPr>
          <a:lstStyle/>
          <a:p>
            <a:pPr algn="l">
              <a:lnSpc>
                <a:spcPct val="100000"/>
              </a:lnSpc>
            </a:pPr>
            <a:r>
              <a:rPr sz="1800" b="0" i="0">
                <a:solidFill>
                  <a:srgbClr val="172033"/>
                </a:solidFill>
                <a:latin typeface="Roboto Condensed"/>
              </a:rPr>
              <a:t>D.I. Yogyakarta · start</a:t>
            </a:r>
          </a:p>
        </p:txBody>
      </p:sp>
      <p:sp>
        <p:nvSpPr>
          <p:cNvPr id="27" name="TextBox 26"/>
          <p:cNvSpPr txBox="1"/>
          <p:nvPr/>
        </p:nvSpPr>
        <p:spPr>
          <a:xfrm>
            <a:off x="10972800" y="3797808"/>
            <a:ext cx="2834640" cy="853440"/>
          </a:xfrm>
          <a:prstGeom prst="rect">
            <a:avLst/>
          </a:prstGeom>
          <a:noFill/>
        </p:spPr>
        <p:txBody>
          <a:bodyPr wrap="square" lIns="0" tIns="0" rIns="0" bIns="0" anchor="ctr">
            <a:noAutofit/>
          </a:bodyPr>
          <a:lstStyle/>
          <a:p>
            <a:pPr algn="l"/>
            <a:r>
              <a:rPr sz="3800" b="1" i="0">
                <a:solidFill>
                  <a:srgbClr val="172033"/>
                </a:solidFill>
                <a:latin typeface="Roboto Condensed"/>
              </a:rPr>
              <a:t>62,797</a:t>
            </a:r>
          </a:p>
        </p:txBody>
      </p:sp>
      <p:sp>
        <p:nvSpPr>
          <p:cNvPr id="28" name="TextBox 27"/>
          <p:cNvSpPr txBox="1"/>
          <p:nvPr/>
        </p:nvSpPr>
        <p:spPr>
          <a:xfrm>
            <a:off x="13807440" y="3797808"/>
            <a:ext cx="3291840" cy="853440"/>
          </a:xfrm>
          <a:prstGeom prst="rect">
            <a:avLst/>
          </a:prstGeom>
          <a:noFill/>
        </p:spPr>
        <p:txBody>
          <a:bodyPr wrap="square" lIns="0" tIns="0" rIns="0" bIns="0" anchor="ctr">
            <a:noAutofit/>
          </a:bodyPr>
          <a:lstStyle/>
          <a:p>
            <a:pPr algn="l">
              <a:lnSpc>
                <a:spcPct val="100000"/>
              </a:lnSpc>
            </a:pPr>
            <a:r>
              <a:rPr sz="1800" b="0" i="0">
                <a:solidFill>
                  <a:srgbClr val="172033"/>
                </a:solidFill>
                <a:latin typeface="Roboto Condensed"/>
              </a:rPr>
              <a:t>Central Java + DIY · next cities</a:t>
            </a:r>
          </a:p>
        </p:txBody>
      </p:sp>
      <p:sp>
        <p:nvSpPr>
          <p:cNvPr id="29" name="TextBox 28"/>
          <p:cNvSpPr txBox="1"/>
          <p:nvPr/>
        </p:nvSpPr>
        <p:spPr>
          <a:xfrm>
            <a:off x="10972800" y="4742688"/>
            <a:ext cx="2834640" cy="853440"/>
          </a:xfrm>
          <a:prstGeom prst="rect">
            <a:avLst/>
          </a:prstGeom>
          <a:noFill/>
        </p:spPr>
        <p:txBody>
          <a:bodyPr wrap="square" lIns="0" tIns="0" rIns="0" bIns="0" anchor="ctr">
            <a:noAutofit/>
          </a:bodyPr>
          <a:lstStyle/>
          <a:p>
            <a:pPr algn="l"/>
            <a:r>
              <a:rPr sz="3800" b="1" i="0">
                <a:solidFill>
                  <a:srgbClr val="172033"/>
                </a:solidFill>
                <a:latin typeface="Roboto Condensed"/>
              </a:rPr>
              <a:t>420,886</a:t>
            </a:r>
          </a:p>
        </p:txBody>
      </p:sp>
      <p:sp>
        <p:nvSpPr>
          <p:cNvPr id="30" name="TextBox 29"/>
          <p:cNvSpPr txBox="1"/>
          <p:nvPr/>
        </p:nvSpPr>
        <p:spPr>
          <a:xfrm>
            <a:off x="13807440" y="4742688"/>
            <a:ext cx="3291840" cy="853440"/>
          </a:xfrm>
          <a:prstGeom prst="rect">
            <a:avLst/>
          </a:prstGeom>
          <a:noFill/>
        </p:spPr>
        <p:txBody>
          <a:bodyPr wrap="square" lIns="0" tIns="0" rIns="0" bIns="0" anchor="ctr">
            <a:noAutofit/>
          </a:bodyPr>
          <a:lstStyle/>
          <a:p>
            <a:pPr algn="l">
              <a:lnSpc>
                <a:spcPct val="100000"/>
              </a:lnSpc>
            </a:pPr>
            <a:r>
              <a:rPr sz="1800" b="0" i="0">
                <a:solidFill>
                  <a:srgbClr val="172033"/>
                </a:solidFill>
                <a:latin typeface="Roboto Condensed"/>
              </a:rPr>
              <a:t>Indonesia</a:t>
            </a:r>
          </a:p>
        </p:txBody>
      </p:sp>
      <p:sp>
        <p:nvSpPr>
          <p:cNvPr id="31" name="Rounded Rectangle 30"/>
          <p:cNvSpPr/>
          <p:nvPr/>
        </p:nvSpPr>
        <p:spPr>
          <a:xfrm>
            <a:off x="10607040" y="6071616"/>
            <a:ext cx="6583680" cy="2340864"/>
          </a:xfrm>
          <a:prstGeom prst="roundRect">
            <a:avLst>
              <a:gd name="adj" fmla="val 14062"/>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972800" y="6291072"/>
            <a:ext cx="5852160" cy="365760"/>
          </a:xfrm>
          <a:prstGeom prst="rect">
            <a:avLst/>
          </a:prstGeom>
          <a:noFill/>
        </p:spPr>
        <p:txBody>
          <a:bodyPr wrap="square" lIns="0" tIns="0" rIns="0" bIns="0" anchor="t">
            <a:noAutofit/>
          </a:bodyPr>
          <a:lstStyle/>
          <a:p>
            <a:pPr algn="l"/>
            <a:r>
              <a:rPr sz="1500" b="0" i="0">
                <a:solidFill>
                  <a:srgbClr val="EDE9FE"/>
                </a:solidFill>
                <a:latin typeface="Roboto Condensed SemiBold"/>
              </a:rPr>
              <a:t>FIRST-YEAR COMMERCIAL TARGET</a:t>
            </a:r>
          </a:p>
        </p:txBody>
      </p:sp>
      <p:sp>
        <p:nvSpPr>
          <p:cNvPr id="33" name="TextBox 32"/>
          <p:cNvSpPr txBox="1"/>
          <p:nvPr/>
        </p:nvSpPr>
        <p:spPr>
          <a:xfrm>
            <a:off x="10972800" y="6693408"/>
            <a:ext cx="5852160" cy="914400"/>
          </a:xfrm>
          <a:prstGeom prst="rect">
            <a:avLst/>
          </a:prstGeom>
          <a:noFill/>
        </p:spPr>
        <p:txBody>
          <a:bodyPr wrap="square" lIns="0" tIns="0" rIns="0" bIns="0" anchor="ctr">
            <a:noAutofit/>
          </a:bodyPr>
          <a:lstStyle/>
          <a:p>
            <a:pPr algn="l"/>
            <a:r>
              <a:rPr sz="4800" b="1" i="0">
                <a:solidFill>
                  <a:srgbClr val="FFFFFF"/>
                </a:solidFill>
                <a:latin typeface="Roboto Condensed"/>
              </a:rPr>
              <a:t>48 paid sessions</a:t>
            </a:r>
          </a:p>
        </p:txBody>
      </p:sp>
      <p:sp>
        <p:nvSpPr>
          <p:cNvPr id="34" name="TextBox 33"/>
          <p:cNvSpPr txBox="1"/>
          <p:nvPr/>
        </p:nvSpPr>
        <p:spPr>
          <a:xfrm>
            <a:off x="10972800" y="7644383"/>
            <a:ext cx="5852160" cy="548640"/>
          </a:xfrm>
          <a:prstGeom prst="rect">
            <a:avLst/>
          </a:prstGeom>
          <a:noFill/>
        </p:spPr>
        <p:txBody>
          <a:bodyPr wrap="square" lIns="0" tIns="0" rIns="0" bIns="0" anchor="t">
            <a:noAutofit/>
          </a:bodyPr>
          <a:lstStyle/>
          <a:p>
            <a:pPr algn="l"/>
            <a:r>
              <a:rPr sz="1700" b="0" i="0">
                <a:solidFill>
                  <a:srgbClr val="EDE9FE"/>
                </a:solidFill>
                <a:latin typeface="Roboto Condensed"/>
              </a:rPr>
              <a:t>A transaction target, not 48 unique customers.</a:t>
            </a:r>
          </a:p>
        </p:txBody>
      </p:sp>
      <p:pic>
        <p:nvPicPr>
          <p:cNvPr id="35" name="Picture 34" descr="house_purple.png"/>
          <p:cNvPicPr>
            <a:picLocks noChangeAspect="1"/>
          </p:cNvPicPr>
          <p:nvPr/>
        </p:nvPicPr>
        <p:blipFill>
          <a:blip r:embed="rId4"/>
          <a:stretch>
            <a:fillRect/>
          </a:stretch>
        </p:blipFill>
        <p:spPr>
          <a:xfrm>
            <a:off x="1097280" y="8686800"/>
            <a:ext cx="365760" cy="365760"/>
          </a:xfrm>
          <a:prstGeom prst="rect">
            <a:avLst/>
          </a:prstGeom>
        </p:spPr>
      </p:pic>
      <p:sp>
        <p:nvSpPr>
          <p:cNvPr id="36" name="TextBox 35"/>
          <p:cNvSpPr txBox="1"/>
          <p:nvPr/>
        </p:nvSpPr>
        <p:spPr>
          <a:xfrm>
            <a:off x="1572768" y="8595360"/>
            <a:ext cx="15544800" cy="548640"/>
          </a:xfrm>
          <a:prstGeom prst="rect">
            <a:avLst/>
          </a:prstGeom>
          <a:noFill/>
        </p:spPr>
        <p:txBody>
          <a:bodyPr wrap="square" lIns="0" tIns="0" rIns="0" bIns="0" anchor="ctr">
            <a:noAutofit/>
          </a:bodyPr>
          <a:lstStyle/>
          <a:p>
            <a:pPr algn="l"/>
            <a:r>
              <a:rPr sz="2100" b="0" i="0">
                <a:solidFill>
                  <a:srgbClr val="5B21B6"/>
                </a:solidFill>
                <a:latin typeface="Roboto Condensed SemiBold"/>
              </a:rPr>
              <a:t>Families can also purchase creative packs for use at home.</a:t>
            </a:r>
          </a:p>
        </p:txBody>
      </p:sp>
      <p:sp>
        <p:nvSpPr>
          <p:cNvPr id="37" name="TextBox 36"/>
          <p:cNvSpPr txBox="1"/>
          <p:nvPr/>
        </p:nvSpPr>
        <p:spPr>
          <a:xfrm>
            <a:off x="1097280" y="9180576"/>
            <a:ext cx="16093440" cy="402336"/>
          </a:xfrm>
          <a:prstGeom prst="rect">
            <a:avLst/>
          </a:prstGeom>
          <a:noFill/>
        </p:spPr>
        <p:txBody>
          <a:bodyPr wrap="square" lIns="0" tIns="0" rIns="0" bIns="0" anchor="t">
            <a:noAutofit/>
          </a:bodyPr>
          <a:lstStyle/>
          <a:p>
            <a:pPr algn="l"/>
            <a:r>
              <a:rPr sz="1400" b="0" i="0">
                <a:solidFill>
                  <a:srgbClr val="172033"/>
                </a:solidFill>
                <a:latin typeface="Roboto Condensed"/>
              </a:rPr>
              <a:t>Source: Kemendikdasmen education reference data (public and private units), accessed September 2026. Institution counts describe market coverage, not confirmed demand.</a:t>
            </a:r>
          </a:p>
        </p:txBody>
      </p:sp>
      <p:sp>
        <p:nvSpPr>
          <p:cNvPr id="38" name="TextBox 37"/>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TARGET MARKET · MARKET SIZE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822960"/>
            <a:ext cx="16093440" cy="914400"/>
          </a:xfrm>
          <a:prstGeom prst="rect">
            <a:avLst/>
          </a:prstGeom>
          <a:noFill/>
        </p:spPr>
        <p:txBody>
          <a:bodyPr wrap="square" lIns="0" tIns="0" rIns="0" bIns="0" anchor="t">
            <a:noAutofit/>
          </a:bodyPr>
          <a:lstStyle/>
          <a:p>
            <a:pPr algn="l">
              <a:lnSpc>
                <a:spcPct val="95000"/>
              </a:lnSpc>
            </a:pPr>
            <a:r>
              <a:rPr sz="4800" b="1" i="0">
                <a:solidFill>
                  <a:srgbClr val="172033"/>
                </a:solidFill>
                <a:latin typeface="Roboto Condensed"/>
              </a:rPr>
              <a:t>Personal Artwork, Browser Access, and Shared Worlds</a:t>
            </a:r>
          </a:p>
        </p:txBody>
      </p:sp>
      <p:sp>
        <p:nvSpPr>
          <p:cNvPr id="13" name="TextBox 12"/>
          <p:cNvSpPr txBox="1"/>
          <p:nvPr/>
        </p:nvSpPr>
        <p:spPr>
          <a:xfrm>
            <a:off x="1097280" y="2103120"/>
            <a:ext cx="5486400" cy="822960"/>
          </a:xfrm>
          <a:prstGeom prst="rect">
            <a:avLst/>
          </a:prstGeom>
          <a:noFill/>
        </p:spPr>
        <p:txBody>
          <a:bodyPr wrap="square" lIns="0" tIns="0" rIns="0" bIns="0" anchor="t">
            <a:noAutofit/>
          </a:bodyPr>
          <a:lstStyle/>
          <a:p>
            <a:pPr algn="l">
              <a:lnSpc>
                <a:spcPct val="105000"/>
              </a:lnSpc>
            </a:pPr>
            <a:r>
              <a:rPr sz="2000" b="0" i="0">
                <a:solidFill>
                  <a:srgbClr val="172033"/>
                </a:solidFill>
                <a:latin typeface="Roboto Condensed"/>
              </a:rPr>
              <a:t>Paper-to-digital coloring already has established alternatives, including:</a:t>
            </a:r>
          </a:p>
        </p:txBody>
      </p:sp>
      <p:sp>
        <p:nvSpPr>
          <p:cNvPr id="14" name="Rounded Rectangle 13"/>
          <p:cNvSpPr/>
          <p:nvPr/>
        </p:nvSpPr>
        <p:spPr>
          <a:xfrm>
            <a:off x="1097280" y="3145536"/>
            <a:ext cx="5486400" cy="914400"/>
          </a:xfrm>
          <a:prstGeom prst="roundRect">
            <a:avLst>
              <a:gd name="adj" fmla="val 2400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371600" y="3145536"/>
            <a:ext cx="3474720" cy="914400"/>
          </a:xfrm>
          <a:prstGeom prst="rect">
            <a:avLst/>
          </a:prstGeom>
          <a:noFill/>
        </p:spPr>
        <p:txBody>
          <a:bodyPr wrap="square" lIns="0" tIns="0" rIns="0" bIns="0" anchor="ctr">
            <a:noAutofit/>
          </a:bodyPr>
          <a:lstStyle/>
          <a:p>
            <a:pPr algn="l">
              <a:lnSpc>
                <a:spcPct val="100000"/>
              </a:lnSpc>
            </a:pPr>
            <a:r>
              <a:rPr sz="2000" b="0" i="0">
                <a:solidFill>
                  <a:srgbClr val="172033"/>
                </a:solidFill>
                <a:latin typeface="Roboto Condensed SemiBold"/>
              </a:rPr>
              <a:t>Faber-Castell ARt Alive</a:t>
            </a:r>
          </a:p>
        </p:txBody>
      </p:sp>
      <p:sp>
        <p:nvSpPr>
          <p:cNvPr id="16" name="Rounded Rectangle 15"/>
          <p:cNvSpPr/>
          <p:nvPr/>
        </p:nvSpPr>
        <p:spPr>
          <a:xfrm>
            <a:off x="4496816" y="3383280"/>
            <a:ext cx="1867408" cy="438912"/>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400" b="0" i="0">
                <a:solidFill>
                  <a:srgbClr val="172033"/>
                </a:solidFill>
                <a:latin typeface="Roboto Condensed SemiBold"/>
              </a:rPr>
              <a:t>Mobile app</a:t>
            </a:r>
          </a:p>
        </p:txBody>
      </p:sp>
      <p:sp>
        <p:nvSpPr>
          <p:cNvPr id="17" name="Rounded Rectangle 16"/>
          <p:cNvSpPr/>
          <p:nvPr/>
        </p:nvSpPr>
        <p:spPr>
          <a:xfrm>
            <a:off x="1097280" y="4242816"/>
            <a:ext cx="5486400" cy="914400"/>
          </a:xfrm>
          <a:prstGeom prst="roundRect">
            <a:avLst>
              <a:gd name="adj" fmla="val 2400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371600" y="4242816"/>
            <a:ext cx="3474720" cy="914400"/>
          </a:xfrm>
          <a:prstGeom prst="rect">
            <a:avLst/>
          </a:prstGeom>
          <a:noFill/>
        </p:spPr>
        <p:txBody>
          <a:bodyPr wrap="square" lIns="0" tIns="0" rIns="0" bIns="0" anchor="ctr">
            <a:noAutofit/>
          </a:bodyPr>
          <a:lstStyle/>
          <a:p>
            <a:pPr algn="l">
              <a:lnSpc>
                <a:spcPct val="100000"/>
              </a:lnSpc>
            </a:pPr>
            <a:r>
              <a:rPr sz="2000" b="0" i="0">
                <a:solidFill>
                  <a:srgbClr val="172033"/>
                </a:solidFill>
                <a:latin typeface="Roboto Condensed SemiBold"/>
              </a:rPr>
              <a:t>Quiver</a:t>
            </a:r>
          </a:p>
        </p:txBody>
      </p:sp>
      <p:sp>
        <p:nvSpPr>
          <p:cNvPr id="19" name="Rounded Rectangle 18"/>
          <p:cNvSpPr/>
          <p:nvPr/>
        </p:nvSpPr>
        <p:spPr>
          <a:xfrm>
            <a:off x="4496816" y="4480559"/>
            <a:ext cx="1867408" cy="438912"/>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400" b="0" i="0">
                <a:solidFill>
                  <a:srgbClr val="172033"/>
                </a:solidFill>
                <a:latin typeface="Roboto Condensed SemiBold"/>
              </a:rPr>
              <a:t>Mobile app</a:t>
            </a:r>
          </a:p>
        </p:txBody>
      </p:sp>
      <p:sp>
        <p:nvSpPr>
          <p:cNvPr id="20" name="Rounded Rectangle 19"/>
          <p:cNvSpPr/>
          <p:nvPr/>
        </p:nvSpPr>
        <p:spPr>
          <a:xfrm>
            <a:off x="1097280" y="5340096"/>
            <a:ext cx="5486400" cy="914400"/>
          </a:xfrm>
          <a:prstGeom prst="roundRect">
            <a:avLst>
              <a:gd name="adj" fmla="val 2400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71600" y="5340096"/>
            <a:ext cx="3474720" cy="914400"/>
          </a:xfrm>
          <a:prstGeom prst="rect">
            <a:avLst/>
          </a:prstGeom>
          <a:noFill/>
        </p:spPr>
        <p:txBody>
          <a:bodyPr wrap="square" lIns="0" tIns="0" rIns="0" bIns="0" anchor="ctr">
            <a:noAutofit/>
          </a:bodyPr>
          <a:lstStyle/>
          <a:p>
            <a:pPr algn="l">
              <a:lnSpc>
                <a:spcPct val="100000"/>
              </a:lnSpc>
            </a:pPr>
            <a:r>
              <a:rPr sz="2000" b="0" i="0">
                <a:solidFill>
                  <a:srgbClr val="172033"/>
                </a:solidFill>
                <a:latin typeface="Roboto Condensed SemiBold"/>
              </a:rPr>
              <a:t>WAGZAK JUMP</a:t>
            </a:r>
          </a:p>
        </p:txBody>
      </p:sp>
      <p:sp>
        <p:nvSpPr>
          <p:cNvPr id="22" name="Rounded Rectangle 21"/>
          <p:cNvSpPr/>
          <p:nvPr/>
        </p:nvSpPr>
        <p:spPr>
          <a:xfrm>
            <a:off x="4496816" y="5577840"/>
            <a:ext cx="1867408" cy="438912"/>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400" b="0" i="0">
                <a:solidFill>
                  <a:srgbClr val="172033"/>
                </a:solidFill>
                <a:latin typeface="Roboto Condensed SemiBold"/>
              </a:rPr>
              <a:t>Mobile app</a:t>
            </a:r>
          </a:p>
        </p:txBody>
      </p:sp>
      <p:sp>
        <p:nvSpPr>
          <p:cNvPr id="23" name="Rounded Rectangle 22"/>
          <p:cNvSpPr/>
          <p:nvPr/>
        </p:nvSpPr>
        <p:spPr>
          <a:xfrm>
            <a:off x="1097280" y="6437375"/>
            <a:ext cx="5486400" cy="914400"/>
          </a:xfrm>
          <a:prstGeom prst="roundRect">
            <a:avLst>
              <a:gd name="adj" fmla="val 2400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371600" y="6437375"/>
            <a:ext cx="3474720" cy="914400"/>
          </a:xfrm>
          <a:prstGeom prst="rect">
            <a:avLst/>
          </a:prstGeom>
          <a:noFill/>
        </p:spPr>
        <p:txBody>
          <a:bodyPr wrap="square" lIns="0" tIns="0" rIns="0" bIns="0" anchor="ctr">
            <a:noAutofit/>
          </a:bodyPr>
          <a:lstStyle/>
          <a:p>
            <a:pPr algn="l">
              <a:lnSpc>
                <a:spcPct val="100000"/>
              </a:lnSpc>
            </a:pPr>
            <a:r>
              <a:rPr sz="2000" b="0" i="0">
                <a:solidFill>
                  <a:srgbClr val="172033"/>
                </a:solidFill>
                <a:latin typeface="Roboto Condensed SemiBold"/>
              </a:rPr>
              <a:t>teamLab Sketch Aquarium</a:t>
            </a:r>
          </a:p>
        </p:txBody>
      </p:sp>
      <p:sp>
        <p:nvSpPr>
          <p:cNvPr id="25" name="Rounded Rectangle 24"/>
          <p:cNvSpPr/>
          <p:nvPr/>
        </p:nvSpPr>
        <p:spPr>
          <a:xfrm>
            <a:off x="4375912" y="6675119"/>
            <a:ext cx="1988312" cy="438912"/>
          </a:xfrm>
          <a:prstGeom prst="roundRect">
            <a:avLst>
              <a:gd name="adj" fmla="val 50000"/>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400" b="0" i="0">
                <a:solidFill>
                  <a:srgbClr val="172033"/>
                </a:solidFill>
                <a:latin typeface="Roboto Condensed SemiBold"/>
              </a:rPr>
              <a:t>Venue-based</a:t>
            </a:r>
          </a:p>
        </p:txBody>
      </p:sp>
      <p:sp>
        <p:nvSpPr>
          <p:cNvPr id="26" name="Oval 25"/>
          <p:cNvSpPr/>
          <p:nvPr/>
        </p:nvSpPr>
        <p:spPr>
          <a:xfrm>
            <a:off x="7406640" y="2834640"/>
            <a:ext cx="4206240" cy="4206240"/>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A child’s whale in the shared Scanvas ocean, in the browser"/>
          <p:cNvPicPr>
            <a:picLocks noChangeAspect="1"/>
          </p:cNvPicPr>
          <p:nvPr/>
        </p:nvPicPr>
        <p:blipFill>
          <a:blip r:embed="rId3"/>
          <a:stretch>
            <a:fillRect/>
          </a:stretch>
        </p:blipFill>
        <p:spPr>
          <a:xfrm>
            <a:off x="8229600" y="2103120"/>
            <a:ext cx="2973736" cy="5852160"/>
          </a:xfrm>
          <a:prstGeom prst="rect">
            <a:avLst/>
          </a:prstGeom>
        </p:spPr>
      </p:pic>
      <p:sp>
        <p:nvSpPr>
          <p:cNvPr id="28" name="Rounded Rectangle 27"/>
          <p:cNvSpPr/>
          <p:nvPr/>
        </p:nvSpPr>
        <p:spPr>
          <a:xfrm>
            <a:off x="7040880" y="2286000"/>
            <a:ext cx="4803648" cy="47548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FFFFFF"/>
                </a:solidFill>
                <a:latin typeface="Roboto Condensed SemiBold"/>
              </a:rPr>
              <a:t>Child’s artwork is the character</a:t>
            </a:r>
          </a:p>
        </p:txBody>
      </p:sp>
      <p:sp>
        <p:nvSpPr>
          <p:cNvPr id="29" name="Rounded Rectangle 28"/>
          <p:cNvSpPr/>
          <p:nvPr/>
        </p:nvSpPr>
        <p:spPr>
          <a:xfrm>
            <a:off x="9601200" y="4663440"/>
            <a:ext cx="3119628" cy="47548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FFFFFF"/>
                </a:solidFill>
                <a:latin typeface="Roboto Condensed SemiBold"/>
              </a:rPr>
              <a:t>Runs in the browser</a:t>
            </a:r>
          </a:p>
        </p:txBody>
      </p:sp>
      <p:sp>
        <p:nvSpPr>
          <p:cNvPr id="30" name="Rounded Rectangle 29"/>
          <p:cNvSpPr/>
          <p:nvPr/>
        </p:nvSpPr>
        <p:spPr>
          <a:xfrm>
            <a:off x="7040880" y="7040880"/>
            <a:ext cx="2990088" cy="47548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FFFFFF"/>
                </a:solidFill>
                <a:latin typeface="Roboto Condensed SemiBold"/>
              </a:rPr>
              <a:t>Shared ocean world</a:t>
            </a:r>
          </a:p>
        </p:txBody>
      </p:sp>
      <p:sp>
        <p:nvSpPr>
          <p:cNvPr id="31" name="Rounded Rectangle 30"/>
          <p:cNvSpPr/>
          <p:nvPr/>
        </p:nvSpPr>
        <p:spPr>
          <a:xfrm>
            <a:off x="12344400" y="2194560"/>
            <a:ext cx="4846320" cy="5852160"/>
          </a:xfrm>
          <a:prstGeom prst="roundRect">
            <a:avLst>
              <a:gd name="adj" fmla="val 6037"/>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2655296" y="2414016"/>
            <a:ext cx="4389120" cy="365760"/>
          </a:xfrm>
          <a:prstGeom prst="rect">
            <a:avLst/>
          </a:prstGeom>
          <a:noFill/>
        </p:spPr>
        <p:txBody>
          <a:bodyPr wrap="square" lIns="0" tIns="0" rIns="0" bIns="0" anchor="t">
            <a:noAutofit/>
          </a:bodyPr>
          <a:lstStyle/>
          <a:p>
            <a:pPr algn="l"/>
            <a:r>
              <a:rPr sz="1500" b="0" i="0">
                <a:solidFill>
                  <a:srgbClr val="7C3AED"/>
                </a:solidFill>
                <a:latin typeface="Roboto Condensed SemiBold"/>
              </a:rPr>
              <a:t>SCANVAS COMBINES</a:t>
            </a:r>
          </a:p>
        </p:txBody>
      </p:sp>
      <p:pic>
        <p:nvPicPr>
          <p:cNvPr id="33" name="Picture 32" descr="check_purple.png"/>
          <p:cNvPicPr>
            <a:picLocks noChangeAspect="1"/>
          </p:cNvPicPr>
          <p:nvPr/>
        </p:nvPicPr>
        <p:blipFill>
          <a:blip r:embed="rId4"/>
          <a:stretch>
            <a:fillRect/>
          </a:stretch>
        </p:blipFill>
        <p:spPr>
          <a:xfrm>
            <a:off x="12655296" y="3035808"/>
            <a:ext cx="329184" cy="329184"/>
          </a:xfrm>
          <a:prstGeom prst="rect">
            <a:avLst/>
          </a:prstGeom>
        </p:spPr>
      </p:pic>
      <p:sp>
        <p:nvSpPr>
          <p:cNvPr id="34" name="TextBox 33"/>
          <p:cNvSpPr txBox="1"/>
          <p:nvPr/>
        </p:nvSpPr>
        <p:spPr>
          <a:xfrm>
            <a:off x="13094208" y="2962656"/>
            <a:ext cx="3931920" cy="1097280"/>
          </a:xfrm>
          <a:prstGeom prst="rect">
            <a:avLst/>
          </a:prstGeom>
          <a:noFill/>
        </p:spPr>
        <p:txBody>
          <a:bodyPr wrap="square" lIns="0" tIns="0" rIns="0" bIns="0" anchor="t">
            <a:noAutofit/>
          </a:bodyPr>
          <a:lstStyle/>
          <a:p>
            <a:pPr algn="l">
              <a:lnSpc>
                <a:spcPct val="105000"/>
              </a:lnSpc>
            </a:pPr>
            <a:r>
              <a:rPr sz="2000" b="0" i="0">
                <a:solidFill>
                  <a:srgbClr val="172033"/>
                </a:solidFill>
                <a:latin typeface="Roboto Condensed"/>
              </a:rPr>
              <a:t>The child’s artwork as the animated character</a:t>
            </a:r>
          </a:p>
        </p:txBody>
      </p:sp>
      <p:pic>
        <p:nvPicPr>
          <p:cNvPr id="35" name="Picture 34" descr="check_purple.png"/>
          <p:cNvPicPr>
            <a:picLocks noChangeAspect="1"/>
          </p:cNvPicPr>
          <p:nvPr/>
        </p:nvPicPr>
        <p:blipFill>
          <a:blip r:embed="rId4"/>
          <a:stretch>
            <a:fillRect/>
          </a:stretch>
        </p:blipFill>
        <p:spPr>
          <a:xfrm>
            <a:off x="12655296" y="4279392"/>
            <a:ext cx="329184" cy="329184"/>
          </a:xfrm>
          <a:prstGeom prst="rect">
            <a:avLst/>
          </a:prstGeom>
        </p:spPr>
      </p:pic>
      <p:sp>
        <p:nvSpPr>
          <p:cNvPr id="36" name="TextBox 35"/>
          <p:cNvSpPr txBox="1"/>
          <p:nvPr/>
        </p:nvSpPr>
        <p:spPr>
          <a:xfrm>
            <a:off x="13094208" y="4206240"/>
            <a:ext cx="3931920" cy="1097280"/>
          </a:xfrm>
          <a:prstGeom prst="rect">
            <a:avLst/>
          </a:prstGeom>
          <a:noFill/>
        </p:spPr>
        <p:txBody>
          <a:bodyPr wrap="square" lIns="0" tIns="0" rIns="0" bIns="0" anchor="t">
            <a:noAutofit/>
          </a:bodyPr>
          <a:lstStyle/>
          <a:p>
            <a:pPr algn="l">
              <a:lnSpc>
                <a:spcPct val="105000"/>
              </a:lnSpc>
            </a:pPr>
            <a:r>
              <a:rPr sz="2000" b="0" i="0">
                <a:solidFill>
                  <a:srgbClr val="172033"/>
                </a:solidFill>
                <a:latin typeface="Roboto Condensed"/>
              </a:rPr>
              <a:t>Browser access without installing an app</a:t>
            </a:r>
          </a:p>
        </p:txBody>
      </p:sp>
      <p:pic>
        <p:nvPicPr>
          <p:cNvPr id="37" name="Picture 36" descr="check_purple.png"/>
          <p:cNvPicPr>
            <a:picLocks noChangeAspect="1"/>
          </p:cNvPicPr>
          <p:nvPr/>
        </p:nvPicPr>
        <p:blipFill>
          <a:blip r:embed="rId4"/>
          <a:stretch>
            <a:fillRect/>
          </a:stretch>
        </p:blipFill>
        <p:spPr>
          <a:xfrm>
            <a:off x="12655296" y="5522976"/>
            <a:ext cx="329184" cy="329184"/>
          </a:xfrm>
          <a:prstGeom prst="rect">
            <a:avLst/>
          </a:prstGeom>
        </p:spPr>
      </p:pic>
      <p:sp>
        <p:nvSpPr>
          <p:cNvPr id="38" name="TextBox 37"/>
          <p:cNvSpPr txBox="1"/>
          <p:nvPr/>
        </p:nvSpPr>
        <p:spPr>
          <a:xfrm>
            <a:off x="13094208" y="5449824"/>
            <a:ext cx="3931920" cy="1097280"/>
          </a:xfrm>
          <a:prstGeom prst="rect">
            <a:avLst/>
          </a:prstGeom>
          <a:noFill/>
        </p:spPr>
        <p:txBody>
          <a:bodyPr wrap="square" lIns="0" tIns="0" rIns="0" bIns="0" anchor="t">
            <a:noAutofit/>
          </a:bodyPr>
          <a:lstStyle/>
          <a:p>
            <a:pPr algn="l">
              <a:lnSpc>
                <a:spcPct val="105000"/>
              </a:lnSpc>
            </a:pPr>
            <a:r>
              <a:rPr sz="2000" b="0" i="0">
                <a:solidFill>
                  <a:srgbClr val="172033"/>
                </a:solidFill>
                <a:latin typeface="Roboto Condensed"/>
              </a:rPr>
              <a:t>Shared interactive worlds</a:t>
            </a:r>
          </a:p>
        </p:txBody>
      </p:sp>
      <p:pic>
        <p:nvPicPr>
          <p:cNvPr id="39" name="Picture 38" descr="check_purple.png"/>
          <p:cNvPicPr>
            <a:picLocks noChangeAspect="1"/>
          </p:cNvPicPr>
          <p:nvPr/>
        </p:nvPicPr>
        <p:blipFill>
          <a:blip r:embed="rId4"/>
          <a:stretch>
            <a:fillRect/>
          </a:stretch>
        </p:blipFill>
        <p:spPr>
          <a:xfrm>
            <a:off x="12655296" y="6766560"/>
            <a:ext cx="329184" cy="329184"/>
          </a:xfrm>
          <a:prstGeom prst="rect">
            <a:avLst/>
          </a:prstGeom>
        </p:spPr>
      </p:pic>
      <p:sp>
        <p:nvSpPr>
          <p:cNvPr id="40" name="TextBox 39"/>
          <p:cNvSpPr txBox="1"/>
          <p:nvPr/>
        </p:nvSpPr>
        <p:spPr>
          <a:xfrm>
            <a:off x="13094208" y="6693408"/>
            <a:ext cx="3931920" cy="1097280"/>
          </a:xfrm>
          <a:prstGeom prst="rect">
            <a:avLst/>
          </a:prstGeom>
          <a:noFill/>
        </p:spPr>
        <p:txBody>
          <a:bodyPr wrap="square" lIns="0" tIns="0" rIns="0" bIns="0" anchor="t">
            <a:noAutofit/>
          </a:bodyPr>
          <a:lstStyle/>
          <a:p>
            <a:pPr algn="l">
              <a:lnSpc>
                <a:spcPct val="105000"/>
              </a:lnSpc>
            </a:pPr>
            <a:r>
              <a:rPr sz="2000" b="0" i="0">
                <a:solidFill>
                  <a:srgbClr val="172033"/>
                </a:solidFill>
                <a:latin typeface="Roboto Condensed"/>
              </a:rPr>
              <a:t>A reusable engine for additional themes</a:t>
            </a:r>
          </a:p>
        </p:txBody>
      </p:sp>
      <p:sp>
        <p:nvSpPr>
          <p:cNvPr id="41" name="Rounded Rectangle 40"/>
          <p:cNvSpPr/>
          <p:nvPr/>
        </p:nvSpPr>
        <p:spPr>
          <a:xfrm>
            <a:off x="1097280" y="8449056"/>
            <a:ext cx="16093440" cy="91440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97280" y="8449056"/>
            <a:ext cx="16093440" cy="914400"/>
          </a:xfrm>
          <a:prstGeom prst="rect">
            <a:avLst/>
          </a:prstGeom>
          <a:noFill/>
        </p:spPr>
        <p:txBody>
          <a:bodyPr wrap="square" lIns="0" tIns="0" rIns="0" bIns="0" anchor="ctr">
            <a:noAutofit/>
          </a:bodyPr>
          <a:lstStyle/>
          <a:p>
            <a:pPr algn="ctr"/>
            <a:r>
              <a:rPr sz="2400" b="1" i="0">
                <a:solidFill>
                  <a:srgbClr val="92400E"/>
                </a:solidFill>
                <a:latin typeface="Roboto Condensed"/>
              </a:rPr>
              <a:t>Our next test: whether this combination earns paid, repeat use.</a:t>
            </a:r>
          </a:p>
        </p:txBody>
      </p:sp>
      <p:sp>
        <p:nvSpPr>
          <p:cNvPr id="43" name="TextBox 42"/>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COMPETITORS · UNIQUE VALUE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822960"/>
            <a:ext cx="16093440" cy="914400"/>
          </a:xfrm>
          <a:prstGeom prst="rect">
            <a:avLst/>
          </a:prstGeom>
          <a:noFill/>
        </p:spPr>
        <p:txBody>
          <a:bodyPr wrap="square" lIns="0" tIns="0" rIns="0" bIns="0" anchor="t">
            <a:noAutofit/>
          </a:bodyPr>
          <a:lstStyle/>
          <a:p>
            <a:pPr algn="l">
              <a:lnSpc>
                <a:spcPct val="95000"/>
              </a:lnSpc>
            </a:pPr>
            <a:r>
              <a:rPr sz="4800" b="1" i="0">
                <a:solidFill>
                  <a:srgbClr val="172033"/>
                </a:solidFill>
                <a:latin typeface="Roboto Condensed"/>
              </a:rPr>
              <a:t>Paid Sessions First, Family Packs Alongside</a:t>
            </a:r>
          </a:p>
        </p:txBody>
      </p:sp>
      <p:sp>
        <p:nvSpPr>
          <p:cNvPr id="13" name="Rounded Rectangle 12"/>
          <p:cNvSpPr/>
          <p:nvPr/>
        </p:nvSpPr>
        <p:spPr>
          <a:xfrm>
            <a:off x="1097280" y="2103120"/>
            <a:ext cx="16093440" cy="3383280"/>
          </a:xfrm>
          <a:prstGeom prst="roundRect">
            <a:avLst>
              <a:gd name="adj" fmla="val 8648"/>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463040" y="2286000"/>
            <a:ext cx="6583680" cy="402336"/>
          </a:xfrm>
          <a:prstGeom prst="rect">
            <a:avLst/>
          </a:prstGeom>
          <a:noFill/>
        </p:spPr>
        <p:txBody>
          <a:bodyPr wrap="square" lIns="0" tIns="0" rIns="0" bIns="0" anchor="t">
            <a:noAutofit/>
          </a:bodyPr>
          <a:lstStyle/>
          <a:p>
            <a:pPr algn="l"/>
            <a:r>
              <a:rPr sz="1500" b="0" i="0">
                <a:solidFill>
                  <a:srgbClr val="7C3AED"/>
                </a:solidFill>
                <a:latin typeface="Roboto Condensed SemiBold"/>
              </a:rPr>
              <a:t>OFFER</a:t>
            </a:r>
          </a:p>
        </p:txBody>
      </p:sp>
      <p:sp>
        <p:nvSpPr>
          <p:cNvPr id="15" name="TextBox 14"/>
          <p:cNvSpPr txBox="1"/>
          <p:nvPr/>
        </p:nvSpPr>
        <p:spPr>
          <a:xfrm>
            <a:off x="8229600" y="2286000"/>
            <a:ext cx="2926080" cy="402336"/>
          </a:xfrm>
          <a:prstGeom prst="rect">
            <a:avLst/>
          </a:prstGeom>
          <a:noFill/>
        </p:spPr>
        <p:txBody>
          <a:bodyPr wrap="square" lIns="0" tIns="0" rIns="0" bIns="0" anchor="t">
            <a:noAutofit/>
          </a:bodyPr>
          <a:lstStyle/>
          <a:p>
            <a:pPr algn="l"/>
            <a:r>
              <a:rPr sz="1500" b="0" i="0">
                <a:solidFill>
                  <a:srgbClr val="7C3AED"/>
                </a:solidFill>
                <a:latin typeface="Roboto Condensed SemiBold"/>
              </a:rPr>
              <a:t>TEST PRICE</a:t>
            </a:r>
          </a:p>
        </p:txBody>
      </p:sp>
      <p:sp>
        <p:nvSpPr>
          <p:cNvPr id="16" name="TextBox 15"/>
          <p:cNvSpPr txBox="1"/>
          <p:nvPr/>
        </p:nvSpPr>
        <p:spPr>
          <a:xfrm>
            <a:off x="11338560" y="2286000"/>
            <a:ext cx="5486400" cy="402336"/>
          </a:xfrm>
          <a:prstGeom prst="rect">
            <a:avLst/>
          </a:prstGeom>
          <a:noFill/>
        </p:spPr>
        <p:txBody>
          <a:bodyPr wrap="square" lIns="0" tIns="0" rIns="0" bIns="0" anchor="t">
            <a:noAutofit/>
          </a:bodyPr>
          <a:lstStyle/>
          <a:p>
            <a:pPr algn="l"/>
            <a:r>
              <a:rPr sz="1500" b="0" i="0">
                <a:solidFill>
                  <a:srgbClr val="7C3AED"/>
                </a:solidFill>
                <a:latin typeface="Roboto Condensed SemiBold"/>
              </a:rPr>
              <a:t>NEXT VALIDATION</a:t>
            </a:r>
          </a:p>
        </p:txBody>
      </p:sp>
      <p:sp>
        <p:nvSpPr>
          <p:cNvPr id="17" name="Rectangle 16"/>
          <p:cNvSpPr/>
          <p:nvPr/>
        </p:nvSpPr>
        <p:spPr>
          <a:xfrm>
            <a:off x="1371600" y="2761488"/>
            <a:ext cx="1554480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463040" y="3108960"/>
            <a:ext cx="1645920" cy="438912"/>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400" b="0" i="0">
                <a:solidFill>
                  <a:srgbClr val="FFFFFF"/>
                </a:solidFill>
                <a:latin typeface="Roboto Condensed SemiBold"/>
              </a:rPr>
              <a:t>FIRST</a:t>
            </a:r>
          </a:p>
        </p:txBody>
      </p:sp>
      <p:sp>
        <p:nvSpPr>
          <p:cNvPr id="19" name="TextBox 18"/>
          <p:cNvSpPr txBox="1"/>
          <p:nvPr/>
        </p:nvSpPr>
        <p:spPr>
          <a:xfrm>
            <a:off x="3291840" y="2907792"/>
            <a:ext cx="4754880" cy="548640"/>
          </a:xfrm>
          <a:prstGeom prst="rect">
            <a:avLst/>
          </a:prstGeom>
          <a:noFill/>
        </p:spPr>
        <p:txBody>
          <a:bodyPr wrap="square" lIns="0" tIns="0" rIns="0" bIns="0" anchor="ctr">
            <a:noAutofit/>
          </a:bodyPr>
          <a:lstStyle/>
          <a:p>
            <a:pPr algn="l"/>
            <a:r>
              <a:rPr sz="2400" b="1" i="0">
                <a:solidFill>
                  <a:srgbClr val="172033"/>
                </a:solidFill>
                <a:latin typeface="Roboto Condensed"/>
              </a:rPr>
              <a:t>Managed school or event session</a:t>
            </a:r>
          </a:p>
        </p:txBody>
      </p:sp>
      <p:sp>
        <p:nvSpPr>
          <p:cNvPr id="20" name="TextBox 19"/>
          <p:cNvSpPr txBox="1"/>
          <p:nvPr/>
        </p:nvSpPr>
        <p:spPr>
          <a:xfrm>
            <a:off x="3291840" y="3438144"/>
            <a:ext cx="4754880" cy="402336"/>
          </a:xfrm>
          <a:prstGeom prst="rect">
            <a:avLst/>
          </a:prstGeom>
          <a:noFill/>
        </p:spPr>
        <p:txBody>
          <a:bodyPr wrap="square" lIns="0" tIns="0" rIns="0" bIns="0" anchor="ctr">
            <a:noAutofit/>
          </a:bodyPr>
          <a:lstStyle/>
          <a:p>
            <a:pPr algn="l"/>
            <a:r>
              <a:rPr sz="1800" b="0" i="0">
                <a:solidFill>
                  <a:srgbClr val="172033"/>
                </a:solidFill>
                <a:latin typeface="Roboto Condensed"/>
              </a:rPr>
              <a:t>up to 30 children</a:t>
            </a:r>
          </a:p>
        </p:txBody>
      </p:sp>
      <p:sp>
        <p:nvSpPr>
          <p:cNvPr id="21" name="TextBox 20"/>
          <p:cNvSpPr txBox="1"/>
          <p:nvPr/>
        </p:nvSpPr>
        <p:spPr>
          <a:xfrm>
            <a:off x="8229600" y="2907792"/>
            <a:ext cx="2926080" cy="950976"/>
          </a:xfrm>
          <a:prstGeom prst="rect">
            <a:avLst/>
          </a:prstGeom>
          <a:noFill/>
        </p:spPr>
        <p:txBody>
          <a:bodyPr wrap="square" lIns="0" tIns="0" rIns="0" bIns="0" anchor="ctr">
            <a:noAutofit/>
          </a:bodyPr>
          <a:lstStyle/>
          <a:p>
            <a:pPr algn="l"/>
            <a:r>
              <a:rPr sz="3400" b="1" i="0">
                <a:solidFill>
                  <a:srgbClr val="5B21B6"/>
                </a:solidFill>
                <a:latin typeface="Roboto Condensed"/>
              </a:rPr>
              <a:t>Rp1,000,000</a:t>
            </a:r>
          </a:p>
        </p:txBody>
      </p:sp>
      <p:sp>
        <p:nvSpPr>
          <p:cNvPr id="22" name="TextBox 21"/>
          <p:cNvSpPr txBox="1"/>
          <p:nvPr/>
        </p:nvSpPr>
        <p:spPr>
          <a:xfrm>
            <a:off x="11338560" y="2907792"/>
            <a:ext cx="5486400" cy="950976"/>
          </a:xfrm>
          <a:prstGeom prst="rect">
            <a:avLst/>
          </a:prstGeom>
          <a:noFill/>
        </p:spPr>
        <p:txBody>
          <a:bodyPr wrap="square" lIns="0" tIns="0" rIns="0" bIns="0" anchor="ctr">
            <a:noAutofit/>
          </a:bodyPr>
          <a:lstStyle/>
          <a:p>
            <a:pPr algn="l">
              <a:lnSpc>
                <a:spcPct val="105000"/>
              </a:lnSpc>
            </a:pPr>
            <a:r>
              <a:rPr sz="1900" b="0" i="0">
                <a:solidFill>
                  <a:srgbClr val="172033"/>
                </a:solidFill>
                <a:latin typeface="Roboto Condensed"/>
              </a:rPr>
              <a:t>Paid booking · delivery cost · rebooking</a:t>
            </a:r>
          </a:p>
        </p:txBody>
      </p:sp>
      <p:sp>
        <p:nvSpPr>
          <p:cNvPr id="23" name="Rectangle 22"/>
          <p:cNvSpPr/>
          <p:nvPr/>
        </p:nvSpPr>
        <p:spPr>
          <a:xfrm>
            <a:off x="1371600" y="4041648"/>
            <a:ext cx="1554480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463040" y="4389120"/>
            <a:ext cx="1645920" cy="438912"/>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400" b="0" i="0">
                <a:solidFill>
                  <a:srgbClr val="5B21B6"/>
                </a:solidFill>
                <a:latin typeface="Roboto Condensed SemiBold"/>
              </a:rPr>
              <a:t>ALONGSIDE</a:t>
            </a:r>
          </a:p>
        </p:txBody>
      </p:sp>
      <p:sp>
        <p:nvSpPr>
          <p:cNvPr id="25" name="TextBox 24"/>
          <p:cNvSpPr txBox="1"/>
          <p:nvPr/>
        </p:nvSpPr>
        <p:spPr>
          <a:xfrm>
            <a:off x="3291840" y="4187952"/>
            <a:ext cx="4754880" cy="548640"/>
          </a:xfrm>
          <a:prstGeom prst="rect">
            <a:avLst/>
          </a:prstGeom>
          <a:noFill/>
        </p:spPr>
        <p:txBody>
          <a:bodyPr wrap="square" lIns="0" tIns="0" rIns="0" bIns="0" anchor="ctr">
            <a:noAutofit/>
          </a:bodyPr>
          <a:lstStyle/>
          <a:p>
            <a:pPr algn="l"/>
            <a:r>
              <a:rPr sz="2400" b="1" i="0">
                <a:solidFill>
                  <a:srgbClr val="172033"/>
                </a:solidFill>
                <a:latin typeface="Roboto Condensed"/>
              </a:rPr>
              <a:t>Family creative pack</a:t>
            </a:r>
          </a:p>
        </p:txBody>
      </p:sp>
      <p:sp>
        <p:nvSpPr>
          <p:cNvPr id="26" name="TextBox 25"/>
          <p:cNvSpPr txBox="1"/>
          <p:nvPr/>
        </p:nvSpPr>
        <p:spPr>
          <a:xfrm>
            <a:off x="3291840" y="4718304"/>
            <a:ext cx="4754880" cy="402336"/>
          </a:xfrm>
          <a:prstGeom prst="rect">
            <a:avLst/>
          </a:prstGeom>
          <a:noFill/>
        </p:spPr>
        <p:txBody>
          <a:bodyPr wrap="square" lIns="0" tIns="0" rIns="0" bIns="0" anchor="ctr">
            <a:noAutofit/>
          </a:bodyPr>
          <a:lstStyle/>
          <a:p>
            <a:pPr algn="l"/>
            <a:r>
              <a:rPr sz="1800" b="0" i="0">
                <a:solidFill>
                  <a:srgbClr val="172033"/>
                </a:solidFill>
                <a:latin typeface="Roboto Condensed"/>
              </a:rPr>
              <a:t>for use at home</a:t>
            </a:r>
          </a:p>
        </p:txBody>
      </p:sp>
      <p:sp>
        <p:nvSpPr>
          <p:cNvPr id="27" name="TextBox 26"/>
          <p:cNvSpPr txBox="1"/>
          <p:nvPr/>
        </p:nvSpPr>
        <p:spPr>
          <a:xfrm>
            <a:off x="8229600" y="4187952"/>
            <a:ext cx="2926080" cy="950976"/>
          </a:xfrm>
          <a:prstGeom prst="rect">
            <a:avLst/>
          </a:prstGeom>
          <a:noFill/>
        </p:spPr>
        <p:txBody>
          <a:bodyPr wrap="square" lIns="0" tIns="0" rIns="0" bIns="0" anchor="ctr">
            <a:noAutofit/>
          </a:bodyPr>
          <a:lstStyle/>
          <a:p>
            <a:pPr algn="l"/>
            <a:r>
              <a:rPr sz="3400" b="1" i="0">
                <a:solidFill>
                  <a:srgbClr val="5B21B6"/>
                </a:solidFill>
                <a:latin typeface="Roboto Condensed"/>
              </a:rPr>
              <a:t>Rp49,000</a:t>
            </a:r>
          </a:p>
        </p:txBody>
      </p:sp>
      <p:sp>
        <p:nvSpPr>
          <p:cNvPr id="28" name="TextBox 27"/>
          <p:cNvSpPr txBox="1"/>
          <p:nvPr/>
        </p:nvSpPr>
        <p:spPr>
          <a:xfrm>
            <a:off x="11338560" y="4187952"/>
            <a:ext cx="5486400" cy="950976"/>
          </a:xfrm>
          <a:prstGeom prst="rect">
            <a:avLst/>
          </a:prstGeom>
          <a:noFill/>
        </p:spPr>
        <p:txBody>
          <a:bodyPr wrap="square" lIns="0" tIns="0" rIns="0" bIns="0" anchor="ctr">
            <a:noAutofit/>
          </a:bodyPr>
          <a:lstStyle/>
          <a:p>
            <a:pPr algn="l">
              <a:lnSpc>
                <a:spcPct val="105000"/>
              </a:lnSpc>
            </a:pPr>
            <a:r>
              <a:rPr sz="1900" b="0" i="0">
                <a:solidFill>
                  <a:srgbClr val="172033"/>
                </a:solidFill>
                <a:latin typeface="Roboto Condensed"/>
              </a:rPr>
              <a:t>Purchase conversion · contribution margin · repeat purchase</a:t>
            </a:r>
          </a:p>
        </p:txBody>
      </p:sp>
      <p:sp>
        <p:nvSpPr>
          <p:cNvPr id="29" name="Rounded Rectangle 28"/>
          <p:cNvSpPr/>
          <p:nvPr/>
        </p:nvSpPr>
        <p:spPr>
          <a:xfrm>
            <a:off x="1097280" y="5760720"/>
            <a:ext cx="7863840" cy="2596896"/>
          </a:xfrm>
          <a:prstGeom prst="roundRect">
            <a:avLst>
              <a:gd name="adj" fmla="val 11267"/>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1389888" y="5980176"/>
            <a:ext cx="694944" cy="694944"/>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school_purple.png"/>
          <p:cNvPicPr>
            <a:picLocks noChangeAspect="1"/>
          </p:cNvPicPr>
          <p:nvPr/>
        </p:nvPicPr>
        <p:blipFill>
          <a:blip r:embed="rId3"/>
          <a:stretch>
            <a:fillRect/>
          </a:stretch>
        </p:blipFill>
        <p:spPr>
          <a:xfrm>
            <a:off x="1556674" y="6146962"/>
            <a:ext cx="361370" cy="361370"/>
          </a:xfrm>
          <a:prstGeom prst="rect">
            <a:avLst/>
          </a:prstGeom>
        </p:spPr>
      </p:pic>
      <p:sp>
        <p:nvSpPr>
          <p:cNvPr id="32" name="TextBox 31"/>
          <p:cNvSpPr txBox="1"/>
          <p:nvPr/>
        </p:nvSpPr>
        <p:spPr>
          <a:xfrm>
            <a:off x="2267712" y="5980176"/>
            <a:ext cx="6400800" cy="694944"/>
          </a:xfrm>
          <a:prstGeom prst="rect">
            <a:avLst/>
          </a:prstGeom>
          <a:noFill/>
        </p:spPr>
        <p:txBody>
          <a:bodyPr wrap="square" lIns="0" tIns="0" rIns="0" bIns="0" anchor="ctr">
            <a:noAutofit/>
          </a:bodyPr>
          <a:lstStyle/>
          <a:p>
            <a:pPr algn="l"/>
            <a:r>
              <a:rPr sz="2400" b="1" i="0">
                <a:solidFill>
                  <a:srgbClr val="172033"/>
                </a:solidFill>
                <a:latin typeface="Roboto Condensed"/>
              </a:rPr>
              <a:t>Institutional acquisition</a:t>
            </a:r>
          </a:p>
        </p:txBody>
      </p:sp>
      <p:sp>
        <p:nvSpPr>
          <p:cNvPr id="33" name="Rounded Rectangle 32"/>
          <p:cNvSpPr/>
          <p:nvPr/>
        </p:nvSpPr>
        <p:spPr>
          <a:xfrm>
            <a:off x="1353312" y="6876288"/>
            <a:ext cx="7351775" cy="54864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353312" y="6876288"/>
            <a:ext cx="7351775" cy="548640"/>
          </a:xfrm>
          <a:prstGeom prst="rect">
            <a:avLst/>
          </a:prstGeom>
          <a:noFill/>
        </p:spPr>
        <p:txBody>
          <a:bodyPr wrap="square" lIns="0" tIns="0" rIns="0" bIns="0" anchor="ctr">
            <a:noAutofit/>
          </a:bodyPr>
          <a:lstStyle/>
          <a:p>
            <a:pPr algn="ctr"/>
            <a:r>
              <a:rPr sz="1500" b="0" i="0">
                <a:solidFill>
                  <a:srgbClr val="5B21B6"/>
                </a:solidFill>
                <a:latin typeface="Roboto Condensed SemiBold"/>
              </a:rPr>
              <a:t>DIRECT OUTREACH </a:t>
            </a:r>
            <a:r>
              <a:rPr sz="1500" b="0" i="0">
                <a:solidFill>
                  <a:srgbClr val="5B21B6"/>
                </a:solidFill>
                <a:latin typeface="Segoe UI"/>
              </a:rPr>
              <a:t>→</a:t>
            </a:r>
            <a:r>
              <a:rPr sz="1500" b="0" i="0">
                <a:solidFill>
                  <a:srgbClr val="5B21B6"/>
                </a:solidFill>
                <a:latin typeface="Roboto Condensed SemiBold"/>
              </a:rPr>
              <a:t> DEMONSTRATION </a:t>
            </a:r>
            <a:r>
              <a:rPr sz="1500" b="0" i="0">
                <a:solidFill>
                  <a:srgbClr val="5B21B6"/>
                </a:solidFill>
                <a:latin typeface="Segoe UI"/>
              </a:rPr>
              <a:t>→</a:t>
            </a:r>
            <a:r>
              <a:rPr sz="1500" b="0" i="0">
                <a:solidFill>
                  <a:srgbClr val="5B21B6"/>
                </a:solidFill>
                <a:latin typeface="Roboto Condensed SemiBold"/>
              </a:rPr>
              <a:t> FIRST PAID SESSION </a:t>
            </a:r>
            <a:r>
              <a:rPr sz="1500" b="0" i="0">
                <a:solidFill>
                  <a:srgbClr val="5B21B6"/>
                </a:solidFill>
                <a:latin typeface="Segoe UI"/>
              </a:rPr>
              <a:t>→</a:t>
            </a:r>
            <a:r>
              <a:rPr sz="1500" b="0" i="0">
                <a:solidFill>
                  <a:srgbClr val="5B21B6"/>
                </a:solidFill>
                <a:latin typeface="Roboto Condensed SemiBold"/>
              </a:rPr>
              <a:t> REBOOKING</a:t>
            </a:r>
          </a:p>
        </p:txBody>
      </p:sp>
      <p:sp>
        <p:nvSpPr>
          <p:cNvPr id="35" name="TextBox 34"/>
          <p:cNvSpPr txBox="1"/>
          <p:nvPr/>
        </p:nvSpPr>
        <p:spPr>
          <a:xfrm>
            <a:off x="1426464" y="7571231"/>
            <a:ext cx="7223760" cy="694944"/>
          </a:xfrm>
          <a:prstGeom prst="rect">
            <a:avLst/>
          </a:prstGeom>
          <a:noFill/>
        </p:spPr>
        <p:txBody>
          <a:bodyPr wrap="square" lIns="0" tIns="0" rIns="0" bIns="0" anchor="t">
            <a:noAutofit/>
          </a:bodyPr>
          <a:lstStyle/>
          <a:p>
            <a:pPr algn="l">
              <a:lnSpc>
                <a:spcPct val="105000"/>
              </a:lnSpc>
            </a:pPr>
            <a:r>
              <a:rPr sz="1800" b="0" i="0">
                <a:solidFill>
                  <a:srgbClr val="172033"/>
                </a:solidFill>
                <a:latin typeface="Roboto Condensed"/>
              </a:rPr>
              <a:t>Session feedback and follow-up offers support rebooking.</a:t>
            </a:r>
          </a:p>
        </p:txBody>
      </p:sp>
      <p:sp>
        <p:nvSpPr>
          <p:cNvPr id="36" name="Rounded Rectangle 35"/>
          <p:cNvSpPr/>
          <p:nvPr/>
        </p:nvSpPr>
        <p:spPr>
          <a:xfrm>
            <a:off x="9326880" y="5760720"/>
            <a:ext cx="7863840" cy="2596896"/>
          </a:xfrm>
          <a:prstGeom prst="roundRect">
            <a:avLst>
              <a:gd name="adj" fmla="val 11267"/>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9619488" y="5980176"/>
            <a:ext cx="694944" cy="694944"/>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users_purple.png"/>
          <p:cNvPicPr>
            <a:picLocks noChangeAspect="1"/>
          </p:cNvPicPr>
          <p:nvPr/>
        </p:nvPicPr>
        <p:blipFill>
          <a:blip r:embed="rId4"/>
          <a:stretch>
            <a:fillRect/>
          </a:stretch>
        </p:blipFill>
        <p:spPr>
          <a:xfrm>
            <a:off x="9786274" y="6146962"/>
            <a:ext cx="361370" cy="361370"/>
          </a:xfrm>
          <a:prstGeom prst="rect">
            <a:avLst/>
          </a:prstGeom>
        </p:spPr>
      </p:pic>
      <p:sp>
        <p:nvSpPr>
          <p:cNvPr id="39" name="TextBox 38"/>
          <p:cNvSpPr txBox="1"/>
          <p:nvPr/>
        </p:nvSpPr>
        <p:spPr>
          <a:xfrm>
            <a:off x="10497311" y="5980176"/>
            <a:ext cx="6400800" cy="694944"/>
          </a:xfrm>
          <a:prstGeom prst="rect">
            <a:avLst/>
          </a:prstGeom>
          <a:noFill/>
        </p:spPr>
        <p:txBody>
          <a:bodyPr wrap="square" lIns="0" tIns="0" rIns="0" bIns="0" anchor="ctr">
            <a:noAutofit/>
          </a:bodyPr>
          <a:lstStyle/>
          <a:p>
            <a:pPr algn="l"/>
            <a:r>
              <a:rPr sz="2400" b="1" i="0">
                <a:solidFill>
                  <a:srgbClr val="172033"/>
                </a:solidFill>
                <a:latin typeface="Roboto Condensed"/>
              </a:rPr>
              <a:t>Family acquisition</a:t>
            </a:r>
          </a:p>
        </p:txBody>
      </p:sp>
      <p:sp>
        <p:nvSpPr>
          <p:cNvPr id="40" name="Rounded Rectangle 39"/>
          <p:cNvSpPr/>
          <p:nvPr/>
        </p:nvSpPr>
        <p:spPr>
          <a:xfrm>
            <a:off x="9582911" y="6876288"/>
            <a:ext cx="7351775" cy="548640"/>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582911" y="6876288"/>
            <a:ext cx="7351775" cy="548640"/>
          </a:xfrm>
          <a:prstGeom prst="rect">
            <a:avLst/>
          </a:prstGeom>
          <a:noFill/>
        </p:spPr>
        <p:txBody>
          <a:bodyPr wrap="square" lIns="0" tIns="0" rIns="0" bIns="0" anchor="ctr">
            <a:noAutofit/>
          </a:bodyPr>
          <a:lstStyle/>
          <a:p>
            <a:pPr algn="ctr"/>
            <a:r>
              <a:rPr sz="1500" b="0" i="0">
                <a:solidFill>
                  <a:srgbClr val="5B21B6"/>
                </a:solidFill>
                <a:latin typeface="Roboto Condensed SemiBold"/>
              </a:rPr>
              <a:t>SHORT PRODUCT VIDEOS </a:t>
            </a:r>
            <a:r>
              <a:rPr sz="1500" b="0" i="0">
                <a:solidFill>
                  <a:srgbClr val="5B21B6"/>
                </a:solidFill>
                <a:latin typeface="Segoe UI"/>
              </a:rPr>
              <a:t>→</a:t>
            </a:r>
            <a:r>
              <a:rPr sz="1500" b="0" i="0">
                <a:solidFill>
                  <a:srgbClr val="5B21B6"/>
                </a:solidFill>
                <a:latin typeface="Roboto Condensed SemiBold"/>
              </a:rPr>
              <a:t> FREE TRIAL </a:t>
            </a:r>
            <a:r>
              <a:rPr sz="1500" b="0" i="0">
                <a:solidFill>
                  <a:srgbClr val="5B21B6"/>
                </a:solidFill>
                <a:latin typeface="Segoe UI"/>
              </a:rPr>
              <a:t>→</a:t>
            </a:r>
            <a:r>
              <a:rPr sz="1500" b="0" i="0">
                <a:solidFill>
                  <a:srgbClr val="5B21B6"/>
                </a:solidFill>
                <a:latin typeface="Roboto Condensed SemiBold"/>
              </a:rPr>
              <a:t> PACK ORDER VIA WHATSAPP</a:t>
            </a:r>
          </a:p>
        </p:txBody>
      </p:sp>
      <p:sp>
        <p:nvSpPr>
          <p:cNvPr id="42" name="TextBox 41"/>
          <p:cNvSpPr txBox="1"/>
          <p:nvPr/>
        </p:nvSpPr>
        <p:spPr>
          <a:xfrm>
            <a:off x="9656063" y="7571231"/>
            <a:ext cx="7223760" cy="694944"/>
          </a:xfrm>
          <a:prstGeom prst="rect">
            <a:avLst/>
          </a:prstGeom>
          <a:noFill/>
        </p:spPr>
        <p:txBody>
          <a:bodyPr wrap="square" lIns="0" tIns="0" rIns="0" bIns="0" anchor="t">
            <a:noAutofit/>
          </a:bodyPr>
          <a:lstStyle/>
          <a:p>
            <a:pPr algn="l">
              <a:lnSpc>
                <a:spcPct val="105000"/>
              </a:lnSpc>
            </a:pPr>
            <a:r>
              <a:rPr sz="1800" b="0" i="0">
                <a:solidFill>
                  <a:srgbClr val="172033"/>
                </a:solidFill>
                <a:latin typeface="Roboto Condensed"/>
              </a:rPr>
              <a:t>Short videos introduce the experience; the free trial leads to ordering.</a:t>
            </a:r>
          </a:p>
        </p:txBody>
      </p:sp>
      <p:sp>
        <p:nvSpPr>
          <p:cNvPr id="43" name="Rounded Rectangle 42"/>
          <p:cNvSpPr/>
          <p:nvPr/>
        </p:nvSpPr>
        <p:spPr>
          <a:xfrm>
            <a:off x="1097280" y="8595360"/>
            <a:ext cx="16093440" cy="768096"/>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flask-conical_yellow.png"/>
          <p:cNvPicPr>
            <a:picLocks noChangeAspect="1"/>
          </p:cNvPicPr>
          <p:nvPr/>
        </p:nvPicPr>
        <p:blipFill>
          <a:blip r:embed="rId5"/>
          <a:stretch>
            <a:fillRect/>
          </a:stretch>
        </p:blipFill>
        <p:spPr>
          <a:xfrm>
            <a:off x="5212080" y="8778240"/>
            <a:ext cx="402336" cy="402336"/>
          </a:xfrm>
          <a:prstGeom prst="rect">
            <a:avLst/>
          </a:prstGeom>
        </p:spPr>
      </p:pic>
      <p:sp>
        <p:nvSpPr>
          <p:cNvPr id="45" name="TextBox 44"/>
          <p:cNvSpPr txBox="1"/>
          <p:nvPr/>
        </p:nvSpPr>
        <p:spPr>
          <a:xfrm>
            <a:off x="5760720" y="8595360"/>
            <a:ext cx="9144000" cy="768096"/>
          </a:xfrm>
          <a:prstGeom prst="rect">
            <a:avLst/>
          </a:prstGeom>
          <a:noFill/>
        </p:spPr>
        <p:txBody>
          <a:bodyPr wrap="square" lIns="0" tIns="0" rIns="0" bIns="0" anchor="ctr">
            <a:noAutofit/>
          </a:bodyPr>
          <a:lstStyle/>
          <a:p>
            <a:pPr algn="l"/>
            <a:r>
              <a:rPr sz="2200" b="1" i="0">
                <a:solidFill>
                  <a:srgbClr val="92400E"/>
                </a:solidFill>
                <a:latin typeface="Roboto Condensed"/>
              </a:rPr>
              <a:t>Both prices are assumptions for commercial testing.</a:t>
            </a:r>
          </a:p>
        </p:txBody>
      </p:sp>
      <p:sp>
        <p:nvSpPr>
          <p:cNvPr id="46" name="TextBox 45"/>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BUSINESS OR REVENUE MODEL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822960"/>
            <a:ext cx="12435840" cy="914400"/>
          </a:xfrm>
          <a:prstGeom prst="rect">
            <a:avLst/>
          </a:prstGeom>
          <a:noFill/>
        </p:spPr>
        <p:txBody>
          <a:bodyPr wrap="square" lIns="0" tIns="0" rIns="0" bIns="0" anchor="t">
            <a:noAutofit/>
          </a:bodyPr>
          <a:lstStyle/>
          <a:p>
            <a:pPr algn="l">
              <a:lnSpc>
                <a:spcPct val="95000"/>
              </a:lnSpc>
            </a:pPr>
            <a:r>
              <a:rPr sz="4400" b="1" i="0">
                <a:solidFill>
                  <a:srgbClr val="172033"/>
                </a:solidFill>
                <a:latin typeface="Roboto Condensed"/>
              </a:rPr>
              <a:t>Two Founders Cover Business and Product</a:t>
            </a:r>
          </a:p>
        </p:txBody>
      </p:sp>
      <p:sp>
        <p:nvSpPr>
          <p:cNvPr id="13" name="Rounded Rectangle 12"/>
          <p:cNvSpPr/>
          <p:nvPr/>
        </p:nvSpPr>
        <p:spPr>
          <a:xfrm>
            <a:off x="13441680" y="1097280"/>
            <a:ext cx="3749039" cy="51206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618865" tIns="0" rIns="182880" bIns="0" rtlCol="0" anchor="ctr">
            <a:noAutofit/>
          </a:bodyPr>
          <a:lstStyle/>
          <a:p>
            <a:pPr algn="l"/>
            <a:r>
              <a:rPr sz="1600" b="0" i="0">
                <a:solidFill>
                  <a:srgbClr val="5B21B6"/>
                </a:solidFill>
                <a:latin typeface="Roboto Condensed SemiBold"/>
              </a:rPr>
              <a:t>Equity: Haikal 60% · Salsabila 40%</a:t>
            </a:r>
          </a:p>
        </p:txBody>
      </p:sp>
      <p:pic>
        <p:nvPicPr>
          <p:cNvPr id="14" name="Picture 13" descr="users_purple.png"/>
          <p:cNvPicPr>
            <a:picLocks noChangeAspect="1"/>
          </p:cNvPicPr>
          <p:nvPr/>
        </p:nvPicPr>
        <p:blipFill>
          <a:blip r:embed="rId3"/>
          <a:stretch>
            <a:fillRect/>
          </a:stretch>
        </p:blipFill>
        <p:spPr>
          <a:xfrm>
            <a:off x="13661136" y="1194572"/>
            <a:ext cx="317479" cy="317479"/>
          </a:xfrm>
          <a:prstGeom prst="rect">
            <a:avLst/>
          </a:prstGeom>
        </p:spPr>
      </p:pic>
      <p:sp>
        <p:nvSpPr>
          <p:cNvPr id="15" name="Rounded Rectangle 14"/>
          <p:cNvSpPr/>
          <p:nvPr/>
        </p:nvSpPr>
        <p:spPr>
          <a:xfrm>
            <a:off x="1097280" y="2103120"/>
            <a:ext cx="7863840" cy="4297680"/>
          </a:xfrm>
          <a:prstGeom prst="roundRect">
            <a:avLst>
              <a:gd name="adj" fmla="val 7659"/>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Haikal Hilmi"/>
          <p:cNvPicPr>
            <a:picLocks noChangeAspect="1"/>
          </p:cNvPicPr>
          <p:nvPr/>
        </p:nvPicPr>
        <p:blipFill>
          <a:blip r:embed="rId4"/>
          <a:stretch>
            <a:fillRect/>
          </a:stretch>
        </p:blipFill>
        <p:spPr>
          <a:xfrm>
            <a:off x="1499616" y="2468879"/>
            <a:ext cx="3344659" cy="3566160"/>
          </a:xfrm>
          <a:prstGeom prst="rect">
            <a:avLst/>
          </a:prstGeom>
        </p:spPr>
      </p:pic>
      <p:sp>
        <p:nvSpPr>
          <p:cNvPr id="17" name="TextBox 16"/>
          <p:cNvSpPr txBox="1"/>
          <p:nvPr/>
        </p:nvSpPr>
        <p:spPr>
          <a:xfrm>
            <a:off x="5303520" y="2468879"/>
            <a:ext cx="3474720" cy="1024128"/>
          </a:xfrm>
          <a:prstGeom prst="rect">
            <a:avLst/>
          </a:prstGeom>
          <a:noFill/>
        </p:spPr>
        <p:txBody>
          <a:bodyPr wrap="square" lIns="0" tIns="0" rIns="0" bIns="0" anchor="t">
            <a:noAutofit/>
          </a:bodyPr>
          <a:lstStyle/>
          <a:p>
            <a:pPr algn="l">
              <a:lnSpc>
                <a:spcPct val="95000"/>
              </a:lnSpc>
            </a:pPr>
            <a:r>
              <a:rPr sz="2800" b="1" i="0">
                <a:solidFill>
                  <a:srgbClr val="172033"/>
                </a:solidFill>
                <a:latin typeface="Roboto Condensed"/>
              </a:rPr>
              <a:t>Haikal Hilmi</a:t>
            </a:r>
          </a:p>
        </p:txBody>
      </p:sp>
      <p:sp>
        <p:nvSpPr>
          <p:cNvPr id="18" name="Rounded Rectangle 17"/>
          <p:cNvSpPr/>
          <p:nvPr/>
        </p:nvSpPr>
        <p:spPr>
          <a:xfrm>
            <a:off x="5303520" y="3566160"/>
            <a:ext cx="2731008" cy="47548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5B21B6"/>
                </a:solidFill>
                <a:latin typeface="Roboto Condensed SemiBold"/>
              </a:rPr>
              <a:t>CEO &amp; Co-Founder</a:t>
            </a:r>
          </a:p>
        </p:txBody>
      </p:sp>
      <p:pic>
        <p:nvPicPr>
          <p:cNvPr id="19" name="Picture 18" descr="check_purple.png"/>
          <p:cNvPicPr>
            <a:picLocks noChangeAspect="1"/>
          </p:cNvPicPr>
          <p:nvPr/>
        </p:nvPicPr>
        <p:blipFill>
          <a:blip r:embed="rId5"/>
          <a:stretch>
            <a:fillRect/>
          </a:stretch>
        </p:blipFill>
        <p:spPr>
          <a:xfrm>
            <a:off x="5303520" y="4407407"/>
            <a:ext cx="274320" cy="274320"/>
          </a:xfrm>
          <a:prstGeom prst="rect">
            <a:avLst/>
          </a:prstGeom>
        </p:spPr>
      </p:pic>
      <p:sp>
        <p:nvSpPr>
          <p:cNvPr id="20" name="TextBox 19"/>
          <p:cNvSpPr txBox="1"/>
          <p:nvPr/>
        </p:nvSpPr>
        <p:spPr>
          <a:xfrm>
            <a:off x="5705856" y="4297679"/>
            <a:ext cx="3200400" cy="512064"/>
          </a:xfrm>
          <a:prstGeom prst="rect">
            <a:avLst/>
          </a:prstGeom>
          <a:noFill/>
        </p:spPr>
        <p:txBody>
          <a:bodyPr wrap="square" lIns="0" tIns="0" rIns="0" bIns="0" anchor="ctr">
            <a:noAutofit/>
          </a:bodyPr>
          <a:lstStyle/>
          <a:p>
            <a:pPr algn="l"/>
            <a:r>
              <a:rPr sz="1900" b="0" i="0">
                <a:solidFill>
                  <a:srgbClr val="172033"/>
                </a:solidFill>
                <a:latin typeface="Roboto Condensed"/>
              </a:rPr>
              <a:t>Product and engineering</a:t>
            </a:r>
          </a:p>
        </p:txBody>
      </p:sp>
      <p:pic>
        <p:nvPicPr>
          <p:cNvPr id="21" name="Picture 20" descr="check_purple.png"/>
          <p:cNvPicPr>
            <a:picLocks noChangeAspect="1"/>
          </p:cNvPicPr>
          <p:nvPr/>
        </p:nvPicPr>
        <p:blipFill>
          <a:blip r:embed="rId5"/>
          <a:stretch>
            <a:fillRect/>
          </a:stretch>
        </p:blipFill>
        <p:spPr>
          <a:xfrm>
            <a:off x="5303520" y="4956047"/>
            <a:ext cx="274320" cy="274320"/>
          </a:xfrm>
          <a:prstGeom prst="rect">
            <a:avLst/>
          </a:prstGeom>
        </p:spPr>
      </p:pic>
      <p:sp>
        <p:nvSpPr>
          <p:cNvPr id="22" name="TextBox 21"/>
          <p:cNvSpPr txBox="1"/>
          <p:nvPr/>
        </p:nvSpPr>
        <p:spPr>
          <a:xfrm>
            <a:off x="5705856" y="4846319"/>
            <a:ext cx="3200400" cy="512064"/>
          </a:xfrm>
          <a:prstGeom prst="rect">
            <a:avLst/>
          </a:prstGeom>
          <a:noFill/>
        </p:spPr>
        <p:txBody>
          <a:bodyPr wrap="square" lIns="0" tIns="0" rIns="0" bIns="0" anchor="ctr">
            <a:noAutofit/>
          </a:bodyPr>
          <a:lstStyle/>
          <a:p>
            <a:pPr algn="l"/>
            <a:r>
              <a:rPr sz="1900" b="0" i="0">
                <a:solidFill>
                  <a:srgbClr val="172033"/>
                </a:solidFill>
                <a:latin typeface="Roboto Condensed"/>
              </a:rPr>
              <a:t>Computer-vision scanning</a:t>
            </a:r>
          </a:p>
        </p:txBody>
      </p:sp>
      <p:pic>
        <p:nvPicPr>
          <p:cNvPr id="23" name="Picture 22" descr="check_purple.png"/>
          <p:cNvPicPr>
            <a:picLocks noChangeAspect="1"/>
          </p:cNvPicPr>
          <p:nvPr/>
        </p:nvPicPr>
        <p:blipFill>
          <a:blip r:embed="rId5"/>
          <a:stretch>
            <a:fillRect/>
          </a:stretch>
        </p:blipFill>
        <p:spPr>
          <a:xfrm>
            <a:off x="5303520" y="5504688"/>
            <a:ext cx="274320" cy="274320"/>
          </a:xfrm>
          <a:prstGeom prst="rect">
            <a:avLst/>
          </a:prstGeom>
        </p:spPr>
      </p:pic>
      <p:sp>
        <p:nvSpPr>
          <p:cNvPr id="24" name="TextBox 23"/>
          <p:cNvSpPr txBox="1"/>
          <p:nvPr/>
        </p:nvSpPr>
        <p:spPr>
          <a:xfrm>
            <a:off x="5705856" y="5394959"/>
            <a:ext cx="3200400" cy="512064"/>
          </a:xfrm>
          <a:prstGeom prst="rect">
            <a:avLst/>
          </a:prstGeom>
          <a:noFill/>
        </p:spPr>
        <p:txBody>
          <a:bodyPr wrap="square" lIns="0" tIns="0" rIns="0" bIns="0" anchor="ctr">
            <a:noAutofit/>
          </a:bodyPr>
          <a:lstStyle/>
          <a:p>
            <a:pPr algn="l"/>
            <a:r>
              <a:rPr sz="1900" b="0" i="0">
                <a:solidFill>
                  <a:srgbClr val="172033"/>
                </a:solidFill>
                <a:latin typeface="Roboto Condensed"/>
              </a:rPr>
              <a:t>Interactive web platform</a:t>
            </a:r>
          </a:p>
        </p:txBody>
      </p:sp>
      <p:sp>
        <p:nvSpPr>
          <p:cNvPr id="25" name="Rounded Rectangle 24"/>
          <p:cNvSpPr/>
          <p:nvPr/>
        </p:nvSpPr>
        <p:spPr>
          <a:xfrm>
            <a:off x="9326880" y="2103120"/>
            <a:ext cx="7863840" cy="4297680"/>
          </a:xfrm>
          <a:prstGeom prst="roundRect">
            <a:avLst>
              <a:gd name="adj" fmla="val 7659"/>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Salsabila Khoirunnisa"/>
          <p:cNvPicPr>
            <a:picLocks noChangeAspect="1"/>
          </p:cNvPicPr>
          <p:nvPr/>
        </p:nvPicPr>
        <p:blipFill>
          <a:blip r:embed="rId6"/>
          <a:stretch>
            <a:fillRect/>
          </a:stretch>
        </p:blipFill>
        <p:spPr>
          <a:xfrm>
            <a:off x="9729215" y="2468879"/>
            <a:ext cx="3159833" cy="3566160"/>
          </a:xfrm>
          <a:prstGeom prst="rect">
            <a:avLst/>
          </a:prstGeom>
        </p:spPr>
      </p:pic>
      <p:sp>
        <p:nvSpPr>
          <p:cNvPr id="27" name="TextBox 26"/>
          <p:cNvSpPr txBox="1"/>
          <p:nvPr/>
        </p:nvSpPr>
        <p:spPr>
          <a:xfrm>
            <a:off x="13533119" y="2468879"/>
            <a:ext cx="3474720" cy="1024128"/>
          </a:xfrm>
          <a:prstGeom prst="rect">
            <a:avLst/>
          </a:prstGeom>
          <a:noFill/>
        </p:spPr>
        <p:txBody>
          <a:bodyPr wrap="square" lIns="0" tIns="0" rIns="0" bIns="0" anchor="t">
            <a:noAutofit/>
          </a:bodyPr>
          <a:lstStyle/>
          <a:p>
            <a:pPr algn="l">
              <a:lnSpc>
                <a:spcPct val="95000"/>
              </a:lnSpc>
            </a:pPr>
            <a:r>
              <a:rPr sz="2800" b="1" i="0">
                <a:solidFill>
                  <a:srgbClr val="172033"/>
                </a:solidFill>
                <a:latin typeface="Roboto Condensed"/>
              </a:rPr>
              <a:t>Salsabila Khoirunnisa</a:t>
            </a:r>
          </a:p>
        </p:txBody>
      </p:sp>
      <p:sp>
        <p:nvSpPr>
          <p:cNvPr id="28" name="Rounded Rectangle 27"/>
          <p:cNvSpPr/>
          <p:nvPr/>
        </p:nvSpPr>
        <p:spPr>
          <a:xfrm>
            <a:off x="13533119" y="3566160"/>
            <a:ext cx="2731008" cy="47548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5B21B6"/>
                </a:solidFill>
                <a:latin typeface="Roboto Condensed SemiBold"/>
              </a:rPr>
              <a:t>CMO &amp; Co-Founder</a:t>
            </a:r>
          </a:p>
        </p:txBody>
      </p:sp>
      <p:pic>
        <p:nvPicPr>
          <p:cNvPr id="29" name="Picture 28" descr="check_purple.png"/>
          <p:cNvPicPr>
            <a:picLocks noChangeAspect="1"/>
          </p:cNvPicPr>
          <p:nvPr/>
        </p:nvPicPr>
        <p:blipFill>
          <a:blip r:embed="rId5"/>
          <a:stretch>
            <a:fillRect/>
          </a:stretch>
        </p:blipFill>
        <p:spPr>
          <a:xfrm>
            <a:off x="13533119" y="4407407"/>
            <a:ext cx="274320" cy="274320"/>
          </a:xfrm>
          <a:prstGeom prst="rect">
            <a:avLst/>
          </a:prstGeom>
        </p:spPr>
      </p:pic>
      <p:sp>
        <p:nvSpPr>
          <p:cNvPr id="30" name="TextBox 29"/>
          <p:cNvSpPr txBox="1"/>
          <p:nvPr/>
        </p:nvSpPr>
        <p:spPr>
          <a:xfrm>
            <a:off x="13935455" y="4297679"/>
            <a:ext cx="3200400" cy="512064"/>
          </a:xfrm>
          <a:prstGeom prst="rect">
            <a:avLst/>
          </a:prstGeom>
          <a:noFill/>
        </p:spPr>
        <p:txBody>
          <a:bodyPr wrap="square" lIns="0" tIns="0" rIns="0" bIns="0" anchor="ctr">
            <a:noAutofit/>
          </a:bodyPr>
          <a:lstStyle/>
          <a:p>
            <a:pPr algn="l"/>
            <a:r>
              <a:rPr sz="1900" b="0" i="0">
                <a:solidFill>
                  <a:srgbClr val="172033"/>
                </a:solidFill>
                <a:latin typeface="Roboto Condensed"/>
              </a:rPr>
              <a:t>Customer discovery</a:t>
            </a:r>
          </a:p>
        </p:txBody>
      </p:sp>
      <p:pic>
        <p:nvPicPr>
          <p:cNvPr id="31" name="Picture 30" descr="check_purple.png"/>
          <p:cNvPicPr>
            <a:picLocks noChangeAspect="1"/>
          </p:cNvPicPr>
          <p:nvPr/>
        </p:nvPicPr>
        <p:blipFill>
          <a:blip r:embed="rId5"/>
          <a:stretch>
            <a:fillRect/>
          </a:stretch>
        </p:blipFill>
        <p:spPr>
          <a:xfrm>
            <a:off x="13533119" y="4956047"/>
            <a:ext cx="274320" cy="274320"/>
          </a:xfrm>
          <a:prstGeom prst="rect">
            <a:avLst/>
          </a:prstGeom>
        </p:spPr>
      </p:pic>
      <p:sp>
        <p:nvSpPr>
          <p:cNvPr id="32" name="TextBox 31"/>
          <p:cNvSpPr txBox="1"/>
          <p:nvPr/>
        </p:nvSpPr>
        <p:spPr>
          <a:xfrm>
            <a:off x="13935455" y="4846319"/>
            <a:ext cx="3200400" cy="512064"/>
          </a:xfrm>
          <a:prstGeom prst="rect">
            <a:avLst/>
          </a:prstGeom>
          <a:noFill/>
        </p:spPr>
        <p:txBody>
          <a:bodyPr wrap="square" lIns="0" tIns="0" rIns="0" bIns="0" anchor="ctr">
            <a:noAutofit/>
          </a:bodyPr>
          <a:lstStyle/>
          <a:p>
            <a:pPr algn="l"/>
            <a:r>
              <a:rPr sz="1900" b="0" i="0">
                <a:solidFill>
                  <a:srgbClr val="172033"/>
                </a:solidFill>
                <a:latin typeface="Roboto Condensed"/>
              </a:rPr>
              <a:t>Institutional partnerships</a:t>
            </a:r>
          </a:p>
        </p:txBody>
      </p:sp>
      <p:pic>
        <p:nvPicPr>
          <p:cNvPr id="33" name="Picture 32" descr="check_purple.png"/>
          <p:cNvPicPr>
            <a:picLocks noChangeAspect="1"/>
          </p:cNvPicPr>
          <p:nvPr/>
        </p:nvPicPr>
        <p:blipFill>
          <a:blip r:embed="rId5"/>
          <a:stretch>
            <a:fillRect/>
          </a:stretch>
        </p:blipFill>
        <p:spPr>
          <a:xfrm>
            <a:off x="13533119" y="5504688"/>
            <a:ext cx="274320" cy="274320"/>
          </a:xfrm>
          <a:prstGeom prst="rect">
            <a:avLst/>
          </a:prstGeom>
        </p:spPr>
      </p:pic>
      <p:sp>
        <p:nvSpPr>
          <p:cNvPr id="34" name="TextBox 33"/>
          <p:cNvSpPr txBox="1"/>
          <p:nvPr/>
        </p:nvSpPr>
        <p:spPr>
          <a:xfrm>
            <a:off x="13935455" y="5394959"/>
            <a:ext cx="3200400" cy="512064"/>
          </a:xfrm>
          <a:prstGeom prst="rect">
            <a:avLst/>
          </a:prstGeom>
          <a:noFill/>
        </p:spPr>
        <p:txBody>
          <a:bodyPr wrap="square" lIns="0" tIns="0" rIns="0" bIns="0" anchor="ctr">
            <a:noAutofit/>
          </a:bodyPr>
          <a:lstStyle/>
          <a:p>
            <a:pPr algn="l"/>
            <a:r>
              <a:rPr sz="1900" b="0" i="0">
                <a:solidFill>
                  <a:srgbClr val="172033"/>
                </a:solidFill>
                <a:latin typeface="Roboto Condensed"/>
              </a:rPr>
              <a:t>Marketing and go-to-market</a:t>
            </a:r>
          </a:p>
        </p:txBody>
      </p:sp>
      <p:sp>
        <p:nvSpPr>
          <p:cNvPr id="35" name="Rounded Rectangle 34"/>
          <p:cNvSpPr/>
          <p:nvPr/>
        </p:nvSpPr>
        <p:spPr>
          <a:xfrm>
            <a:off x="1097280" y="6675120"/>
            <a:ext cx="7863840" cy="2743200"/>
          </a:xfrm>
          <a:prstGeom prst="roundRect">
            <a:avLst>
              <a:gd name="adj" fmla="val 10666"/>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463040" y="6894576"/>
            <a:ext cx="7132320" cy="365760"/>
          </a:xfrm>
          <a:prstGeom prst="rect">
            <a:avLst/>
          </a:prstGeom>
          <a:noFill/>
        </p:spPr>
        <p:txBody>
          <a:bodyPr wrap="square" lIns="0" tIns="0" rIns="0" bIns="0" anchor="t">
            <a:noAutofit/>
          </a:bodyPr>
          <a:lstStyle/>
          <a:p>
            <a:pPr algn="l"/>
            <a:r>
              <a:rPr sz="1500" b="0" i="0">
                <a:solidFill>
                  <a:srgbClr val="7C3AED"/>
                </a:solidFill>
                <a:latin typeface="Roboto Condensed SemiBold"/>
              </a:rPr>
              <a:t>EXECUTION TO DATE</a:t>
            </a:r>
          </a:p>
        </p:txBody>
      </p:sp>
      <p:pic>
        <p:nvPicPr>
          <p:cNvPr id="37" name="Picture 36" descr="check_green.png"/>
          <p:cNvPicPr>
            <a:picLocks noChangeAspect="1"/>
          </p:cNvPicPr>
          <p:nvPr/>
        </p:nvPicPr>
        <p:blipFill>
          <a:blip r:embed="rId7"/>
          <a:stretch>
            <a:fillRect/>
          </a:stretch>
        </p:blipFill>
        <p:spPr>
          <a:xfrm>
            <a:off x="1463040" y="7498079"/>
            <a:ext cx="310896" cy="310896"/>
          </a:xfrm>
          <a:prstGeom prst="rect">
            <a:avLst/>
          </a:prstGeom>
        </p:spPr>
      </p:pic>
      <p:sp>
        <p:nvSpPr>
          <p:cNvPr id="38" name="TextBox 37"/>
          <p:cNvSpPr txBox="1"/>
          <p:nvPr/>
        </p:nvSpPr>
        <p:spPr>
          <a:xfrm>
            <a:off x="1938528" y="7388352"/>
            <a:ext cx="6766560" cy="548640"/>
          </a:xfrm>
          <a:prstGeom prst="rect">
            <a:avLst/>
          </a:prstGeom>
          <a:noFill/>
        </p:spPr>
        <p:txBody>
          <a:bodyPr wrap="square" lIns="0" tIns="0" rIns="0" bIns="0" anchor="ctr">
            <a:noAutofit/>
          </a:bodyPr>
          <a:lstStyle/>
          <a:p>
            <a:pPr algn="l"/>
            <a:r>
              <a:rPr sz="2200" b="0" i="0">
                <a:solidFill>
                  <a:srgbClr val="172033"/>
                </a:solidFill>
                <a:latin typeface="Roboto Condensed"/>
              </a:rPr>
              <a:t>Live browser product</a:t>
            </a:r>
          </a:p>
        </p:txBody>
      </p:sp>
      <p:pic>
        <p:nvPicPr>
          <p:cNvPr id="39" name="Picture 38" descr="check_green.png"/>
          <p:cNvPicPr>
            <a:picLocks noChangeAspect="1"/>
          </p:cNvPicPr>
          <p:nvPr/>
        </p:nvPicPr>
        <p:blipFill>
          <a:blip r:embed="rId7"/>
          <a:stretch>
            <a:fillRect/>
          </a:stretch>
        </p:blipFill>
        <p:spPr>
          <a:xfrm>
            <a:off x="1463040" y="8119871"/>
            <a:ext cx="310896" cy="310896"/>
          </a:xfrm>
          <a:prstGeom prst="rect">
            <a:avLst/>
          </a:prstGeom>
        </p:spPr>
      </p:pic>
      <p:sp>
        <p:nvSpPr>
          <p:cNvPr id="40" name="TextBox 39"/>
          <p:cNvSpPr txBox="1"/>
          <p:nvPr/>
        </p:nvSpPr>
        <p:spPr>
          <a:xfrm>
            <a:off x="1938528" y="8010144"/>
            <a:ext cx="6766560" cy="548640"/>
          </a:xfrm>
          <a:prstGeom prst="rect">
            <a:avLst/>
          </a:prstGeom>
          <a:noFill/>
        </p:spPr>
        <p:txBody>
          <a:bodyPr wrap="square" lIns="0" tIns="0" rIns="0" bIns="0" anchor="ctr">
            <a:noAutofit/>
          </a:bodyPr>
          <a:lstStyle/>
          <a:p>
            <a:pPr algn="l"/>
            <a:r>
              <a:rPr sz="2200" b="0" i="0">
                <a:solidFill>
                  <a:srgbClr val="172033"/>
                </a:solidFill>
                <a:latin typeface="Roboto Condensed"/>
              </a:rPr>
              <a:t>Two interactive worlds</a:t>
            </a:r>
          </a:p>
        </p:txBody>
      </p:sp>
      <p:pic>
        <p:nvPicPr>
          <p:cNvPr id="41" name="Picture 40" descr="check_green.png"/>
          <p:cNvPicPr>
            <a:picLocks noChangeAspect="1"/>
          </p:cNvPicPr>
          <p:nvPr/>
        </p:nvPicPr>
        <p:blipFill>
          <a:blip r:embed="rId7"/>
          <a:stretch>
            <a:fillRect/>
          </a:stretch>
        </p:blipFill>
        <p:spPr>
          <a:xfrm>
            <a:off x="1463040" y="8741663"/>
            <a:ext cx="310896" cy="310896"/>
          </a:xfrm>
          <a:prstGeom prst="rect">
            <a:avLst/>
          </a:prstGeom>
        </p:spPr>
      </p:pic>
      <p:sp>
        <p:nvSpPr>
          <p:cNvPr id="42" name="TextBox 41"/>
          <p:cNvSpPr txBox="1"/>
          <p:nvPr/>
        </p:nvSpPr>
        <p:spPr>
          <a:xfrm>
            <a:off x="1938528" y="8631936"/>
            <a:ext cx="6766560" cy="548640"/>
          </a:xfrm>
          <a:prstGeom prst="rect">
            <a:avLst/>
          </a:prstGeom>
          <a:noFill/>
        </p:spPr>
        <p:txBody>
          <a:bodyPr wrap="square" lIns="0" tIns="0" rIns="0" bIns="0" anchor="ctr">
            <a:noAutofit/>
          </a:bodyPr>
          <a:lstStyle/>
          <a:p>
            <a:pPr algn="l"/>
            <a:r>
              <a:rPr sz="2200" b="0" i="0">
                <a:solidFill>
                  <a:srgbClr val="172033"/>
                </a:solidFill>
                <a:latin typeface="Roboto Condensed"/>
              </a:rPr>
              <a:t>One completed pilot with 30 children</a:t>
            </a:r>
          </a:p>
        </p:txBody>
      </p:sp>
      <p:sp>
        <p:nvSpPr>
          <p:cNvPr id="43" name="Rounded Rectangle 42"/>
          <p:cNvSpPr/>
          <p:nvPr/>
        </p:nvSpPr>
        <p:spPr>
          <a:xfrm>
            <a:off x="9326880" y="6675120"/>
            <a:ext cx="7863840" cy="2743200"/>
          </a:xfrm>
          <a:prstGeom prst="roundRect">
            <a:avLst>
              <a:gd name="adj" fmla="val 10666"/>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692640" y="6894576"/>
            <a:ext cx="7132320" cy="365760"/>
          </a:xfrm>
          <a:prstGeom prst="rect">
            <a:avLst/>
          </a:prstGeom>
          <a:noFill/>
        </p:spPr>
        <p:txBody>
          <a:bodyPr wrap="square" lIns="0" tIns="0" rIns="0" bIns="0" anchor="t">
            <a:noAutofit/>
          </a:bodyPr>
          <a:lstStyle/>
          <a:p>
            <a:pPr algn="l"/>
            <a:r>
              <a:rPr sz="1500" b="0" i="0">
                <a:solidFill>
                  <a:srgbClr val="7C3AED"/>
                </a:solidFill>
                <a:latin typeface="Roboto Condensed SemiBold"/>
              </a:rPr>
              <a:t>NEXT CAPABILITY TO STRENGTHEN</a:t>
            </a:r>
          </a:p>
        </p:txBody>
      </p:sp>
      <p:pic>
        <p:nvPicPr>
          <p:cNvPr id="45" name="Picture 44" descr="rocket_purple.png"/>
          <p:cNvPicPr>
            <a:picLocks noChangeAspect="1"/>
          </p:cNvPicPr>
          <p:nvPr/>
        </p:nvPicPr>
        <p:blipFill>
          <a:blip r:embed="rId8"/>
          <a:stretch>
            <a:fillRect/>
          </a:stretch>
        </p:blipFill>
        <p:spPr>
          <a:xfrm>
            <a:off x="9692640" y="7498079"/>
            <a:ext cx="621792" cy="621792"/>
          </a:xfrm>
          <a:prstGeom prst="rect">
            <a:avLst/>
          </a:prstGeom>
        </p:spPr>
      </p:pic>
      <p:sp>
        <p:nvSpPr>
          <p:cNvPr id="46" name="TextBox 45"/>
          <p:cNvSpPr txBox="1"/>
          <p:nvPr/>
        </p:nvSpPr>
        <p:spPr>
          <a:xfrm>
            <a:off x="10570464" y="7351775"/>
            <a:ext cx="6309360" cy="1645920"/>
          </a:xfrm>
          <a:prstGeom prst="rect">
            <a:avLst/>
          </a:prstGeom>
          <a:noFill/>
        </p:spPr>
        <p:txBody>
          <a:bodyPr wrap="square" lIns="0" tIns="0" rIns="0" bIns="0" anchor="ctr">
            <a:noAutofit/>
          </a:bodyPr>
          <a:lstStyle/>
          <a:p>
            <a:pPr algn="l">
              <a:lnSpc>
                <a:spcPct val="100000"/>
              </a:lnSpc>
            </a:pPr>
            <a:r>
              <a:rPr sz="2800" b="1" i="0">
                <a:solidFill>
                  <a:srgbClr val="172033"/>
                </a:solidFill>
                <a:latin typeface="Roboto Condensed"/>
              </a:rPr>
              <a:t>Institutional sales and repeatable session delivery.</a:t>
            </a:r>
          </a:p>
        </p:txBody>
      </p:sp>
      <p:sp>
        <p:nvSpPr>
          <p:cNvPr id="47" name="TextBox 46"/>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MEET OUR TEAM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822960"/>
            <a:ext cx="16093440" cy="914400"/>
          </a:xfrm>
          <a:prstGeom prst="rect">
            <a:avLst/>
          </a:prstGeom>
          <a:noFill/>
        </p:spPr>
        <p:txBody>
          <a:bodyPr wrap="square" lIns="0" tIns="0" rIns="0" bIns="0" anchor="t">
            <a:noAutofit/>
          </a:bodyPr>
          <a:lstStyle/>
          <a:p>
            <a:pPr algn="l">
              <a:lnSpc>
                <a:spcPct val="95000"/>
              </a:lnSpc>
            </a:pPr>
            <a:r>
              <a:rPr sz="4800" b="1" i="0">
                <a:solidFill>
                  <a:srgbClr val="172033"/>
                </a:solidFill>
                <a:latin typeface="Roboto Condensed"/>
              </a:rPr>
              <a:t>A 12-Month Plan to Validate Paid, Repeat Use</a:t>
            </a:r>
          </a:p>
        </p:txBody>
      </p:sp>
      <p:sp>
        <p:nvSpPr>
          <p:cNvPr id="13" name="Rounded Rectangle 12"/>
          <p:cNvSpPr/>
          <p:nvPr/>
        </p:nvSpPr>
        <p:spPr>
          <a:xfrm>
            <a:off x="1097280" y="2194560"/>
            <a:ext cx="3803904" cy="6071616"/>
          </a:xfrm>
          <a:prstGeom prst="roundRect">
            <a:avLst>
              <a:gd name="adj" fmla="val 7692"/>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371600" y="2468879"/>
            <a:ext cx="1824228"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5B21B6"/>
                </a:solidFill>
                <a:latin typeface="Roboto Condensed SemiBold"/>
              </a:rPr>
              <a:t>COMPLETED</a:t>
            </a:r>
          </a:p>
        </p:txBody>
      </p:sp>
      <p:sp>
        <p:nvSpPr>
          <p:cNvPr id="15" name="TextBox 14"/>
          <p:cNvSpPr txBox="1"/>
          <p:nvPr/>
        </p:nvSpPr>
        <p:spPr>
          <a:xfrm>
            <a:off x="1371600" y="3108960"/>
            <a:ext cx="3255264" cy="585216"/>
          </a:xfrm>
          <a:prstGeom prst="rect">
            <a:avLst/>
          </a:prstGeom>
          <a:noFill/>
        </p:spPr>
        <p:txBody>
          <a:bodyPr wrap="square" lIns="0" tIns="0" rIns="0" bIns="0" anchor="t">
            <a:noAutofit/>
          </a:bodyPr>
          <a:lstStyle/>
          <a:p>
            <a:pPr algn="l"/>
            <a:r>
              <a:rPr sz="2600" b="1" i="0">
                <a:solidFill>
                  <a:srgbClr val="FFFFFF"/>
                </a:solidFill>
                <a:latin typeface="Roboto Condensed"/>
              </a:rPr>
              <a:t>Built and tested</a:t>
            </a:r>
          </a:p>
        </p:txBody>
      </p:sp>
      <p:pic>
        <p:nvPicPr>
          <p:cNvPr id="16" name="Picture 15" descr="check_white.png"/>
          <p:cNvPicPr>
            <a:picLocks noChangeAspect="1"/>
          </p:cNvPicPr>
          <p:nvPr/>
        </p:nvPicPr>
        <p:blipFill>
          <a:blip r:embed="rId3"/>
          <a:stretch>
            <a:fillRect/>
          </a:stretch>
        </p:blipFill>
        <p:spPr>
          <a:xfrm>
            <a:off x="1371600" y="4023359"/>
            <a:ext cx="274320" cy="274320"/>
          </a:xfrm>
          <a:prstGeom prst="rect">
            <a:avLst/>
          </a:prstGeom>
        </p:spPr>
      </p:pic>
      <p:sp>
        <p:nvSpPr>
          <p:cNvPr id="17" name="TextBox 16"/>
          <p:cNvSpPr txBox="1"/>
          <p:nvPr/>
        </p:nvSpPr>
        <p:spPr>
          <a:xfrm>
            <a:off x="1792224" y="3931920"/>
            <a:ext cx="2889504" cy="438912"/>
          </a:xfrm>
          <a:prstGeom prst="rect">
            <a:avLst/>
          </a:prstGeom>
          <a:noFill/>
        </p:spPr>
        <p:txBody>
          <a:bodyPr wrap="square" lIns="0" tIns="0" rIns="0" bIns="0" anchor="t">
            <a:noAutofit/>
          </a:bodyPr>
          <a:lstStyle/>
          <a:p>
            <a:pPr algn="l">
              <a:lnSpc>
                <a:spcPct val="100000"/>
              </a:lnSpc>
            </a:pPr>
            <a:r>
              <a:rPr sz="1900" b="0" i="0">
                <a:solidFill>
                  <a:srgbClr val="FFFFFF"/>
                </a:solidFill>
                <a:latin typeface="Roboto Condensed"/>
              </a:rPr>
              <a:t>Live product</a:t>
            </a:r>
          </a:p>
        </p:txBody>
      </p:sp>
      <p:pic>
        <p:nvPicPr>
          <p:cNvPr id="18" name="Picture 17" descr="check_white.png"/>
          <p:cNvPicPr>
            <a:picLocks noChangeAspect="1"/>
          </p:cNvPicPr>
          <p:nvPr/>
        </p:nvPicPr>
        <p:blipFill>
          <a:blip r:embed="rId3"/>
          <a:stretch>
            <a:fillRect/>
          </a:stretch>
        </p:blipFill>
        <p:spPr>
          <a:xfrm>
            <a:off x="1371600" y="4681727"/>
            <a:ext cx="274320" cy="274320"/>
          </a:xfrm>
          <a:prstGeom prst="rect">
            <a:avLst/>
          </a:prstGeom>
        </p:spPr>
      </p:pic>
      <p:sp>
        <p:nvSpPr>
          <p:cNvPr id="19" name="TextBox 18"/>
          <p:cNvSpPr txBox="1"/>
          <p:nvPr/>
        </p:nvSpPr>
        <p:spPr>
          <a:xfrm>
            <a:off x="1792224" y="4590288"/>
            <a:ext cx="2889504" cy="438912"/>
          </a:xfrm>
          <a:prstGeom prst="rect">
            <a:avLst/>
          </a:prstGeom>
          <a:noFill/>
        </p:spPr>
        <p:txBody>
          <a:bodyPr wrap="square" lIns="0" tIns="0" rIns="0" bIns="0" anchor="t">
            <a:noAutofit/>
          </a:bodyPr>
          <a:lstStyle/>
          <a:p>
            <a:pPr algn="l">
              <a:lnSpc>
                <a:spcPct val="100000"/>
              </a:lnSpc>
            </a:pPr>
            <a:r>
              <a:rPr sz="1900" b="0" i="0">
                <a:solidFill>
                  <a:srgbClr val="FFFFFF"/>
                </a:solidFill>
                <a:latin typeface="Roboto Condensed"/>
              </a:rPr>
              <a:t>Ocean and Vehicle worlds</a:t>
            </a:r>
          </a:p>
        </p:txBody>
      </p:sp>
      <p:pic>
        <p:nvPicPr>
          <p:cNvPr id="20" name="Picture 19" descr="check_white.png"/>
          <p:cNvPicPr>
            <a:picLocks noChangeAspect="1"/>
          </p:cNvPicPr>
          <p:nvPr/>
        </p:nvPicPr>
        <p:blipFill>
          <a:blip r:embed="rId3"/>
          <a:stretch>
            <a:fillRect/>
          </a:stretch>
        </p:blipFill>
        <p:spPr>
          <a:xfrm>
            <a:off x="1371600" y="5340095"/>
            <a:ext cx="274320" cy="274320"/>
          </a:xfrm>
          <a:prstGeom prst="rect">
            <a:avLst/>
          </a:prstGeom>
        </p:spPr>
      </p:pic>
      <p:sp>
        <p:nvSpPr>
          <p:cNvPr id="21" name="TextBox 20"/>
          <p:cNvSpPr txBox="1"/>
          <p:nvPr/>
        </p:nvSpPr>
        <p:spPr>
          <a:xfrm>
            <a:off x="1792224" y="5248655"/>
            <a:ext cx="2889504" cy="438912"/>
          </a:xfrm>
          <a:prstGeom prst="rect">
            <a:avLst/>
          </a:prstGeom>
          <a:noFill/>
        </p:spPr>
        <p:txBody>
          <a:bodyPr wrap="square" lIns="0" tIns="0" rIns="0" bIns="0" anchor="t">
            <a:noAutofit/>
          </a:bodyPr>
          <a:lstStyle/>
          <a:p>
            <a:pPr algn="l">
              <a:lnSpc>
                <a:spcPct val="100000"/>
              </a:lnSpc>
            </a:pPr>
            <a:r>
              <a:rPr sz="1900" b="0" i="0">
                <a:solidFill>
                  <a:srgbClr val="FFFFFF"/>
                </a:solidFill>
                <a:latin typeface="Roboto Condensed"/>
              </a:rPr>
              <a:t>First 30-child pilot</a:t>
            </a:r>
          </a:p>
        </p:txBody>
      </p:sp>
      <p:sp>
        <p:nvSpPr>
          <p:cNvPr id="22" name="Chevron 21"/>
          <p:cNvSpPr/>
          <p:nvPr/>
        </p:nvSpPr>
        <p:spPr>
          <a:xfrm>
            <a:off x="4956048" y="4992624"/>
            <a:ext cx="182880" cy="475488"/>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193792" y="2194560"/>
            <a:ext cx="3803904" cy="6071616"/>
          </a:xfrm>
          <a:prstGeom prst="roundRect">
            <a:avLst>
              <a:gd name="adj" fmla="val 7692"/>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468112" y="2468879"/>
            <a:ext cx="1953768"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5B21B6"/>
                </a:solidFill>
                <a:latin typeface="Roboto Condensed SemiBold"/>
              </a:rPr>
              <a:t>MONTHS 1–3</a:t>
            </a:r>
          </a:p>
        </p:txBody>
      </p:sp>
      <p:sp>
        <p:nvSpPr>
          <p:cNvPr id="25" name="TextBox 24"/>
          <p:cNvSpPr txBox="1"/>
          <p:nvPr/>
        </p:nvSpPr>
        <p:spPr>
          <a:xfrm>
            <a:off x="5468112" y="3108960"/>
            <a:ext cx="3255264" cy="585216"/>
          </a:xfrm>
          <a:prstGeom prst="rect">
            <a:avLst/>
          </a:prstGeom>
          <a:noFill/>
        </p:spPr>
        <p:txBody>
          <a:bodyPr wrap="square" lIns="0" tIns="0" rIns="0" bIns="0" anchor="t">
            <a:noAutofit/>
          </a:bodyPr>
          <a:lstStyle/>
          <a:p>
            <a:pPr algn="l"/>
            <a:r>
              <a:rPr sz="2600" b="1" i="0">
                <a:solidFill>
                  <a:srgbClr val="172033"/>
                </a:solidFill>
                <a:latin typeface="Roboto Condensed"/>
              </a:rPr>
              <a:t>Validate the offer</a:t>
            </a:r>
          </a:p>
        </p:txBody>
      </p:sp>
      <p:pic>
        <p:nvPicPr>
          <p:cNvPr id="26" name="Picture 25" descr="arrow-right_purple.png"/>
          <p:cNvPicPr>
            <a:picLocks noChangeAspect="1"/>
          </p:cNvPicPr>
          <p:nvPr/>
        </p:nvPicPr>
        <p:blipFill>
          <a:blip r:embed="rId4"/>
          <a:stretch>
            <a:fillRect/>
          </a:stretch>
        </p:blipFill>
        <p:spPr>
          <a:xfrm>
            <a:off x="5468112" y="4023359"/>
            <a:ext cx="274320" cy="274320"/>
          </a:xfrm>
          <a:prstGeom prst="rect">
            <a:avLst/>
          </a:prstGeom>
        </p:spPr>
      </p:pic>
      <p:sp>
        <p:nvSpPr>
          <p:cNvPr id="27" name="TextBox 26"/>
          <p:cNvSpPr txBox="1"/>
          <p:nvPr/>
        </p:nvSpPr>
        <p:spPr>
          <a:xfrm>
            <a:off x="5888736" y="3931920"/>
            <a:ext cx="2889504" cy="804672"/>
          </a:xfrm>
          <a:prstGeom prst="rect">
            <a:avLst/>
          </a:prstGeom>
          <a:noFill/>
        </p:spPr>
        <p:txBody>
          <a:bodyPr wrap="square" lIns="0" tIns="0" rIns="0" bIns="0" anchor="t">
            <a:noAutofit/>
          </a:bodyPr>
          <a:lstStyle/>
          <a:p>
            <a:pPr algn="l">
              <a:lnSpc>
                <a:spcPct val="100000"/>
              </a:lnSpc>
            </a:pPr>
            <a:r>
              <a:rPr sz="1900" b="0" i="0">
                <a:solidFill>
                  <a:srgbClr val="172033"/>
                </a:solidFill>
                <a:latin typeface="Roboto Condensed"/>
              </a:rPr>
              <a:t>Test session and pack pricing.</a:t>
            </a:r>
          </a:p>
        </p:txBody>
      </p:sp>
      <p:pic>
        <p:nvPicPr>
          <p:cNvPr id="28" name="Picture 27" descr="arrow-right_purple.png"/>
          <p:cNvPicPr>
            <a:picLocks noChangeAspect="1"/>
          </p:cNvPicPr>
          <p:nvPr/>
        </p:nvPicPr>
        <p:blipFill>
          <a:blip r:embed="rId4"/>
          <a:stretch>
            <a:fillRect/>
          </a:stretch>
        </p:blipFill>
        <p:spPr>
          <a:xfrm>
            <a:off x="5468112" y="5047488"/>
            <a:ext cx="274320" cy="274320"/>
          </a:xfrm>
          <a:prstGeom prst="rect">
            <a:avLst/>
          </a:prstGeom>
        </p:spPr>
      </p:pic>
      <p:sp>
        <p:nvSpPr>
          <p:cNvPr id="29" name="TextBox 28"/>
          <p:cNvSpPr txBox="1"/>
          <p:nvPr/>
        </p:nvSpPr>
        <p:spPr>
          <a:xfrm>
            <a:off x="5888736" y="4956048"/>
            <a:ext cx="2889504" cy="804672"/>
          </a:xfrm>
          <a:prstGeom prst="rect">
            <a:avLst/>
          </a:prstGeom>
          <a:noFill/>
        </p:spPr>
        <p:txBody>
          <a:bodyPr wrap="square" lIns="0" tIns="0" rIns="0" bIns="0" anchor="t">
            <a:noAutofit/>
          </a:bodyPr>
          <a:lstStyle/>
          <a:p>
            <a:pPr algn="l">
              <a:lnSpc>
                <a:spcPct val="100000"/>
              </a:lnSpc>
            </a:pPr>
            <a:r>
              <a:rPr sz="1900" b="0" i="0">
                <a:solidFill>
                  <a:srgbClr val="172033"/>
                </a:solidFill>
                <a:latin typeface="Roboto Condensed"/>
              </a:rPr>
              <a:t>Measure scan reliability and delivery costs.</a:t>
            </a:r>
          </a:p>
        </p:txBody>
      </p:sp>
      <p:pic>
        <p:nvPicPr>
          <p:cNvPr id="30" name="Picture 29" descr="arrow-right_purple.png"/>
          <p:cNvPicPr>
            <a:picLocks noChangeAspect="1"/>
          </p:cNvPicPr>
          <p:nvPr/>
        </p:nvPicPr>
        <p:blipFill>
          <a:blip r:embed="rId4"/>
          <a:stretch>
            <a:fillRect/>
          </a:stretch>
        </p:blipFill>
        <p:spPr>
          <a:xfrm>
            <a:off x="5468112" y="6071616"/>
            <a:ext cx="274320" cy="274320"/>
          </a:xfrm>
          <a:prstGeom prst="rect">
            <a:avLst/>
          </a:prstGeom>
        </p:spPr>
      </p:pic>
      <p:sp>
        <p:nvSpPr>
          <p:cNvPr id="31" name="TextBox 30"/>
          <p:cNvSpPr txBox="1"/>
          <p:nvPr/>
        </p:nvSpPr>
        <p:spPr>
          <a:xfrm>
            <a:off x="5888736" y="5980176"/>
            <a:ext cx="2889504" cy="438912"/>
          </a:xfrm>
          <a:prstGeom prst="rect">
            <a:avLst/>
          </a:prstGeom>
          <a:noFill/>
        </p:spPr>
        <p:txBody>
          <a:bodyPr wrap="square" lIns="0" tIns="0" rIns="0" bIns="0" anchor="t">
            <a:noAutofit/>
          </a:bodyPr>
          <a:lstStyle/>
          <a:p>
            <a:pPr algn="l">
              <a:lnSpc>
                <a:spcPct val="100000"/>
              </a:lnSpc>
            </a:pPr>
            <a:r>
              <a:rPr sz="1900" b="0" i="0">
                <a:solidFill>
                  <a:srgbClr val="172033"/>
                </a:solidFill>
                <a:latin typeface="Roboto Condensed"/>
              </a:rPr>
              <a:t>Begin paid sessions.</a:t>
            </a:r>
          </a:p>
        </p:txBody>
      </p:sp>
      <p:sp>
        <p:nvSpPr>
          <p:cNvPr id="32" name="Chevron 31"/>
          <p:cNvSpPr/>
          <p:nvPr/>
        </p:nvSpPr>
        <p:spPr>
          <a:xfrm>
            <a:off x="9052560" y="4992624"/>
            <a:ext cx="182880" cy="475488"/>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290304" y="2194560"/>
            <a:ext cx="3803904" cy="6071616"/>
          </a:xfrm>
          <a:prstGeom prst="roundRect">
            <a:avLst>
              <a:gd name="adj" fmla="val 7692"/>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9564624" y="2468879"/>
            <a:ext cx="1953768" cy="47548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5B21B6"/>
                </a:solidFill>
                <a:latin typeface="Roboto Condensed SemiBold"/>
              </a:rPr>
              <a:t>MONTHS 4–6</a:t>
            </a:r>
          </a:p>
        </p:txBody>
      </p:sp>
      <p:sp>
        <p:nvSpPr>
          <p:cNvPr id="35" name="TextBox 34"/>
          <p:cNvSpPr txBox="1"/>
          <p:nvPr/>
        </p:nvSpPr>
        <p:spPr>
          <a:xfrm>
            <a:off x="9564624" y="3108960"/>
            <a:ext cx="3255264" cy="585216"/>
          </a:xfrm>
          <a:prstGeom prst="rect">
            <a:avLst/>
          </a:prstGeom>
          <a:noFill/>
        </p:spPr>
        <p:txBody>
          <a:bodyPr wrap="square" lIns="0" tIns="0" rIns="0" bIns="0" anchor="t">
            <a:noAutofit/>
          </a:bodyPr>
          <a:lstStyle/>
          <a:p>
            <a:pPr algn="l"/>
            <a:r>
              <a:rPr sz="2600" b="1" i="0">
                <a:solidFill>
                  <a:srgbClr val="172033"/>
                </a:solidFill>
                <a:latin typeface="Roboto Condensed"/>
              </a:rPr>
              <a:t>Test repeat use</a:t>
            </a:r>
          </a:p>
        </p:txBody>
      </p:sp>
      <p:pic>
        <p:nvPicPr>
          <p:cNvPr id="36" name="Picture 35" descr="arrow-right_purple.png"/>
          <p:cNvPicPr>
            <a:picLocks noChangeAspect="1"/>
          </p:cNvPicPr>
          <p:nvPr/>
        </p:nvPicPr>
        <p:blipFill>
          <a:blip r:embed="rId4"/>
          <a:stretch>
            <a:fillRect/>
          </a:stretch>
        </p:blipFill>
        <p:spPr>
          <a:xfrm>
            <a:off x="9564624" y="4023359"/>
            <a:ext cx="274320" cy="274320"/>
          </a:xfrm>
          <a:prstGeom prst="rect">
            <a:avLst/>
          </a:prstGeom>
        </p:spPr>
      </p:pic>
      <p:sp>
        <p:nvSpPr>
          <p:cNvPr id="37" name="TextBox 36"/>
          <p:cNvSpPr txBox="1"/>
          <p:nvPr/>
        </p:nvSpPr>
        <p:spPr>
          <a:xfrm>
            <a:off x="9985248" y="3931920"/>
            <a:ext cx="2889504" cy="804672"/>
          </a:xfrm>
          <a:prstGeom prst="rect">
            <a:avLst/>
          </a:prstGeom>
          <a:noFill/>
        </p:spPr>
        <p:txBody>
          <a:bodyPr wrap="square" lIns="0" tIns="0" rIns="0" bIns="0" anchor="t">
            <a:noAutofit/>
          </a:bodyPr>
          <a:lstStyle/>
          <a:p>
            <a:pPr algn="l">
              <a:lnSpc>
                <a:spcPct val="100000"/>
              </a:lnSpc>
            </a:pPr>
            <a:r>
              <a:rPr sz="1900" b="0" i="0">
                <a:solidFill>
                  <a:srgbClr val="172033"/>
                </a:solidFill>
                <a:latin typeface="Roboto Condensed"/>
              </a:rPr>
              <a:t>Pilot Scanvas Studio with institutional users.</a:t>
            </a:r>
          </a:p>
        </p:txBody>
      </p:sp>
      <p:pic>
        <p:nvPicPr>
          <p:cNvPr id="38" name="Picture 37" descr="arrow-right_purple.png"/>
          <p:cNvPicPr>
            <a:picLocks noChangeAspect="1"/>
          </p:cNvPicPr>
          <p:nvPr/>
        </p:nvPicPr>
        <p:blipFill>
          <a:blip r:embed="rId4"/>
          <a:stretch>
            <a:fillRect/>
          </a:stretch>
        </p:blipFill>
        <p:spPr>
          <a:xfrm>
            <a:off x="9564624" y="5047488"/>
            <a:ext cx="274320" cy="274320"/>
          </a:xfrm>
          <a:prstGeom prst="rect">
            <a:avLst/>
          </a:prstGeom>
        </p:spPr>
      </p:pic>
      <p:sp>
        <p:nvSpPr>
          <p:cNvPr id="39" name="TextBox 38"/>
          <p:cNvSpPr txBox="1"/>
          <p:nvPr/>
        </p:nvSpPr>
        <p:spPr>
          <a:xfrm>
            <a:off x="9985248" y="4956048"/>
            <a:ext cx="2889504" cy="804672"/>
          </a:xfrm>
          <a:prstGeom prst="rect">
            <a:avLst/>
          </a:prstGeom>
          <a:noFill/>
        </p:spPr>
        <p:txBody>
          <a:bodyPr wrap="square" lIns="0" tIns="0" rIns="0" bIns="0" anchor="t">
            <a:noAutofit/>
          </a:bodyPr>
          <a:lstStyle/>
          <a:p>
            <a:pPr algn="l">
              <a:lnSpc>
                <a:spcPct val="100000"/>
              </a:lnSpc>
            </a:pPr>
            <a:r>
              <a:rPr sz="1900" b="0" i="0">
                <a:solidFill>
                  <a:srgbClr val="172033"/>
                </a:solidFill>
                <a:latin typeface="Roboto Condensed"/>
              </a:rPr>
              <a:t>Test a three-lesson creative program.</a:t>
            </a:r>
          </a:p>
        </p:txBody>
      </p:sp>
      <p:pic>
        <p:nvPicPr>
          <p:cNvPr id="40" name="Picture 39" descr="arrow-right_purple.png"/>
          <p:cNvPicPr>
            <a:picLocks noChangeAspect="1"/>
          </p:cNvPicPr>
          <p:nvPr/>
        </p:nvPicPr>
        <p:blipFill>
          <a:blip r:embed="rId4"/>
          <a:stretch>
            <a:fillRect/>
          </a:stretch>
        </p:blipFill>
        <p:spPr>
          <a:xfrm>
            <a:off x="9564624" y="6071616"/>
            <a:ext cx="274320" cy="274320"/>
          </a:xfrm>
          <a:prstGeom prst="rect">
            <a:avLst/>
          </a:prstGeom>
        </p:spPr>
      </p:pic>
      <p:sp>
        <p:nvSpPr>
          <p:cNvPr id="41" name="TextBox 40"/>
          <p:cNvSpPr txBox="1"/>
          <p:nvPr/>
        </p:nvSpPr>
        <p:spPr>
          <a:xfrm>
            <a:off x="9985248" y="5980176"/>
            <a:ext cx="2889504" cy="1170432"/>
          </a:xfrm>
          <a:prstGeom prst="rect">
            <a:avLst/>
          </a:prstGeom>
          <a:noFill/>
        </p:spPr>
        <p:txBody>
          <a:bodyPr wrap="square" lIns="0" tIns="0" rIns="0" bIns="0" anchor="t">
            <a:noAutofit/>
          </a:bodyPr>
          <a:lstStyle/>
          <a:p>
            <a:pPr algn="l">
              <a:lnSpc>
                <a:spcPct val="100000"/>
              </a:lnSpc>
            </a:pPr>
            <a:r>
              <a:rPr sz="1900" b="0" i="0">
                <a:solidFill>
                  <a:srgbClr val="172033"/>
                </a:solidFill>
                <a:latin typeface="Roboto Condensed"/>
              </a:rPr>
              <a:t>Measure family repurchase and institutional rebooking separately.</a:t>
            </a:r>
          </a:p>
        </p:txBody>
      </p:sp>
      <p:sp>
        <p:nvSpPr>
          <p:cNvPr id="42" name="Chevron 41"/>
          <p:cNvSpPr/>
          <p:nvPr/>
        </p:nvSpPr>
        <p:spPr>
          <a:xfrm>
            <a:off x="13149072" y="4992624"/>
            <a:ext cx="182880" cy="475488"/>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13386816" y="2194560"/>
            <a:ext cx="3803904" cy="6071616"/>
          </a:xfrm>
          <a:prstGeom prst="roundRect">
            <a:avLst>
              <a:gd name="adj" fmla="val 7692"/>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13661136" y="2468879"/>
            <a:ext cx="2083308" cy="47548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5B21B6"/>
                </a:solidFill>
                <a:latin typeface="Roboto Condensed SemiBold"/>
              </a:rPr>
              <a:t>MONTHS 7–12</a:t>
            </a:r>
          </a:p>
        </p:txBody>
      </p:sp>
      <p:sp>
        <p:nvSpPr>
          <p:cNvPr id="45" name="TextBox 44"/>
          <p:cNvSpPr txBox="1"/>
          <p:nvPr/>
        </p:nvSpPr>
        <p:spPr>
          <a:xfrm>
            <a:off x="13661136" y="3108960"/>
            <a:ext cx="3255264" cy="585216"/>
          </a:xfrm>
          <a:prstGeom prst="rect">
            <a:avLst/>
          </a:prstGeom>
          <a:noFill/>
        </p:spPr>
        <p:txBody>
          <a:bodyPr wrap="square" lIns="0" tIns="0" rIns="0" bIns="0" anchor="t">
            <a:noAutofit/>
          </a:bodyPr>
          <a:lstStyle/>
          <a:p>
            <a:pPr algn="l"/>
            <a:r>
              <a:rPr sz="2600" b="1" i="0">
                <a:solidFill>
                  <a:srgbClr val="172033"/>
                </a:solidFill>
                <a:latin typeface="Roboto Condensed"/>
              </a:rPr>
              <a:t>Expand what works</a:t>
            </a:r>
          </a:p>
        </p:txBody>
      </p:sp>
      <p:pic>
        <p:nvPicPr>
          <p:cNvPr id="46" name="Picture 45" descr="arrow-right_purple.png"/>
          <p:cNvPicPr>
            <a:picLocks noChangeAspect="1"/>
          </p:cNvPicPr>
          <p:nvPr/>
        </p:nvPicPr>
        <p:blipFill>
          <a:blip r:embed="rId4"/>
          <a:stretch>
            <a:fillRect/>
          </a:stretch>
        </p:blipFill>
        <p:spPr>
          <a:xfrm>
            <a:off x="13661136" y="4023359"/>
            <a:ext cx="274320" cy="274320"/>
          </a:xfrm>
          <a:prstGeom prst="rect">
            <a:avLst/>
          </a:prstGeom>
        </p:spPr>
      </p:pic>
      <p:sp>
        <p:nvSpPr>
          <p:cNvPr id="47" name="TextBox 46"/>
          <p:cNvSpPr txBox="1"/>
          <p:nvPr/>
        </p:nvSpPr>
        <p:spPr>
          <a:xfrm>
            <a:off x="14081760" y="3931920"/>
            <a:ext cx="2889504" cy="1170432"/>
          </a:xfrm>
          <a:prstGeom prst="rect">
            <a:avLst/>
          </a:prstGeom>
          <a:noFill/>
        </p:spPr>
        <p:txBody>
          <a:bodyPr wrap="square" lIns="0" tIns="0" rIns="0" bIns="0" anchor="t">
            <a:noAutofit/>
          </a:bodyPr>
          <a:lstStyle/>
          <a:p>
            <a:pPr algn="l">
              <a:lnSpc>
                <a:spcPct val="100000"/>
              </a:lnSpc>
            </a:pPr>
            <a:r>
              <a:rPr sz="1900" b="0" i="0">
                <a:solidFill>
                  <a:srgbClr val="172033"/>
                </a:solidFill>
                <a:latin typeface="Roboto Condensed"/>
              </a:rPr>
              <a:t>Target 48 paid sessions and 600 family packs cumulatively.</a:t>
            </a:r>
          </a:p>
        </p:txBody>
      </p:sp>
      <p:pic>
        <p:nvPicPr>
          <p:cNvPr id="48" name="Picture 47" descr="arrow-right_purple.png"/>
          <p:cNvPicPr>
            <a:picLocks noChangeAspect="1"/>
          </p:cNvPicPr>
          <p:nvPr/>
        </p:nvPicPr>
        <p:blipFill>
          <a:blip r:embed="rId4"/>
          <a:stretch>
            <a:fillRect/>
          </a:stretch>
        </p:blipFill>
        <p:spPr>
          <a:xfrm>
            <a:off x="13661136" y="5413248"/>
            <a:ext cx="274320" cy="274320"/>
          </a:xfrm>
          <a:prstGeom prst="rect">
            <a:avLst/>
          </a:prstGeom>
        </p:spPr>
      </p:pic>
      <p:sp>
        <p:nvSpPr>
          <p:cNvPr id="49" name="TextBox 48"/>
          <p:cNvSpPr txBox="1"/>
          <p:nvPr/>
        </p:nvSpPr>
        <p:spPr>
          <a:xfrm>
            <a:off x="14081760" y="5321808"/>
            <a:ext cx="2889504" cy="804672"/>
          </a:xfrm>
          <a:prstGeom prst="rect">
            <a:avLst/>
          </a:prstGeom>
          <a:noFill/>
        </p:spPr>
        <p:txBody>
          <a:bodyPr wrap="square" lIns="0" tIns="0" rIns="0" bIns="0" anchor="t">
            <a:noAutofit/>
          </a:bodyPr>
          <a:lstStyle/>
          <a:p>
            <a:pPr algn="l">
              <a:lnSpc>
                <a:spcPct val="100000"/>
              </a:lnSpc>
            </a:pPr>
            <a:r>
              <a:rPr sz="1900" b="0" i="0">
                <a:solidFill>
                  <a:srgbClr val="172033"/>
                </a:solidFill>
                <a:latin typeface="Roboto Condensed"/>
              </a:rPr>
              <a:t>Expand from two to four worlds.</a:t>
            </a:r>
          </a:p>
        </p:txBody>
      </p:sp>
      <p:pic>
        <p:nvPicPr>
          <p:cNvPr id="50" name="Picture 49" descr="arrow-right_purple.png"/>
          <p:cNvPicPr>
            <a:picLocks noChangeAspect="1"/>
          </p:cNvPicPr>
          <p:nvPr/>
        </p:nvPicPr>
        <p:blipFill>
          <a:blip r:embed="rId4"/>
          <a:stretch>
            <a:fillRect/>
          </a:stretch>
        </p:blipFill>
        <p:spPr>
          <a:xfrm>
            <a:off x="13661136" y="6437376"/>
            <a:ext cx="274320" cy="274320"/>
          </a:xfrm>
          <a:prstGeom prst="rect">
            <a:avLst/>
          </a:prstGeom>
        </p:spPr>
      </p:pic>
      <p:sp>
        <p:nvSpPr>
          <p:cNvPr id="51" name="TextBox 50"/>
          <p:cNvSpPr txBox="1"/>
          <p:nvPr/>
        </p:nvSpPr>
        <p:spPr>
          <a:xfrm>
            <a:off x="14081760" y="6345936"/>
            <a:ext cx="2889504" cy="804672"/>
          </a:xfrm>
          <a:prstGeom prst="rect">
            <a:avLst/>
          </a:prstGeom>
          <a:noFill/>
        </p:spPr>
        <p:txBody>
          <a:bodyPr wrap="square" lIns="0" tIns="0" rIns="0" bIns="0" anchor="t">
            <a:noAutofit/>
          </a:bodyPr>
          <a:lstStyle/>
          <a:p>
            <a:pPr algn="l">
              <a:lnSpc>
                <a:spcPct val="100000"/>
              </a:lnSpc>
            </a:pPr>
            <a:r>
              <a:rPr sz="1900" b="0" i="0">
                <a:solidFill>
                  <a:srgbClr val="172033"/>
                </a:solidFill>
                <a:latin typeface="Roboto Condensed"/>
              </a:rPr>
              <a:t>Explore partner-led localization.</a:t>
            </a:r>
          </a:p>
        </p:txBody>
      </p:sp>
      <p:sp>
        <p:nvSpPr>
          <p:cNvPr id="52" name="Rounded Rectangle 51"/>
          <p:cNvSpPr/>
          <p:nvPr/>
        </p:nvSpPr>
        <p:spPr>
          <a:xfrm>
            <a:off x="1097280" y="8522208"/>
            <a:ext cx="16093440" cy="84124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1097280" y="8522208"/>
            <a:ext cx="16093440" cy="841248"/>
          </a:xfrm>
          <a:prstGeom prst="rect">
            <a:avLst/>
          </a:prstGeom>
          <a:noFill/>
        </p:spPr>
        <p:txBody>
          <a:bodyPr wrap="square" lIns="0" tIns="0" rIns="0" bIns="0" anchor="ctr">
            <a:noAutofit/>
          </a:bodyPr>
          <a:lstStyle/>
          <a:p>
            <a:pPr algn="ctr"/>
            <a:r>
              <a:rPr sz="2500" b="1" i="0">
                <a:solidFill>
                  <a:srgbClr val="FFFFFF"/>
                </a:solidFill>
                <a:latin typeface="Roboto Condensed"/>
              </a:rPr>
              <a:t>Expansion follows evidence of paid demand and repeat use.</a:t>
            </a:r>
          </a:p>
        </p:txBody>
      </p:sp>
      <p:sp>
        <p:nvSpPr>
          <p:cNvPr id="54" name="TextBox 53"/>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ROADMAP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822960"/>
            <a:ext cx="16093440" cy="914400"/>
          </a:xfrm>
          <a:prstGeom prst="rect">
            <a:avLst/>
          </a:prstGeom>
          <a:noFill/>
        </p:spPr>
        <p:txBody>
          <a:bodyPr wrap="square" lIns="0" tIns="0" rIns="0" bIns="0" anchor="t">
            <a:noAutofit/>
          </a:bodyPr>
          <a:lstStyle/>
          <a:p>
            <a:pPr algn="l">
              <a:lnSpc>
                <a:spcPct val="95000"/>
              </a:lnSpc>
            </a:pPr>
            <a:r>
              <a:rPr sz="4800" b="1" i="0">
                <a:solidFill>
                  <a:srgbClr val="172033"/>
                </a:solidFill>
                <a:latin typeface="Roboto Condensed"/>
              </a:rPr>
              <a:t>Seeking Rp200 Million for 12 Months of Validation</a:t>
            </a:r>
          </a:p>
        </p:txBody>
      </p:sp>
      <p:sp>
        <p:nvSpPr>
          <p:cNvPr id="13" name="Rounded Rectangle 12"/>
          <p:cNvSpPr/>
          <p:nvPr/>
        </p:nvSpPr>
        <p:spPr>
          <a:xfrm>
            <a:off x="1097280" y="2103120"/>
            <a:ext cx="9509760" cy="6803136"/>
          </a:xfrm>
          <a:prstGeom prst="roundRect">
            <a:avLst>
              <a:gd name="adj" fmla="val 4301"/>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463040" y="2322576"/>
            <a:ext cx="5486400" cy="365760"/>
          </a:xfrm>
          <a:prstGeom prst="rect">
            <a:avLst/>
          </a:prstGeom>
          <a:noFill/>
        </p:spPr>
        <p:txBody>
          <a:bodyPr wrap="square" lIns="0" tIns="0" rIns="0" bIns="0" anchor="t">
            <a:noAutofit/>
          </a:bodyPr>
          <a:lstStyle/>
          <a:p>
            <a:pPr algn="l"/>
            <a:r>
              <a:rPr sz="1500" b="0" i="0">
                <a:solidFill>
                  <a:srgbClr val="7C3AED"/>
                </a:solidFill>
                <a:latin typeface="Roboto Condensed SemiBold"/>
              </a:rPr>
              <a:t>USE OF FUNDS</a:t>
            </a:r>
          </a:p>
        </p:txBody>
      </p:sp>
      <p:sp>
        <p:nvSpPr>
          <p:cNvPr id="15" name="Oval 14"/>
          <p:cNvSpPr/>
          <p:nvPr/>
        </p:nvSpPr>
        <p:spPr>
          <a:xfrm>
            <a:off x="1463040" y="2834640"/>
            <a:ext cx="585216" cy="58521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users_purple.png"/>
          <p:cNvPicPr>
            <a:picLocks noChangeAspect="1"/>
          </p:cNvPicPr>
          <p:nvPr/>
        </p:nvPicPr>
        <p:blipFill>
          <a:blip r:embed="rId3"/>
          <a:stretch>
            <a:fillRect/>
          </a:stretch>
        </p:blipFill>
        <p:spPr>
          <a:xfrm>
            <a:off x="1603491" y="2975091"/>
            <a:ext cx="304312" cy="304312"/>
          </a:xfrm>
          <a:prstGeom prst="rect">
            <a:avLst/>
          </a:prstGeom>
        </p:spPr>
      </p:pic>
      <p:sp>
        <p:nvSpPr>
          <p:cNvPr id="17" name="TextBox 16"/>
          <p:cNvSpPr txBox="1"/>
          <p:nvPr/>
        </p:nvSpPr>
        <p:spPr>
          <a:xfrm>
            <a:off x="2231136" y="2779776"/>
            <a:ext cx="6583680" cy="402336"/>
          </a:xfrm>
          <a:prstGeom prst="rect">
            <a:avLst/>
          </a:prstGeom>
          <a:noFill/>
        </p:spPr>
        <p:txBody>
          <a:bodyPr wrap="square" lIns="0" tIns="0" rIns="0" bIns="0" anchor="ctr">
            <a:noAutofit/>
          </a:bodyPr>
          <a:lstStyle/>
          <a:p>
            <a:pPr algn="l"/>
            <a:r>
              <a:rPr sz="1900" b="0" i="0">
                <a:solidFill>
                  <a:srgbClr val="172033"/>
                </a:solidFill>
                <a:latin typeface="Roboto Condensed SemiBold"/>
              </a:rPr>
              <a:t>Founder compensation</a:t>
            </a:r>
            <a:r>
              <a:rPr sz="1600" b="0" i="0">
                <a:solidFill>
                  <a:srgbClr val="172033"/>
                </a:solidFill>
                <a:latin typeface="Roboto Condensed"/>
              </a:rPr>
              <a:t>  ·  Two founders at Rp4M / month each</a:t>
            </a:r>
          </a:p>
        </p:txBody>
      </p:sp>
      <p:sp>
        <p:nvSpPr>
          <p:cNvPr id="18" name="TextBox 17"/>
          <p:cNvSpPr txBox="1"/>
          <p:nvPr/>
        </p:nvSpPr>
        <p:spPr>
          <a:xfrm>
            <a:off x="8412480" y="2779776"/>
            <a:ext cx="1828800" cy="402336"/>
          </a:xfrm>
          <a:prstGeom prst="rect">
            <a:avLst/>
          </a:prstGeom>
          <a:noFill/>
        </p:spPr>
        <p:txBody>
          <a:bodyPr wrap="square" lIns="0" tIns="0" rIns="0" bIns="0" anchor="ctr">
            <a:noAutofit/>
          </a:bodyPr>
          <a:lstStyle/>
          <a:p>
            <a:pPr algn="r"/>
            <a:r>
              <a:rPr sz="2200" b="1" i="0">
                <a:solidFill>
                  <a:srgbClr val="5B21B6"/>
                </a:solidFill>
                <a:latin typeface="Roboto Condensed"/>
              </a:rPr>
              <a:t>Rp96M</a:t>
            </a:r>
          </a:p>
        </p:txBody>
      </p:sp>
      <p:sp>
        <p:nvSpPr>
          <p:cNvPr id="19" name="Rounded Rectangle 18"/>
          <p:cNvSpPr/>
          <p:nvPr/>
        </p:nvSpPr>
        <p:spPr>
          <a:xfrm>
            <a:off x="2231136" y="3273552"/>
            <a:ext cx="8010144" cy="12801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2231136" y="3273552"/>
            <a:ext cx="3844869" cy="12801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1463040" y="3675888"/>
            <a:ext cx="585216" cy="58521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school_purple.png"/>
          <p:cNvPicPr>
            <a:picLocks noChangeAspect="1"/>
          </p:cNvPicPr>
          <p:nvPr/>
        </p:nvPicPr>
        <p:blipFill>
          <a:blip r:embed="rId4"/>
          <a:stretch>
            <a:fillRect/>
          </a:stretch>
        </p:blipFill>
        <p:spPr>
          <a:xfrm>
            <a:off x="1603491" y="3816339"/>
            <a:ext cx="304312" cy="304312"/>
          </a:xfrm>
          <a:prstGeom prst="rect">
            <a:avLst/>
          </a:prstGeom>
        </p:spPr>
      </p:pic>
      <p:sp>
        <p:nvSpPr>
          <p:cNvPr id="23" name="TextBox 22"/>
          <p:cNvSpPr txBox="1"/>
          <p:nvPr/>
        </p:nvSpPr>
        <p:spPr>
          <a:xfrm>
            <a:off x="2231136" y="3621024"/>
            <a:ext cx="6583680" cy="402336"/>
          </a:xfrm>
          <a:prstGeom prst="rect">
            <a:avLst/>
          </a:prstGeom>
          <a:noFill/>
        </p:spPr>
        <p:txBody>
          <a:bodyPr wrap="square" lIns="0" tIns="0" rIns="0" bIns="0" anchor="ctr">
            <a:noAutofit/>
          </a:bodyPr>
          <a:lstStyle/>
          <a:p>
            <a:pPr algn="l"/>
            <a:r>
              <a:rPr sz="1900" b="0" i="0">
                <a:solidFill>
                  <a:srgbClr val="172033"/>
                </a:solidFill>
                <a:latin typeface="Roboto Condensed SemiBold"/>
              </a:rPr>
              <a:t>Go-to-market and pilot acquisition</a:t>
            </a:r>
          </a:p>
        </p:txBody>
      </p:sp>
      <p:sp>
        <p:nvSpPr>
          <p:cNvPr id="24" name="TextBox 23"/>
          <p:cNvSpPr txBox="1"/>
          <p:nvPr/>
        </p:nvSpPr>
        <p:spPr>
          <a:xfrm>
            <a:off x="8412480" y="3621024"/>
            <a:ext cx="1828800" cy="402336"/>
          </a:xfrm>
          <a:prstGeom prst="rect">
            <a:avLst/>
          </a:prstGeom>
          <a:noFill/>
        </p:spPr>
        <p:txBody>
          <a:bodyPr wrap="square" lIns="0" tIns="0" rIns="0" bIns="0" anchor="ctr">
            <a:noAutofit/>
          </a:bodyPr>
          <a:lstStyle/>
          <a:p>
            <a:pPr algn="r"/>
            <a:r>
              <a:rPr sz="2200" b="1" i="0">
                <a:solidFill>
                  <a:srgbClr val="5B21B6"/>
                </a:solidFill>
                <a:latin typeface="Roboto Condensed"/>
              </a:rPr>
              <a:t>Rp30M</a:t>
            </a:r>
          </a:p>
        </p:txBody>
      </p:sp>
      <p:sp>
        <p:nvSpPr>
          <p:cNvPr id="25" name="Rounded Rectangle 24"/>
          <p:cNvSpPr/>
          <p:nvPr/>
        </p:nvSpPr>
        <p:spPr>
          <a:xfrm>
            <a:off x="2231136" y="4114800"/>
            <a:ext cx="8010144" cy="12801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2231136" y="4114800"/>
            <a:ext cx="1201521" cy="12801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1463040" y="4517136"/>
            <a:ext cx="585216" cy="58521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scan-line_purple.png"/>
          <p:cNvPicPr>
            <a:picLocks noChangeAspect="1"/>
          </p:cNvPicPr>
          <p:nvPr/>
        </p:nvPicPr>
        <p:blipFill>
          <a:blip r:embed="rId5"/>
          <a:stretch>
            <a:fillRect/>
          </a:stretch>
        </p:blipFill>
        <p:spPr>
          <a:xfrm>
            <a:off x="1603491" y="4657587"/>
            <a:ext cx="304312" cy="304312"/>
          </a:xfrm>
          <a:prstGeom prst="rect">
            <a:avLst/>
          </a:prstGeom>
        </p:spPr>
      </p:pic>
      <p:sp>
        <p:nvSpPr>
          <p:cNvPr id="29" name="TextBox 28"/>
          <p:cNvSpPr txBox="1"/>
          <p:nvPr/>
        </p:nvSpPr>
        <p:spPr>
          <a:xfrm>
            <a:off x="2231136" y="4462272"/>
            <a:ext cx="6583680" cy="402336"/>
          </a:xfrm>
          <a:prstGeom prst="rect">
            <a:avLst/>
          </a:prstGeom>
          <a:noFill/>
        </p:spPr>
        <p:txBody>
          <a:bodyPr wrap="square" lIns="0" tIns="0" rIns="0" bIns="0" anchor="ctr">
            <a:noAutofit/>
          </a:bodyPr>
          <a:lstStyle/>
          <a:p>
            <a:pPr algn="l"/>
            <a:r>
              <a:rPr sz="1900" b="0" i="0">
                <a:solidFill>
                  <a:srgbClr val="172033"/>
                </a:solidFill>
                <a:latin typeface="Roboto Condensed SemiBold"/>
              </a:rPr>
              <a:t>Product and infrastructure</a:t>
            </a:r>
          </a:p>
        </p:txBody>
      </p:sp>
      <p:sp>
        <p:nvSpPr>
          <p:cNvPr id="30" name="TextBox 29"/>
          <p:cNvSpPr txBox="1"/>
          <p:nvPr/>
        </p:nvSpPr>
        <p:spPr>
          <a:xfrm>
            <a:off x="8412480" y="4462272"/>
            <a:ext cx="1828800" cy="402336"/>
          </a:xfrm>
          <a:prstGeom prst="rect">
            <a:avLst/>
          </a:prstGeom>
          <a:noFill/>
        </p:spPr>
        <p:txBody>
          <a:bodyPr wrap="square" lIns="0" tIns="0" rIns="0" bIns="0" anchor="ctr">
            <a:noAutofit/>
          </a:bodyPr>
          <a:lstStyle/>
          <a:p>
            <a:pPr algn="r"/>
            <a:r>
              <a:rPr sz="2200" b="1" i="0">
                <a:solidFill>
                  <a:srgbClr val="5B21B6"/>
                </a:solidFill>
                <a:latin typeface="Roboto Condensed"/>
              </a:rPr>
              <a:t>Rp24M</a:t>
            </a:r>
          </a:p>
        </p:txBody>
      </p:sp>
      <p:sp>
        <p:nvSpPr>
          <p:cNvPr id="31" name="Rounded Rectangle 30"/>
          <p:cNvSpPr/>
          <p:nvPr/>
        </p:nvSpPr>
        <p:spPr>
          <a:xfrm>
            <a:off x="2231136" y="4956048"/>
            <a:ext cx="8010144" cy="12801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2231136" y="4956048"/>
            <a:ext cx="961217" cy="12801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463040" y="5358384"/>
            <a:ext cx="585216" cy="58521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palette_purple.png"/>
          <p:cNvPicPr>
            <a:picLocks noChangeAspect="1"/>
          </p:cNvPicPr>
          <p:nvPr/>
        </p:nvPicPr>
        <p:blipFill>
          <a:blip r:embed="rId6"/>
          <a:stretch>
            <a:fillRect/>
          </a:stretch>
        </p:blipFill>
        <p:spPr>
          <a:xfrm>
            <a:off x="1603491" y="5498835"/>
            <a:ext cx="304312" cy="304312"/>
          </a:xfrm>
          <a:prstGeom prst="rect">
            <a:avLst/>
          </a:prstGeom>
        </p:spPr>
      </p:pic>
      <p:sp>
        <p:nvSpPr>
          <p:cNvPr id="35" name="TextBox 34"/>
          <p:cNvSpPr txBox="1"/>
          <p:nvPr/>
        </p:nvSpPr>
        <p:spPr>
          <a:xfrm>
            <a:off x="2231136" y="5303520"/>
            <a:ext cx="6583680" cy="402336"/>
          </a:xfrm>
          <a:prstGeom prst="rect">
            <a:avLst/>
          </a:prstGeom>
          <a:noFill/>
        </p:spPr>
        <p:txBody>
          <a:bodyPr wrap="square" lIns="0" tIns="0" rIns="0" bIns="0" anchor="ctr">
            <a:noAutofit/>
          </a:bodyPr>
          <a:lstStyle/>
          <a:p>
            <a:pPr algn="l"/>
            <a:r>
              <a:rPr sz="1900" b="0" i="0">
                <a:solidFill>
                  <a:srgbClr val="172033"/>
                </a:solidFill>
                <a:latin typeface="Roboto Condensed SemiBold"/>
              </a:rPr>
              <a:t>Packs, samples, and demo materials</a:t>
            </a:r>
          </a:p>
        </p:txBody>
      </p:sp>
      <p:sp>
        <p:nvSpPr>
          <p:cNvPr id="36" name="TextBox 35"/>
          <p:cNvSpPr txBox="1"/>
          <p:nvPr/>
        </p:nvSpPr>
        <p:spPr>
          <a:xfrm>
            <a:off x="8412480" y="5303520"/>
            <a:ext cx="1828800" cy="402336"/>
          </a:xfrm>
          <a:prstGeom prst="rect">
            <a:avLst/>
          </a:prstGeom>
          <a:noFill/>
        </p:spPr>
        <p:txBody>
          <a:bodyPr wrap="square" lIns="0" tIns="0" rIns="0" bIns="0" anchor="ctr">
            <a:noAutofit/>
          </a:bodyPr>
          <a:lstStyle/>
          <a:p>
            <a:pPr algn="r"/>
            <a:r>
              <a:rPr sz="2200" b="1" i="0">
                <a:solidFill>
                  <a:srgbClr val="5B21B6"/>
                </a:solidFill>
                <a:latin typeface="Roboto Condensed"/>
              </a:rPr>
              <a:t>Rp20M</a:t>
            </a:r>
          </a:p>
        </p:txBody>
      </p:sp>
      <p:sp>
        <p:nvSpPr>
          <p:cNvPr id="37" name="Rounded Rectangle 36"/>
          <p:cNvSpPr/>
          <p:nvPr/>
        </p:nvSpPr>
        <p:spPr>
          <a:xfrm>
            <a:off x="2231136" y="5797296"/>
            <a:ext cx="8010144" cy="12801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2231136" y="5797296"/>
            <a:ext cx="801014" cy="12801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463040" y="6199632"/>
            <a:ext cx="585216" cy="58521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Picture 39" descr="book-open_purple.png"/>
          <p:cNvPicPr>
            <a:picLocks noChangeAspect="1"/>
          </p:cNvPicPr>
          <p:nvPr/>
        </p:nvPicPr>
        <p:blipFill>
          <a:blip r:embed="rId7"/>
          <a:stretch>
            <a:fillRect/>
          </a:stretch>
        </p:blipFill>
        <p:spPr>
          <a:xfrm>
            <a:off x="1603491" y="6340083"/>
            <a:ext cx="304312" cy="304312"/>
          </a:xfrm>
          <a:prstGeom prst="rect">
            <a:avLst/>
          </a:prstGeom>
        </p:spPr>
      </p:pic>
      <p:sp>
        <p:nvSpPr>
          <p:cNvPr id="41" name="TextBox 40"/>
          <p:cNvSpPr txBox="1"/>
          <p:nvPr/>
        </p:nvSpPr>
        <p:spPr>
          <a:xfrm>
            <a:off x="2231136" y="6144768"/>
            <a:ext cx="6583680" cy="402336"/>
          </a:xfrm>
          <a:prstGeom prst="rect">
            <a:avLst/>
          </a:prstGeom>
          <a:noFill/>
        </p:spPr>
        <p:txBody>
          <a:bodyPr wrap="square" lIns="0" tIns="0" rIns="0" bIns="0" anchor="ctr">
            <a:noAutofit/>
          </a:bodyPr>
          <a:lstStyle/>
          <a:p>
            <a:pPr algn="l"/>
            <a:r>
              <a:rPr sz="1900" b="0" i="0">
                <a:solidFill>
                  <a:srgbClr val="172033"/>
                </a:solidFill>
                <a:latin typeface="Roboto Condensed SemiBold"/>
              </a:rPr>
              <a:t>Content and additional worlds</a:t>
            </a:r>
          </a:p>
        </p:txBody>
      </p:sp>
      <p:sp>
        <p:nvSpPr>
          <p:cNvPr id="42" name="TextBox 41"/>
          <p:cNvSpPr txBox="1"/>
          <p:nvPr/>
        </p:nvSpPr>
        <p:spPr>
          <a:xfrm>
            <a:off x="8412480" y="6144768"/>
            <a:ext cx="1828800" cy="402336"/>
          </a:xfrm>
          <a:prstGeom prst="rect">
            <a:avLst/>
          </a:prstGeom>
          <a:noFill/>
        </p:spPr>
        <p:txBody>
          <a:bodyPr wrap="square" lIns="0" tIns="0" rIns="0" bIns="0" anchor="ctr">
            <a:noAutofit/>
          </a:bodyPr>
          <a:lstStyle/>
          <a:p>
            <a:pPr algn="r"/>
            <a:r>
              <a:rPr sz="2200" b="1" i="0">
                <a:solidFill>
                  <a:srgbClr val="5B21B6"/>
                </a:solidFill>
                <a:latin typeface="Roboto Condensed"/>
              </a:rPr>
              <a:t>Rp20M</a:t>
            </a:r>
          </a:p>
        </p:txBody>
      </p:sp>
      <p:sp>
        <p:nvSpPr>
          <p:cNvPr id="43" name="Rounded Rectangle 42"/>
          <p:cNvSpPr/>
          <p:nvPr/>
        </p:nvSpPr>
        <p:spPr>
          <a:xfrm>
            <a:off x="2231136" y="6638544"/>
            <a:ext cx="8010144" cy="12801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2231136" y="6638544"/>
            <a:ext cx="801014" cy="12801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463040" y="7040880"/>
            <a:ext cx="585216" cy="58521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Picture 45" descr="shield-check_purple.png"/>
          <p:cNvPicPr>
            <a:picLocks noChangeAspect="1"/>
          </p:cNvPicPr>
          <p:nvPr/>
        </p:nvPicPr>
        <p:blipFill>
          <a:blip r:embed="rId8"/>
          <a:stretch>
            <a:fillRect/>
          </a:stretch>
        </p:blipFill>
        <p:spPr>
          <a:xfrm>
            <a:off x="1603491" y="7181331"/>
            <a:ext cx="304312" cy="304312"/>
          </a:xfrm>
          <a:prstGeom prst="rect">
            <a:avLst/>
          </a:prstGeom>
        </p:spPr>
      </p:pic>
      <p:sp>
        <p:nvSpPr>
          <p:cNvPr id="47" name="TextBox 46"/>
          <p:cNvSpPr txBox="1"/>
          <p:nvPr/>
        </p:nvSpPr>
        <p:spPr>
          <a:xfrm>
            <a:off x="2231136" y="6986016"/>
            <a:ext cx="6583680" cy="402336"/>
          </a:xfrm>
          <a:prstGeom prst="rect">
            <a:avLst/>
          </a:prstGeom>
          <a:noFill/>
        </p:spPr>
        <p:txBody>
          <a:bodyPr wrap="square" lIns="0" tIns="0" rIns="0" bIns="0" anchor="ctr">
            <a:noAutofit/>
          </a:bodyPr>
          <a:lstStyle/>
          <a:p>
            <a:pPr algn="l"/>
            <a:r>
              <a:rPr sz="1900" b="0" i="0">
                <a:solidFill>
                  <a:srgbClr val="172033"/>
                </a:solidFill>
                <a:latin typeface="Roboto Condensed SemiBold"/>
              </a:rPr>
              <a:t>Legal, administration, and contingency</a:t>
            </a:r>
          </a:p>
        </p:txBody>
      </p:sp>
      <p:sp>
        <p:nvSpPr>
          <p:cNvPr id="48" name="TextBox 47"/>
          <p:cNvSpPr txBox="1"/>
          <p:nvPr/>
        </p:nvSpPr>
        <p:spPr>
          <a:xfrm>
            <a:off x="8412480" y="6986016"/>
            <a:ext cx="1828800" cy="402336"/>
          </a:xfrm>
          <a:prstGeom prst="rect">
            <a:avLst/>
          </a:prstGeom>
          <a:noFill/>
        </p:spPr>
        <p:txBody>
          <a:bodyPr wrap="square" lIns="0" tIns="0" rIns="0" bIns="0" anchor="ctr">
            <a:noAutofit/>
          </a:bodyPr>
          <a:lstStyle/>
          <a:p>
            <a:pPr algn="r"/>
            <a:r>
              <a:rPr sz="2200" b="1" i="0">
                <a:solidFill>
                  <a:srgbClr val="5B21B6"/>
                </a:solidFill>
                <a:latin typeface="Roboto Condensed"/>
              </a:rPr>
              <a:t>Rp10M</a:t>
            </a:r>
          </a:p>
        </p:txBody>
      </p:sp>
      <p:sp>
        <p:nvSpPr>
          <p:cNvPr id="49" name="Rounded Rectangle 48"/>
          <p:cNvSpPr/>
          <p:nvPr/>
        </p:nvSpPr>
        <p:spPr>
          <a:xfrm>
            <a:off x="2231136" y="7479792"/>
            <a:ext cx="8010144" cy="128016"/>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2231136" y="7479792"/>
            <a:ext cx="400507" cy="128016"/>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463040" y="7973568"/>
            <a:ext cx="877824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231136" y="8083296"/>
            <a:ext cx="5486400" cy="585216"/>
          </a:xfrm>
          <a:prstGeom prst="rect">
            <a:avLst/>
          </a:prstGeom>
          <a:noFill/>
        </p:spPr>
        <p:txBody>
          <a:bodyPr wrap="square" lIns="0" tIns="0" rIns="0" bIns="0" anchor="ctr">
            <a:noAutofit/>
          </a:bodyPr>
          <a:lstStyle/>
          <a:p>
            <a:pPr algn="l"/>
            <a:r>
              <a:rPr sz="2400" b="1" i="0">
                <a:solidFill>
                  <a:srgbClr val="172033"/>
                </a:solidFill>
                <a:latin typeface="Roboto Condensed"/>
              </a:rPr>
              <a:t>Total</a:t>
            </a:r>
          </a:p>
        </p:txBody>
      </p:sp>
      <p:sp>
        <p:nvSpPr>
          <p:cNvPr id="53" name="TextBox 52"/>
          <p:cNvSpPr txBox="1"/>
          <p:nvPr/>
        </p:nvSpPr>
        <p:spPr>
          <a:xfrm>
            <a:off x="7680960" y="8083296"/>
            <a:ext cx="2560320" cy="585216"/>
          </a:xfrm>
          <a:prstGeom prst="rect">
            <a:avLst/>
          </a:prstGeom>
          <a:noFill/>
        </p:spPr>
        <p:txBody>
          <a:bodyPr wrap="square" lIns="0" tIns="0" rIns="0" bIns="0" anchor="ctr">
            <a:noAutofit/>
          </a:bodyPr>
          <a:lstStyle/>
          <a:p>
            <a:pPr algn="r"/>
            <a:r>
              <a:rPr sz="3200" b="1" i="0">
                <a:solidFill>
                  <a:srgbClr val="7C3AED"/>
                </a:solidFill>
                <a:latin typeface="Roboto Condensed"/>
              </a:rPr>
              <a:t>Rp200M</a:t>
            </a:r>
          </a:p>
        </p:txBody>
      </p:sp>
      <p:sp>
        <p:nvSpPr>
          <p:cNvPr id="54" name="Rounded Rectangle 53"/>
          <p:cNvSpPr/>
          <p:nvPr/>
        </p:nvSpPr>
        <p:spPr>
          <a:xfrm>
            <a:off x="10972800" y="2103120"/>
            <a:ext cx="6217920" cy="4206240"/>
          </a:xfrm>
          <a:prstGeom prst="roundRect">
            <a:avLst>
              <a:gd name="adj" fmla="val 6956"/>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1301984" y="2322576"/>
            <a:ext cx="5486400" cy="365760"/>
          </a:xfrm>
          <a:prstGeom prst="rect">
            <a:avLst/>
          </a:prstGeom>
          <a:noFill/>
        </p:spPr>
        <p:txBody>
          <a:bodyPr wrap="square" lIns="0" tIns="0" rIns="0" bIns="0" anchor="t">
            <a:noAutofit/>
          </a:bodyPr>
          <a:lstStyle/>
          <a:p>
            <a:pPr algn="l"/>
            <a:r>
              <a:rPr sz="1500" b="0" i="0">
                <a:solidFill>
                  <a:srgbClr val="7C3AED"/>
                </a:solidFill>
                <a:latin typeface="Roboto Condensed SemiBold"/>
              </a:rPr>
              <a:t>12-MONTH TARGETS</a:t>
            </a:r>
          </a:p>
        </p:txBody>
      </p:sp>
      <p:pic>
        <p:nvPicPr>
          <p:cNvPr id="56" name="Picture 55" descr="check_purple.png"/>
          <p:cNvPicPr>
            <a:picLocks noChangeAspect="1"/>
          </p:cNvPicPr>
          <p:nvPr/>
        </p:nvPicPr>
        <p:blipFill>
          <a:blip r:embed="rId9"/>
          <a:stretch>
            <a:fillRect/>
          </a:stretch>
        </p:blipFill>
        <p:spPr>
          <a:xfrm>
            <a:off x="11301984" y="2889504"/>
            <a:ext cx="274320" cy="274320"/>
          </a:xfrm>
          <a:prstGeom prst="rect">
            <a:avLst/>
          </a:prstGeom>
        </p:spPr>
      </p:pic>
      <p:sp>
        <p:nvSpPr>
          <p:cNvPr id="57" name="TextBox 56"/>
          <p:cNvSpPr txBox="1"/>
          <p:nvPr/>
        </p:nvSpPr>
        <p:spPr>
          <a:xfrm>
            <a:off x="11704320" y="2798064"/>
            <a:ext cx="5212080" cy="438912"/>
          </a:xfrm>
          <a:prstGeom prst="rect">
            <a:avLst/>
          </a:prstGeom>
          <a:noFill/>
        </p:spPr>
        <p:txBody>
          <a:bodyPr wrap="square" lIns="0" tIns="0" rIns="0" bIns="0" anchor="t">
            <a:noAutofit/>
          </a:bodyPr>
          <a:lstStyle/>
          <a:p>
            <a:pPr algn="l">
              <a:lnSpc>
                <a:spcPct val="100000"/>
              </a:lnSpc>
            </a:pPr>
            <a:r>
              <a:rPr sz="1900" b="0" i="0">
                <a:solidFill>
                  <a:srgbClr val="172033"/>
                </a:solidFill>
                <a:latin typeface="Roboto Condensed"/>
              </a:rPr>
              <a:t>48 paid school / event sessions</a:t>
            </a:r>
          </a:p>
        </p:txBody>
      </p:sp>
      <p:pic>
        <p:nvPicPr>
          <p:cNvPr id="58" name="Picture 57" descr="check_purple.png"/>
          <p:cNvPicPr>
            <a:picLocks noChangeAspect="1"/>
          </p:cNvPicPr>
          <p:nvPr/>
        </p:nvPicPr>
        <p:blipFill>
          <a:blip r:embed="rId9"/>
          <a:stretch>
            <a:fillRect/>
          </a:stretch>
        </p:blipFill>
        <p:spPr>
          <a:xfrm>
            <a:off x="11301984" y="3529584"/>
            <a:ext cx="274320" cy="274320"/>
          </a:xfrm>
          <a:prstGeom prst="rect">
            <a:avLst/>
          </a:prstGeom>
        </p:spPr>
      </p:pic>
      <p:sp>
        <p:nvSpPr>
          <p:cNvPr id="59" name="TextBox 58"/>
          <p:cNvSpPr txBox="1"/>
          <p:nvPr/>
        </p:nvSpPr>
        <p:spPr>
          <a:xfrm>
            <a:off x="11704320" y="3438144"/>
            <a:ext cx="5212080" cy="438912"/>
          </a:xfrm>
          <a:prstGeom prst="rect">
            <a:avLst/>
          </a:prstGeom>
          <a:noFill/>
        </p:spPr>
        <p:txBody>
          <a:bodyPr wrap="square" lIns="0" tIns="0" rIns="0" bIns="0" anchor="t">
            <a:noAutofit/>
          </a:bodyPr>
          <a:lstStyle/>
          <a:p>
            <a:pPr algn="l">
              <a:lnSpc>
                <a:spcPct val="100000"/>
              </a:lnSpc>
            </a:pPr>
            <a:r>
              <a:rPr sz="1900" b="0" i="0">
                <a:solidFill>
                  <a:srgbClr val="172033"/>
                </a:solidFill>
                <a:latin typeface="Roboto Condensed"/>
              </a:rPr>
              <a:t>600 family packs</a:t>
            </a:r>
          </a:p>
        </p:txBody>
      </p:sp>
      <p:pic>
        <p:nvPicPr>
          <p:cNvPr id="60" name="Picture 59" descr="check_purple.png"/>
          <p:cNvPicPr>
            <a:picLocks noChangeAspect="1"/>
          </p:cNvPicPr>
          <p:nvPr/>
        </p:nvPicPr>
        <p:blipFill>
          <a:blip r:embed="rId9"/>
          <a:stretch>
            <a:fillRect/>
          </a:stretch>
        </p:blipFill>
        <p:spPr>
          <a:xfrm>
            <a:off x="11301984" y="4169663"/>
            <a:ext cx="274320" cy="274320"/>
          </a:xfrm>
          <a:prstGeom prst="rect">
            <a:avLst/>
          </a:prstGeom>
        </p:spPr>
      </p:pic>
      <p:sp>
        <p:nvSpPr>
          <p:cNvPr id="61" name="TextBox 60"/>
          <p:cNvSpPr txBox="1"/>
          <p:nvPr/>
        </p:nvSpPr>
        <p:spPr>
          <a:xfrm>
            <a:off x="11704320" y="4078224"/>
            <a:ext cx="5212080" cy="438912"/>
          </a:xfrm>
          <a:prstGeom prst="rect">
            <a:avLst/>
          </a:prstGeom>
          <a:noFill/>
        </p:spPr>
        <p:txBody>
          <a:bodyPr wrap="square" lIns="0" tIns="0" rIns="0" bIns="0" anchor="t">
            <a:noAutofit/>
          </a:bodyPr>
          <a:lstStyle/>
          <a:p>
            <a:pPr algn="l">
              <a:lnSpc>
                <a:spcPct val="100000"/>
              </a:lnSpc>
            </a:pPr>
            <a:r>
              <a:rPr sz="1900" b="0" i="0">
                <a:solidFill>
                  <a:srgbClr val="172033"/>
                </a:solidFill>
                <a:latin typeface="Roboto Condensed"/>
              </a:rPr>
              <a:t>Four interactive worlds</a:t>
            </a:r>
          </a:p>
        </p:txBody>
      </p:sp>
      <p:pic>
        <p:nvPicPr>
          <p:cNvPr id="62" name="Picture 61" descr="check_purple.png"/>
          <p:cNvPicPr>
            <a:picLocks noChangeAspect="1"/>
          </p:cNvPicPr>
          <p:nvPr/>
        </p:nvPicPr>
        <p:blipFill>
          <a:blip r:embed="rId9"/>
          <a:stretch>
            <a:fillRect/>
          </a:stretch>
        </p:blipFill>
        <p:spPr>
          <a:xfrm>
            <a:off x="11301984" y="4809744"/>
            <a:ext cx="274320" cy="274320"/>
          </a:xfrm>
          <a:prstGeom prst="rect">
            <a:avLst/>
          </a:prstGeom>
        </p:spPr>
      </p:pic>
      <p:sp>
        <p:nvSpPr>
          <p:cNvPr id="63" name="TextBox 62"/>
          <p:cNvSpPr txBox="1"/>
          <p:nvPr/>
        </p:nvSpPr>
        <p:spPr>
          <a:xfrm>
            <a:off x="11704320" y="4718304"/>
            <a:ext cx="5212080" cy="438912"/>
          </a:xfrm>
          <a:prstGeom prst="rect">
            <a:avLst/>
          </a:prstGeom>
          <a:noFill/>
        </p:spPr>
        <p:txBody>
          <a:bodyPr wrap="square" lIns="0" tIns="0" rIns="0" bIns="0" anchor="t">
            <a:noAutofit/>
          </a:bodyPr>
          <a:lstStyle/>
          <a:p>
            <a:pPr algn="l">
              <a:lnSpc>
                <a:spcPct val="100000"/>
              </a:lnSpc>
            </a:pPr>
            <a:r>
              <a:rPr sz="1900" b="0" i="0">
                <a:solidFill>
                  <a:srgbClr val="172033"/>
                </a:solidFill>
                <a:latin typeface="Roboto Condensed"/>
              </a:rPr>
              <a:t>Scanvas Studio operational</a:t>
            </a:r>
          </a:p>
        </p:txBody>
      </p:sp>
      <p:pic>
        <p:nvPicPr>
          <p:cNvPr id="64" name="Picture 63" descr="check_purple.png"/>
          <p:cNvPicPr>
            <a:picLocks noChangeAspect="1"/>
          </p:cNvPicPr>
          <p:nvPr/>
        </p:nvPicPr>
        <p:blipFill>
          <a:blip r:embed="rId9"/>
          <a:stretch>
            <a:fillRect/>
          </a:stretch>
        </p:blipFill>
        <p:spPr>
          <a:xfrm>
            <a:off x="11301984" y="5449824"/>
            <a:ext cx="274320" cy="274320"/>
          </a:xfrm>
          <a:prstGeom prst="rect">
            <a:avLst/>
          </a:prstGeom>
        </p:spPr>
      </p:pic>
      <p:sp>
        <p:nvSpPr>
          <p:cNvPr id="65" name="TextBox 64"/>
          <p:cNvSpPr txBox="1"/>
          <p:nvPr/>
        </p:nvSpPr>
        <p:spPr>
          <a:xfrm>
            <a:off x="11704320" y="5358384"/>
            <a:ext cx="5212080" cy="804672"/>
          </a:xfrm>
          <a:prstGeom prst="rect">
            <a:avLst/>
          </a:prstGeom>
          <a:noFill/>
        </p:spPr>
        <p:txBody>
          <a:bodyPr wrap="square" lIns="0" tIns="0" rIns="0" bIns="0" anchor="t">
            <a:noAutofit/>
          </a:bodyPr>
          <a:lstStyle/>
          <a:p>
            <a:pPr algn="l">
              <a:lnSpc>
                <a:spcPct val="100000"/>
              </a:lnSpc>
            </a:pPr>
            <a:r>
              <a:rPr sz="1900" b="0" i="0">
                <a:solidFill>
                  <a:srgbClr val="172033"/>
                </a:solidFill>
                <a:latin typeface="Roboto Condensed"/>
              </a:rPr>
              <a:t>Repeat purchase and rebooking measured separately</a:t>
            </a:r>
          </a:p>
        </p:txBody>
      </p:sp>
      <p:sp>
        <p:nvSpPr>
          <p:cNvPr id="66" name="Rounded Rectangle 65"/>
          <p:cNvSpPr/>
          <p:nvPr/>
        </p:nvSpPr>
        <p:spPr>
          <a:xfrm>
            <a:off x="10972800" y="6528816"/>
            <a:ext cx="6217920" cy="2377440"/>
          </a:xfrm>
          <a:prstGeom prst="roundRect">
            <a:avLst>
              <a:gd name="adj" fmla="val 12307"/>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11301984" y="6729984"/>
            <a:ext cx="5486400" cy="365760"/>
          </a:xfrm>
          <a:prstGeom prst="rect">
            <a:avLst/>
          </a:prstGeom>
          <a:noFill/>
        </p:spPr>
        <p:txBody>
          <a:bodyPr wrap="square" lIns="0" tIns="0" rIns="0" bIns="0" anchor="t">
            <a:noAutofit/>
          </a:bodyPr>
          <a:lstStyle/>
          <a:p>
            <a:pPr algn="l"/>
            <a:r>
              <a:rPr sz="1500" b="0" i="0">
                <a:solidFill>
                  <a:srgbClr val="EDE9FE"/>
                </a:solidFill>
                <a:latin typeface="Roboto Condensed SemiBold"/>
              </a:rPr>
              <a:t>ILLUSTRATIVE REVENUE SCENARIO</a:t>
            </a:r>
          </a:p>
        </p:txBody>
      </p:sp>
      <p:sp>
        <p:nvSpPr>
          <p:cNvPr id="68" name="TextBox 67"/>
          <p:cNvSpPr txBox="1"/>
          <p:nvPr/>
        </p:nvSpPr>
        <p:spPr>
          <a:xfrm>
            <a:off x="11301984" y="7132320"/>
            <a:ext cx="5486400" cy="914400"/>
          </a:xfrm>
          <a:prstGeom prst="rect">
            <a:avLst/>
          </a:prstGeom>
          <a:noFill/>
        </p:spPr>
        <p:txBody>
          <a:bodyPr wrap="square" lIns="0" tIns="0" rIns="0" bIns="0" anchor="ctr">
            <a:noAutofit/>
          </a:bodyPr>
          <a:lstStyle/>
          <a:p>
            <a:pPr algn="l"/>
            <a:r>
              <a:rPr sz="5200" b="1" i="0">
                <a:solidFill>
                  <a:srgbClr val="FFFFFF"/>
                </a:solidFill>
                <a:latin typeface="Roboto Condensed"/>
              </a:rPr>
              <a:t>Rp77.4M</a:t>
            </a:r>
          </a:p>
        </p:txBody>
      </p:sp>
      <p:sp>
        <p:nvSpPr>
          <p:cNvPr id="69" name="TextBox 68"/>
          <p:cNvSpPr txBox="1"/>
          <p:nvPr/>
        </p:nvSpPr>
        <p:spPr>
          <a:xfrm>
            <a:off x="11301984" y="8083296"/>
            <a:ext cx="5577840" cy="658368"/>
          </a:xfrm>
          <a:prstGeom prst="rect">
            <a:avLst/>
          </a:prstGeom>
          <a:noFill/>
        </p:spPr>
        <p:txBody>
          <a:bodyPr wrap="square" lIns="0" tIns="0" rIns="0" bIns="0" anchor="t">
            <a:noAutofit/>
          </a:bodyPr>
          <a:lstStyle/>
          <a:p>
            <a:pPr algn="l">
              <a:lnSpc>
                <a:spcPct val="100000"/>
              </a:lnSpc>
            </a:pPr>
            <a:r>
              <a:rPr sz="1700" b="0" i="0">
                <a:solidFill>
                  <a:srgbClr val="EDE9FE"/>
                </a:solidFill>
                <a:latin typeface="Roboto Condensed"/>
              </a:rPr>
              <a:t>48 sessions at Rp1M + 600 packs at Rp49K</a:t>
            </a:r>
          </a:p>
        </p:txBody>
      </p:sp>
      <p:sp>
        <p:nvSpPr>
          <p:cNvPr id="70" name="TextBox 69"/>
          <p:cNvSpPr txBox="1"/>
          <p:nvPr/>
        </p:nvSpPr>
        <p:spPr>
          <a:xfrm>
            <a:off x="1097280" y="9089136"/>
            <a:ext cx="16093440" cy="438912"/>
          </a:xfrm>
          <a:prstGeom prst="rect">
            <a:avLst/>
          </a:prstGeom>
          <a:noFill/>
        </p:spPr>
        <p:txBody>
          <a:bodyPr wrap="square" lIns="0" tIns="0" rIns="0" bIns="0" anchor="ctr">
            <a:noAutofit/>
          </a:bodyPr>
          <a:lstStyle/>
          <a:p>
            <a:pPr algn="l"/>
            <a:r>
              <a:rPr sz="1600" b="0" i="0">
                <a:solidFill>
                  <a:srgbClr val="172033"/>
                </a:solidFill>
                <a:latin typeface="Roboto Condensed"/>
              </a:rPr>
              <a:t>Targets and prices are planning assumptions. Revenue represents sales, before costs.</a:t>
            </a:r>
          </a:p>
        </p:txBody>
      </p:sp>
      <p:sp>
        <p:nvSpPr>
          <p:cNvPr id="71" name="TextBox 70"/>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THE ASK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822960"/>
            <a:ext cx="10241280" cy="914400"/>
          </a:xfrm>
          <a:prstGeom prst="rect">
            <a:avLst/>
          </a:prstGeom>
          <a:noFill/>
        </p:spPr>
        <p:txBody>
          <a:bodyPr wrap="square" lIns="0" tIns="0" rIns="0" bIns="0" anchor="t">
            <a:noAutofit/>
          </a:bodyPr>
          <a:lstStyle/>
          <a:p>
            <a:pPr algn="l">
              <a:lnSpc>
                <a:spcPct val="95000"/>
              </a:lnSpc>
            </a:pPr>
            <a:r>
              <a:rPr sz="5200" b="1" i="0">
                <a:solidFill>
                  <a:srgbClr val="172033"/>
                </a:solidFill>
                <a:latin typeface="Roboto Condensed"/>
              </a:rPr>
              <a:t>Our Next Step Through ITEC</a:t>
            </a:r>
          </a:p>
        </p:txBody>
      </p:sp>
      <p:sp>
        <p:nvSpPr>
          <p:cNvPr id="13" name="Rounded Rectangle 12"/>
          <p:cNvSpPr/>
          <p:nvPr/>
        </p:nvSpPr>
        <p:spPr>
          <a:xfrm>
            <a:off x="1097280" y="2157984"/>
            <a:ext cx="10058400" cy="1609344"/>
          </a:xfrm>
          <a:prstGeom prst="roundRect">
            <a:avLst>
              <a:gd name="adj" fmla="val 15909"/>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389888" y="2523744"/>
            <a:ext cx="841248" cy="84124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chool_purple.png"/>
          <p:cNvPicPr>
            <a:picLocks noChangeAspect="1"/>
          </p:cNvPicPr>
          <p:nvPr/>
        </p:nvPicPr>
        <p:blipFill>
          <a:blip r:embed="rId3"/>
          <a:stretch>
            <a:fillRect/>
          </a:stretch>
        </p:blipFill>
        <p:spPr>
          <a:xfrm>
            <a:off x="1591787" y="2725643"/>
            <a:ext cx="437448" cy="437448"/>
          </a:xfrm>
          <a:prstGeom prst="rect">
            <a:avLst/>
          </a:prstGeom>
        </p:spPr>
      </p:pic>
      <p:sp>
        <p:nvSpPr>
          <p:cNvPr id="16" name="TextBox 15"/>
          <p:cNvSpPr txBox="1"/>
          <p:nvPr/>
        </p:nvSpPr>
        <p:spPr>
          <a:xfrm>
            <a:off x="2487168" y="2304288"/>
            <a:ext cx="8412480" cy="512064"/>
          </a:xfrm>
          <a:prstGeom prst="rect">
            <a:avLst/>
          </a:prstGeom>
          <a:noFill/>
        </p:spPr>
        <p:txBody>
          <a:bodyPr wrap="square" lIns="0" tIns="0" rIns="0" bIns="0" anchor="t">
            <a:noAutofit/>
          </a:bodyPr>
          <a:lstStyle/>
          <a:p>
            <a:pPr algn="l"/>
            <a:r>
              <a:rPr sz="2500" b="1" i="0">
                <a:solidFill>
                  <a:srgbClr val="172033"/>
                </a:solidFill>
                <a:latin typeface="Roboto Condensed"/>
              </a:rPr>
              <a:t>Institutional pilot partners</a:t>
            </a:r>
          </a:p>
        </p:txBody>
      </p:sp>
      <p:sp>
        <p:nvSpPr>
          <p:cNvPr id="17" name="TextBox 16"/>
          <p:cNvSpPr txBox="1"/>
          <p:nvPr/>
        </p:nvSpPr>
        <p:spPr>
          <a:xfrm>
            <a:off x="2487168" y="2834639"/>
            <a:ext cx="8412480" cy="877824"/>
          </a:xfrm>
          <a:prstGeom prst="rect">
            <a:avLst/>
          </a:prstGeom>
          <a:noFill/>
        </p:spPr>
        <p:txBody>
          <a:bodyPr wrap="square" lIns="0" tIns="0" rIns="0" bIns="0" anchor="t">
            <a:noAutofit/>
          </a:bodyPr>
          <a:lstStyle/>
          <a:p>
            <a:pPr algn="l">
              <a:lnSpc>
                <a:spcPct val="105000"/>
              </a:lnSpc>
            </a:pPr>
            <a:r>
              <a:rPr sz="1900" b="0" i="0">
                <a:solidFill>
                  <a:srgbClr val="172033"/>
                </a:solidFill>
                <a:latin typeface="Roboto Condensed"/>
              </a:rPr>
              <a:t>Schools and activity organizers to test paid, repeatable sessions.</a:t>
            </a:r>
          </a:p>
        </p:txBody>
      </p:sp>
      <p:sp>
        <p:nvSpPr>
          <p:cNvPr id="18" name="Rounded Rectangle 17"/>
          <p:cNvSpPr/>
          <p:nvPr/>
        </p:nvSpPr>
        <p:spPr>
          <a:xfrm>
            <a:off x="1097280" y="3950208"/>
            <a:ext cx="10058400" cy="1609344"/>
          </a:xfrm>
          <a:prstGeom prst="roundRect">
            <a:avLst>
              <a:gd name="adj" fmla="val 15909"/>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1389888" y="4315968"/>
            <a:ext cx="841248" cy="841248"/>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layers_purple.png"/>
          <p:cNvPicPr>
            <a:picLocks noChangeAspect="1"/>
          </p:cNvPicPr>
          <p:nvPr/>
        </p:nvPicPr>
        <p:blipFill>
          <a:blip r:embed="rId4"/>
          <a:stretch>
            <a:fillRect/>
          </a:stretch>
        </p:blipFill>
        <p:spPr>
          <a:xfrm>
            <a:off x="1591787" y="4517867"/>
            <a:ext cx="437448" cy="437448"/>
          </a:xfrm>
          <a:prstGeom prst="rect">
            <a:avLst/>
          </a:prstGeom>
        </p:spPr>
      </p:pic>
      <p:sp>
        <p:nvSpPr>
          <p:cNvPr id="21" name="TextBox 20"/>
          <p:cNvSpPr txBox="1"/>
          <p:nvPr/>
        </p:nvSpPr>
        <p:spPr>
          <a:xfrm>
            <a:off x="2487168" y="4096512"/>
            <a:ext cx="8412480" cy="512064"/>
          </a:xfrm>
          <a:prstGeom prst="rect">
            <a:avLst/>
          </a:prstGeom>
          <a:noFill/>
        </p:spPr>
        <p:txBody>
          <a:bodyPr wrap="square" lIns="0" tIns="0" rIns="0" bIns="0" anchor="t">
            <a:noAutofit/>
          </a:bodyPr>
          <a:lstStyle/>
          <a:p>
            <a:pPr algn="l"/>
            <a:r>
              <a:rPr sz="2500" b="1" i="0">
                <a:solidFill>
                  <a:srgbClr val="172033"/>
                </a:solidFill>
                <a:latin typeface="Roboto Condensed"/>
              </a:rPr>
              <a:t>Content and localization partners</a:t>
            </a:r>
          </a:p>
        </p:txBody>
      </p:sp>
      <p:sp>
        <p:nvSpPr>
          <p:cNvPr id="22" name="TextBox 21"/>
          <p:cNvSpPr txBox="1"/>
          <p:nvPr/>
        </p:nvSpPr>
        <p:spPr>
          <a:xfrm>
            <a:off x="2487168" y="4626864"/>
            <a:ext cx="8412480" cy="877824"/>
          </a:xfrm>
          <a:prstGeom prst="rect">
            <a:avLst/>
          </a:prstGeom>
          <a:noFill/>
        </p:spPr>
        <p:txBody>
          <a:bodyPr wrap="square" lIns="0" tIns="0" rIns="0" bIns="0" anchor="t">
            <a:noAutofit/>
          </a:bodyPr>
          <a:lstStyle/>
          <a:p>
            <a:pPr algn="l">
              <a:lnSpc>
                <a:spcPct val="105000"/>
              </a:lnSpc>
            </a:pPr>
            <a:r>
              <a:rPr sz="1900" b="0" i="0">
                <a:solidFill>
                  <a:srgbClr val="172033"/>
                </a:solidFill>
                <a:latin typeface="Roboto Condensed"/>
              </a:rPr>
              <a:t>Children’s content creators and cultural partners to develop relevant worlds.</a:t>
            </a:r>
          </a:p>
        </p:txBody>
      </p:sp>
      <p:sp>
        <p:nvSpPr>
          <p:cNvPr id="23" name="Rounded Rectangle 22"/>
          <p:cNvSpPr/>
          <p:nvPr/>
        </p:nvSpPr>
        <p:spPr>
          <a:xfrm>
            <a:off x="1097280" y="5742431"/>
            <a:ext cx="10058400" cy="1609344"/>
          </a:xfrm>
          <a:prstGeom prst="roundRect">
            <a:avLst>
              <a:gd name="adj" fmla="val 15909"/>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389888" y="6108192"/>
            <a:ext cx="841248" cy="84124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globe_purple.png"/>
          <p:cNvPicPr>
            <a:picLocks noChangeAspect="1"/>
          </p:cNvPicPr>
          <p:nvPr/>
        </p:nvPicPr>
        <p:blipFill>
          <a:blip r:embed="rId5"/>
          <a:stretch>
            <a:fillRect/>
          </a:stretch>
        </p:blipFill>
        <p:spPr>
          <a:xfrm>
            <a:off x="1591787" y="6310091"/>
            <a:ext cx="437448" cy="437448"/>
          </a:xfrm>
          <a:prstGeom prst="rect">
            <a:avLst/>
          </a:prstGeom>
        </p:spPr>
      </p:pic>
      <p:sp>
        <p:nvSpPr>
          <p:cNvPr id="26" name="TextBox 25"/>
          <p:cNvSpPr txBox="1"/>
          <p:nvPr/>
        </p:nvSpPr>
        <p:spPr>
          <a:xfrm>
            <a:off x="2487168" y="5888736"/>
            <a:ext cx="8412480" cy="512064"/>
          </a:xfrm>
          <a:prstGeom prst="rect">
            <a:avLst/>
          </a:prstGeom>
          <a:noFill/>
        </p:spPr>
        <p:txBody>
          <a:bodyPr wrap="square" lIns="0" tIns="0" rIns="0" bIns="0" anchor="t">
            <a:noAutofit/>
          </a:bodyPr>
          <a:lstStyle/>
          <a:p>
            <a:pPr algn="l"/>
            <a:r>
              <a:rPr sz="2500" b="1" i="0">
                <a:solidFill>
                  <a:srgbClr val="172033"/>
                </a:solidFill>
                <a:latin typeface="Roboto Condensed"/>
              </a:rPr>
              <a:t>A potential Chaoyang pilot</a:t>
            </a:r>
          </a:p>
        </p:txBody>
      </p:sp>
      <p:sp>
        <p:nvSpPr>
          <p:cNvPr id="27" name="TextBox 26"/>
          <p:cNvSpPr txBox="1"/>
          <p:nvPr/>
        </p:nvSpPr>
        <p:spPr>
          <a:xfrm>
            <a:off x="2487168" y="6419088"/>
            <a:ext cx="8412480" cy="877824"/>
          </a:xfrm>
          <a:prstGeom prst="rect">
            <a:avLst/>
          </a:prstGeom>
          <a:noFill/>
        </p:spPr>
        <p:txBody>
          <a:bodyPr wrap="square" lIns="0" tIns="0" rIns="0" bIns="0" anchor="t">
            <a:noAutofit/>
          </a:bodyPr>
          <a:lstStyle/>
          <a:p>
            <a:pPr algn="l">
              <a:lnSpc>
                <a:spcPct val="105000"/>
              </a:lnSpc>
            </a:pPr>
            <a:r>
              <a:rPr sz="1900" b="0" i="0">
                <a:solidFill>
                  <a:srgbClr val="172033"/>
                </a:solidFill>
                <a:latin typeface="Roboto Condensed"/>
              </a:rPr>
              <a:t>Work with a local partner to select a use case, adapt language and content, and test demand before committing to expansion.</a:t>
            </a:r>
          </a:p>
        </p:txBody>
      </p:sp>
      <p:sp>
        <p:nvSpPr>
          <p:cNvPr id="28" name="TextBox 27"/>
          <p:cNvSpPr txBox="1"/>
          <p:nvPr/>
        </p:nvSpPr>
        <p:spPr>
          <a:xfrm>
            <a:off x="1097280" y="7680960"/>
            <a:ext cx="10058400" cy="1554480"/>
          </a:xfrm>
          <a:prstGeom prst="rect">
            <a:avLst/>
          </a:prstGeom>
          <a:noFill/>
        </p:spPr>
        <p:txBody>
          <a:bodyPr wrap="square" lIns="0" tIns="0" rIns="0" bIns="0" anchor="ctr">
            <a:noAutofit/>
          </a:bodyPr>
          <a:lstStyle/>
          <a:p>
            <a:pPr algn="l">
              <a:lnSpc>
                <a:spcPct val="100000"/>
              </a:lnSpc>
            </a:pPr>
            <a:r>
              <a:rPr sz="3400" b="1" i="0">
                <a:solidFill>
                  <a:srgbClr val="7C3AED"/>
                </a:solidFill>
                <a:latin typeface="Roboto Condensed"/>
              </a:rPr>
              <a:t>Scanvas gives children a world shaped by their own creativity.</a:t>
            </a:r>
          </a:p>
        </p:txBody>
      </p:sp>
      <p:sp>
        <p:nvSpPr>
          <p:cNvPr id="29" name="Rounded Rectangle 28"/>
          <p:cNvSpPr/>
          <p:nvPr/>
        </p:nvSpPr>
        <p:spPr>
          <a:xfrm>
            <a:off x="11612880" y="1371600"/>
            <a:ext cx="5577840" cy="8138160"/>
          </a:xfrm>
          <a:prstGeom prst="roundRect">
            <a:avLst>
              <a:gd name="adj" fmla="val 6557"/>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A child’s whale alive in the Scanvas ocean"/>
          <p:cNvPicPr>
            <a:picLocks noChangeAspect="1"/>
          </p:cNvPicPr>
          <p:nvPr/>
        </p:nvPicPr>
        <p:blipFill>
          <a:blip r:embed="rId6"/>
          <a:stretch>
            <a:fillRect/>
          </a:stretch>
        </p:blipFill>
        <p:spPr>
          <a:xfrm>
            <a:off x="11887200" y="1645920"/>
            <a:ext cx="5029200" cy="2866644"/>
          </a:xfrm>
          <a:prstGeom prst="rect">
            <a:avLst/>
          </a:prstGeom>
        </p:spPr>
      </p:pic>
      <p:pic>
        <p:nvPicPr>
          <p:cNvPr id="31" name="Picture 30" descr="QR code to the Scanvas digital trial">
            <a:hlinkClick r:id="rId7"/>
          </p:cNvPr>
          <p:cNvPicPr>
            <a:picLocks noChangeAspect="1"/>
          </p:cNvPicPr>
          <p:nvPr/>
        </p:nvPicPr>
        <p:blipFill>
          <a:blip r:embed="rId8"/>
          <a:stretch>
            <a:fillRect/>
          </a:stretch>
        </p:blipFill>
        <p:spPr>
          <a:xfrm>
            <a:off x="13258800" y="4754880"/>
            <a:ext cx="2286000" cy="2286000"/>
          </a:xfrm>
          <a:prstGeom prst="rect">
            <a:avLst/>
          </a:prstGeom>
        </p:spPr>
      </p:pic>
      <p:sp>
        <p:nvSpPr>
          <p:cNvPr id="32" name="Rounded Rectangle 31"/>
          <p:cNvSpPr/>
          <p:nvPr/>
        </p:nvSpPr>
        <p:spPr>
          <a:xfrm>
            <a:off x="12712446" y="7168896"/>
            <a:ext cx="3378708" cy="47548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FFFFFF"/>
                </a:solidFill>
                <a:latin typeface="Roboto Condensed SemiBold"/>
              </a:rPr>
              <a:t>TRY THE DIGITAL TRIAL</a:t>
            </a:r>
          </a:p>
        </p:txBody>
      </p:sp>
      <p:sp>
        <p:nvSpPr>
          <p:cNvPr id="33" name="TextBox 32"/>
          <p:cNvSpPr txBox="1"/>
          <p:nvPr/>
        </p:nvSpPr>
        <p:spPr>
          <a:xfrm>
            <a:off x="11612880" y="7790688"/>
            <a:ext cx="5577840" cy="548640"/>
          </a:xfrm>
          <a:prstGeom prst="rect">
            <a:avLst/>
          </a:prstGeom>
          <a:noFill/>
        </p:spPr>
        <p:txBody>
          <a:bodyPr wrap="square" lIns="0" tIns="0" rIns="0" bIns="0" anchor="ctr">
            <a:noAutofit/>
          </a:bodyPr>
          <a:lstStyle/>
          <a:p>
            <a:pPr algn="ctr"/>
            <a:r>
              <a:rPr sz="3000" b="1" i="0">
                <a:solidFill>
                  <a:srgbClr val="7C3AED"/>
                </a:solidFill>
                <a:latin typeface="Roboto Condensed"/>
                <a:hlinkClick r:id="rId9"/>
              </a:rPr>
              <a:t>scanvas.id</a:t>
            </a:r>
          </a:p>
        </p:txBody>
      </p:sp>
      <p:sp>
        <p:nvSpPr>
          <p:cNvPr id="34" name="TextBox 33"/>
          <p:cNvSpPr txBox="1"/>
          <p:nvPr/>
        </p:nvSpPr>
        <p:spPr>
          <a:xfrm>
            <a:off x="11795760" y="8412480"/>
            <a:ext cx="5212080" cy="731520"/>
          </a:xfrm>
          <a:prstGeom prst="rect">
            <a:avLst/>
          </a:prstGeom>
          <a:noFill/>
        </p:spPr>
        <p:txBody>
          <a:bodyPr wrap="square" lIns="0" tIns="0" rIns="0" bIns="0" anchor="ctr">
            <a:noAutofit/>
          </a:bodyPr>
          <a:lstStyle/>
          <a:p>
            <a:pPr algn="ctr">
              <a:lnSpc>
                <a:spcPct val="100000"/>
              </a:lnSpc>
            </a:pPr>
            <a:r>
              <a:rPr sz="1600" b="0" i="0">
                <a:solidFill>
                  <a:srgbClr val="172033"/>
                </a:solidFill>
                <a:latin typeface="Roboto Condensed SemiBold"/>
              </a:rPr>
              <a:t>Haikal Hilmi, CEO   ·   Salsabila Khoirunnisa, CMO</a:t>
            </a:r>
          </a:p>
        </p:txBody>
      </p:sp>
      <p:sp>
        <p:nvSpPr>
          <p:cNvPr id="35" name="TextBox 34"/>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ITEC FIT · CONTACT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4023360"/>
            <a:ext cx="16093440" cy="1463040"/>
          </a:xfrm>
          <a:prstGeom prst="rect">
            <a:avLst/>
          </a:prstGeom>
          <a:noFill/>
        </p:spPr>
        <p:txBody>
          <a:bodyPr wrap="square" lIns="0" tIns="0" rIns="0" bIns="0" anchor="ctr">
            <a:noAutofit/>
          </a:bodyPr>
          <a:lstStyle/>
          <a:p>
            <a:pPr algn="ctr"/>
            <a:r>
              <a:rPr sz="8000" b="1" i="0">
                <a:solidFill>
                  <a:srgbClr val="172033"/>
                </a:solidFill>
                <a:latin typeface="Roboto Condensed"/>
              </a:rPr>
              <a:t>SUPPORTING SLIDES</a:t>
            </a:r>
          </a:p>
        </p:txBody>
      </p:sp>
      <p:sp>
        <p:nvSpPr>
          <p:cNvPr id="13" name="Rectangle 12"/>
          <p:cNvSpPr/>
          <p:nvPr/>
        </p:nvSpPr>
        <p:spPr>
          <a:xfrm>
            <a:off x="7315200" y="5669280"/>
            <a:ext cx="3657600" cy="73152"/>
          </a:xfrm>
          <a:prstGeom prst="rect">
            <a:avLst/>
          </a:prstGeom>
          <a:solidFill>
            <a:srgbClr val="527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97280" y="6035040"/>
            <a:ext cx="16093440" cy="548640"/>
          </a:xfrm>
          <a:prstGeom prst="rect">
            <a:avLst/>
          </a:prstGeom>
          <a:noFill/>
        </p:spPr>
        <p:txBody>
          <a:bodyPr wrap="square" lIns="0" tIns="0" rIns="0" bIns="0" anchor="ctr">
            <a:noAutofit/>
          </a:bodyPr>
          <a:lstStyle/>
          <a:p>
            <a:pPr algn="ctr"/>
            <a:r>
              <a:rPr sz="2200" b="0" i="0">
                <a:solidFill>
                  <a:srgbClr val="172033"/>
                </a:solidFill>
                <a:latin typeface="Roboto Condensed"/>
              </a:rPr>
              <a:t>For Q&amp;A · competitor matrix · market data · technology &amp; child data · financial detail · exit strategy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694944"/>
            <a:ext cx="16093440" cy="1463040"/>
          </a:xfrm>
          <a:prstGeom prst="rect">
            <a:avLst/>
          </a:prstGeom>
          <a:noFill/>
        </p:spPr>
        <p:txBody>
          <a:bodyPr wrap="square" lIns="0" tIns="0" rIns="0" bIns="0" anchor="t">
            <a:noAutofit/>
          </a:bodyPr>
          <a:lstStyle/>
          <a:p>
            <a:pPr algn="l">
              <a:lnSpc>
                <a:spcPct val="95000"/>
              </a:lnSpc>
            </a:pPr>
            <a:r>
              <a:rPr sz="3800" b="1" i="0">
                <a:solidFill>
                  <a:srgbClr val="172033"/>
                </a:solidFill>
                <a:latin typeface="Roboto Condensed"/>
              </a:rPr>
              <a:t>Competitors Prove the Category; Scanvas Combines</a:t>
            </a:r>
            <a:br/>
            <a:r>
              <a:rPr sz="3800" b="1" i="0">
                <a:solidFill>
                  <a:srgbClr val="172033"/>
                </a:solidFill>
                <a:latin typeface="Roboto Condensed"/>
              </a:rPr>
              <a:t>Web Access, Personalisation, and Shared Worlds</a:t>
            </a:r>
          </a:p>
        </p:txBody>
      </p:sp>
      <p:sp>
        <p:nvSpPr>
          <p:cNvPr id="13" name="Rounded Rectangle 12"/>
          <p:cNvSpPr/>
          <p:nvPr/>
        </p:nvSpPr>
        <p:spPr>
          <a:xfrm>
            <a:off x="1097280" y="2468880"/>
            <a:ext cx="16642080" cy="5925312"/>
          </a:xfrm>
          <a:prstGeom prst="roundRect">
            <a:avLst>
              <a:gd name="adj" fmla="val 432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94960" y="2578608"/>
            <a:ext cx="2432304" cy="804672"/>
          </a:xfrm>
          <a:prstGeom prst="rect">
            <a:avLst/>
          </a:prstGeom>
          <a:noFill/>
        </p:spPr>
        <p:txBody>
          <a:bodyPr wrap="square" lIns="0" tIns="0" rIns="0" bIns="0" anchor="ctr">
            <a:noAutofit/>
          </a:bodyPr>
          <a:lstStyle/>
          <a:p>
            <a:pPr algn="ctr">
              <a:lnSpc>
                <a:spcPct val="95000"/>
              </a:lnSpc>
            </a:pPr>
            <a:r>
              <a:rPr sz="2200" b="1" i="0">
                <a:solidFill>
                  <a:srgbClr val="5B21B6"/>
                </a:solidFill>
                <a:latin typeface="Roboto Condensed"/>
              </a:rPr>
              <a:t>Scanvas</a:t>
            </a:r>
          </a:p>
        </p:txBody>
      </p:sp>
      <p:sp>
        <p:nvSpPr>
          <p:cNvPr id="15" name="TextBox 14"/>
          <p:cNvSpPr txBox="1"/>
          <p:nvPr/>
        </p:nvSpPr>
        <p:spPr>
          <a:xfrm>
            <a:off x="7827264" y="2578608"/>
            <a:ext cx="2432304" cy="804672"/>
          </a:xfrm>
          <a:prstGeom prst="rect">
            <a:avLst/>
          </a:prstGeom>
          <a:noFill/>
        </p:spPr>
        <p:txBody>
          <a:bodyPr wrap="square" lIns="0" tIns="0" rIns="0" bIns="0" anchor="ctr">
            <a:noAutofit/>
          </a:bodyPr>
          <a:lstStyle/>
          <a:p>
            <a:pPr algn="ctr">
              <a:lnSpc>
                <a:spcPct val="95000"/>
              </a:lnSpc>
            </a:pPr>
            <a:r>
              <a:rPr sz="1700" b="1" i="0">
                <a:solidFill>
                  <a:srgbClr val="172033"/>
                </a:solidFill>
                <a:latin typeface="Roboto Condensed"/>
              </a:rPr>
              <a:t>Faber-Castell</a:t>
            </a:r>
            <a:br/>
            <a:r>
              <a:rPr sz="1700" b="1" i="0">
                <a:solidFill>
                  <a:srgbClr val="172033"/>
                </a:solidFill>
                <a:latin typeface="Roboto Condensed"/>
              </a:rPr>
              <a:t>ARt Alive</a:t>
            </a:r>
          </a:p>
        </p:txBody>
      </p:sp>
      <p:sp>
        <p:nvSpPr>
          <p:cNvPr id="16" name="TextBox 15"/>
          <p:cNvSpPr txBox="1"/>
          <p:nvPr/>
        </p:nvSpPr>
        <p:spPr>
          <a:xfrm>
            <a:off x="10259568" y="2578608"/>
            <a:ext cx="2432304" cy="804672"/>
          </a:xfrm>
          <a:prstGeom prst="rect">
            <a:avLst/>
          </a:prstGeom>
          <a:noFill/>
        </p:spPr>
        <p:txBody>
          <a:bodyPr wrap="square" lIns="0" tIns="0" rIns="0" bIns="0" anchor="ctr">
            <a:noAutofit/>
          </a:bodyPr>
          <a:lstStyle/>
          <a:p>
            <a:pPr algn="ctr">
              <a:lnSpc>
                <a:spcPct val="95000"/>
              </a:lnSpc>
            </a:pPr>
            <a:r>
              <a:rPr sz="1700" b="1" i="0">
                <a:solidFill>
                  <a:srgbClr val="172033"/>
                </a:solidFill>
                <a:latin typeface="Roboto Condensed"/>
              </a:rPr>
              <a:t>Quiver</a:t>
            </a:r>
          </a:p>
        </p:txBody>
      </p:sp>
      <p:sp>
        <p:nvSpPr>
          <p:cNvPr id="17" name="TextBox 16"/>
          <p:cNvSpPr txBox="1"/>
          <p:nvPr/>
        </p:nvSpPr>
        <p:spPr>
          <a:xfrm>
            <a:off x="12691872" y="2578608"/>
            <a:ext cx="2432304" cy="804672"/>
          </a:xfrm>
          <a:prstGeom prst="rect">
            <a:avLst/>
          </a:prstGeom>
          <a:noFill/>
        </p:spPr>
        <p:txBody>
          <a:bodyPr wrap="square" lIns="0" tIns="0" rIns="0" bIns="0" anchor="ctr">
            <a:noAutofit/>
          </a:bodyPr>
          <a:lstStyle/>
          <a:p>
            <a:pPr algn="ctr">
              <a:lnSpc>
                <a:spcPct val="95000"/>
              </a:lnSpc>
            </a:pPr>
            <a:r>
              <a:rPr sz="1700" b="1" i="0">
                <a:solidFill>
                  <a:srgbClr val="172033"/>
                </a:solidFill>
                <a:latin typeface="Roboto Condensed"/>
              </a:rPr>
              <a:t>WAGZAK</a:t>
            </a:r>
            <a:br/>
            <a:r>
              <a:rPr sz="1700" b="1" i="0">
                <a:solidFill>
                  <a:srgbClr val="172033"/>
                </a:solidFill>
                <a:latin typeface="Roboto Condensed"/>
              </a:rPr>
              <a:t>JUMP</a:t>
            </a:r>
          </a:p>
        </p:txBody>
      </p:sp>
      <p:sp>
        <p:nvSpPr>
          <p:cNvPr id="18" name="TextBox 17"/>
          <p:cNvSpPr txBox="1"/>
          <p:nvPr/>
        </p:nvSpPr>
        <p:spPr>
          <a:xfrm>
            <a:off x="15124176" y="2578608"/>
            <a:ext cx="2432304" cy="804672"/>
          </a:xfrm>
          <a:prstGeom prst="rect">
            <a:avLst/>
          </a:prstGeom>
          <a:noFill/>
        </p:spPr>
        <p:txBody>
          <a:bodyPr wrap="square" lIns="0" tIns="0" rIns="0" bIns="0" anchor="ctr">
            <a:noAutofit/>
          </a:bodyPr>
          <a:lstStyle/>
          <a:p>
            <a:pPr algn="ctr">
              <a:lnSpc>
                <a:spcPct val="95000"/>
              </a:lnSpc>
            </a:pPr>
            <a:r>
              <a:rPr sz="1700" b="1" i="0">
                <a:solidFill>
                  <a:srgbClr val="172033"/>
                </a:solidFill>
                <a:latin typeface="Roboto Condensed"/>
              </a:rPr>
              <a:t>teamLab Sketch</a:t>
            </a:r>
            <a:br/>
            <a:r>
              <a:rPr sz="1700" b="1" i="0">
                <a:solidFill>
                  <a:srgbClr val="172033"/>
                </a:solidFill>
                <a:latin typeface="Roboto Condensed"/>
              </a:rPr>
              <a:t>Aquarium</a:t>
            </a:r>
          </a:p>
        </p:txBody>
      </p:sp>
      <p:sp>
        <p:nvSpPr>
          <p:cNvPr id="19" name="Rectangle 18"/>
          <p:cNvSpPr/>
          <p:nvPr/>
        </p:nvSpPr>
        <p:spPr>
          <a:xfrm>
            <a:off x="1371600" y="3419856"/>
            <a:ext cx="1609344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426464" y="3419856"/>
            <a:ext cx="3931920" cy="603504"/>
          </a:xfrm>
          <a:prstGeom prst="rect">
            <a:avLst/>
          </a:prstGeom>
          <a:noFill/>
        </p:spPr>
        <p:txBody>
          <a:bodyPr wrap="square" lIns="0" tIns="0" rIns="0" bIns="0" anchor="ctr">
            <a:noAutofit/>
          </a:bodyPr>
          <a:lstStyle/>
          <a:p>
            <a:pPr algn="l"/>
            <a:r>
              <a:rPr sz="1700" b="0" i="0">
                <a:solidFill>
                  <a:srgbClr val="172033"/>
                </a:solidFill>
                <a:latin typeface="Roboto Condensed SemiBold"/>
              </a:rPr>
              <a:t>Paper coloring </a:t>
            </a:r>
            <a:r>
              <a:rPr sz="1700" b="0" i="0">
                <a:solidFill>
                  <a:srgbClr val="172033"/>
                </a:solidFill>
                <a:latin typeface="Segoe UI"/>
              </a:rPr>
              <a:t>→</a:t>
            </a:r>
            <a:r>
              <a:rPr sz="1700" b="0" i="0">
                <a:solidFill>
                  <a:srgbClr val="172033"/>
                </a:solidFill>
                <a:latin typeface="Roboto Condensed SemiBold"/>
              </a:rPr>
              <a:t> digital</a:t>
            </a:r>
          </a:p>
        </p:txBody>
      </p:sp>
      <p:pic>
        <p:nvPicPr>
          <p:cNvPr id="21" name="Picture 20" descr="check_purple.png"/>
          <p:cNvPicPr>
            <a:picLocks noChangeAspect="1"/>
          </p:cNvPicPr>
          <p:nvPr/>
        </p:nvPicPr>
        <p:blipFill>
          <a:blip r:embed="rId3"/>
          <a:stretch>
            <a:fillRect/>
          </a:stretch>
        </p:blipFill>
        <p:spPr>
          <a:xfrm>
            <a:off x="6428232" y="3538728"/>
            <a:ext cx="365760" cy="365760"/>
          </a:xfrm>
          <a:prstGeom prst="rect">
            <a:avLst/>
          </a:prstGeom>
        </p:spPr>
      </p:pic>
      <p:pic>
        <p:nvPicPr>
          <p:cNvPr id="22" name="Picture 21" descr="check_green.png"/>
          <p:cNvPicPr>
            <a:picLocks noChangeAspect="1"/>
          </p:cNvPicPr>
          <p:nvPr/>
        </p:nvPicPr>
        <p:blipFill>
          <a:blip r:embed="rId4"/>
          <a:stretch>
            <a:fillRect/>
          </a:stretch>
        </p:blipFill>
        <p:spPr>
          <a:xfrm>
            <a:off x="8860536" y="3538728"/>
            <a:ext cx="365760" cy="365760"/>
          </a:xfrm>
          <a:prstGeom prst="rect">
            <a:avLst/>
          </a:prstGeom>
        </p:spPr>
      </p:pic>
      <p:pic>
        <p:nvPicPr>
          <p:cNvPr id="23" name="Picture 22" descr="check_green.png"/>
          <p:cNvPicPr>
            <a:picLocks noChangeAspect="1"/>
          </p:cNvPicPr>
          <p:nvPr/>
        </p:nvPicPr>
        <p:blipFill>
          <a:blip r:embed="rId4"/>
          <a:stretch>
            <a:fillRect/>
          </a:stretch>
        </p:blipFill>
        <p:spPr>
          <a:xfrm>
            <a:off x="11292840" y="3538728"/>
            <a:ext cx="365760" cy="365760"/>
          </a:xfrm>
          <a:prstGeom prst="rect">
            <a:avLst/>
          </a:prstGeom>
        </p:spPr>
      </p:pic>
      <p:pic>
        <p:nvPicPr>
          <p:cNvPr id="24" name="Picture 23" descr="check_green.png"/>
          <p:cNvPicPr>
            <a:picLocks noChangeAspect="1"/>
          </p:cNvPicPr>
          <p:nvPr/>
        </p:nvPicPr>
        <p:blipFill>
          <a:blip r:embed="rId4"/>
          <a:stretch>
            <a:fillRect/>
          </a:stretch>
        </p:blipFill>
        <p:spPr>
          <a:xfrm>
            <a:off x="13725144" y="3538728"/>
            <a:ext cx="365760" cy="365760"/>
          </a:xfrm>
          <a:prstGeom prst="rect">
            <a:avLst/>
          </a:prstGeom>
        </p:spPr>
      </p:pic>
      <p:pic>
        <p:nvPicPr>
          <p:cNvPr id="25" name="Picture 24" descr="check_green.png"/>
          <p:cNvPicPr>
            <a:picLocks noChangeAspect="1"/>
          </p:cNvPicPr>
          <p:nvPr/>
        </p:nvPicPr>
        <p:blipFill>
          <a:blip r:embed="rId4"/>
          <a:stretch>
            <a:fillRect/>
          </a:stretch>
        </p:blipFill>
        <p:spPr>
          <a:xfrm>
            <a:off x="16157447" y="3538728"/>
            <a:ext cx="365760" cy="365760"/>
          </a:xfrm>
          <a:prstGeom prst="rect">
            <a:avLst/>
          </a:prstGeom>
        </p:spPr>
      </p:pic>
      <p:sp>
        <p:nvSpPr>
          <p:cNvPr id="26" name="Rectangle 25"/>
          <p:cNvSpPr/>
          <p:nvPr/>
        </p:nvSpPr>
        <p:spPr>
          <a:xfrm>
            <a:off x="1371600" y="4023360"/>
            <a:ext cx="1609344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426464" y="4023360"/>
            <a:ext cx="3931920" cy="603504"/>
          </a:xfrm>
          <a:prstGeom prst="rect">
            <a:avLst/>
          </a:prstGeom>
          <a:noFill/>
        </p:spPr>
        <p:txBody>
          <a:bodyPr wrap="square" lIns="0" tIns="0" rIns="0" bIns="0" anchor="ctr">
            <a:noAutofit/>
          </a:bodyPr>
          <a:lstStyle/>
          <a:p>
            <a:pPr algn="l"/>
            <a:r>
              <a:rPr sz="1700" b="0" i="0">
                <a:solidFill>
                  <a:srgbClr val="172033"/>
                </a:solidFill>
                <a:latin typeface="Roboto Condensed SemiBold"/>
              </a:rPr>
              <a:t>Child’s artwork becomes character</a:t>
            </a:r>
          </a:p>
        </p:txBody>
      </p:sp>
      <p:pic>
        <p:nvPicPr>
          <p:cNvPr id="28" name="Picture 27" descr="check_purple.png"/>
          <p:cNvPicPr>
            <a:picLocks noChangeAspect="1"/>
          </p:cNvPicPr>
          <p:nvPr/>
        </p:nvPicPr>
        <p:blipFill>
          <a:blip r:embed="rId3"/>
          <a:stretch>
            <a:fillRect/>
          </a:stretch>
        </p:blipFill>
        <p:spPr>
          <a:xfrm>
            <a:off x="6428232" y="4142232"/>
            <a:ext cx="365760" cy="365760"/>
          </a:xfrm>
          <a:prstGeom prst="rect">
            <a:avLst/>
          </a:prstGeom>
        </p:spPr>
      </p:pic>
      <p:pic>
        <p:nvPicPr>
          <p:cNvPr id="29" name="Picture 28" descr="check_green.png"/>
          <p:cNvPicPr>
            <a:picLocks noChangeAspect="1"/>
          </p:cNvPicPr>
          <p:nvPr/>
        </p:nvPicPr>
        <p:blipFill>
          <a:blip r:embed="rId4"/>
          <a:stretch>
            <a:fillRect/>
          </a:stretch>
        </p:blipFill>
        <p:spPr>
          <a:xfrm>
            <a:off x="8860536" y="4142232"/>
            <a:ext cx="365760" cy="365760"/>
          </a:xfrm>
          <a:prstGeom prst="rect">
            <a:avLst/>
          </a:prstGeom>
        </p:spPr>
      </p:pic>
      <p:pic>
        <p:nvPicPr>
          <p:cNvPr id="30" name="Picture 29" descr="check_green.png"/>
          <p:cNvPicPr>
            <a:picLocks noChangeAspect="1"/>
          </p:cNvPicPr>
          <p:nvPr/>
        </p:nvPicPr>
        <p:blipFill>
          <a:blip r:embed="rId4"/>
          <a:stretch>
            <a:fillRect/>
          </a:stretch>
        </p:blipFill>
        <p:spPr>
          <a:xfrm>
            <a:off x="11292840" y="4142232"/>
            <a:ext cx="365760" cy="365760"/>
          </a:xfrm>
          <a:prstGeom prst="rect">
            <a:avLst/>
          </a:prstGeom>
        </p:spPr>
      </p:pic>
      <p:pic>
        <p:nvPicPr>
          <p:cNvPr id="31" name="Picture 30" descr="check_green.png"/>
          <p:cNvPicPr>
            <a:picLocks noChangeAspect="1"/>
          </p:cNvPicPr>
          <p:nvPr/>
        </p:nvPicPr>
        <p:blipFill>
          <a:blip r:embed="rId4"/>
          <a:stretch>
            <a:fillRect/>
          </a:stretch>
        </p:blipFill>
        <p:spPr>
          <a:xfrm>
            <a:off x="13725144" y="4142232"/>
            <a:ext cx="365760" cy="365760"/>
          </a:xfrm>
          <a:prstGeom prst="rect">
            <a:avLst/>
          </a:prstGeom>
        </p:spPr>
      </p:pic>
      <p:pic>
        <p:nvPicPr>
          <p:cNvPr id="32" name="Picture 31" descr="check_green.png"/>
          <p:cNvPicPr>
            <a:picLocks noChangeAspect="1"/>
          </p:cNvPicPr>
          <p:nvPr/>
        </p:nvPicPr>
        <p:blipFill>
          <a:blip r:embed="rId4"/>
          <a:stretch>
            <a:fillRect/>
          </a:stretch>
        </p:blipFill>
        <p:spPr>
          <a:xfrm>
            <a:off x="16157447" y="4142232"/>
            <a:ext cx="365760" cy="365760"/>
          </a:xfrm>
          <a:prstGeom prst="rect">
            <a:avLst/>
          </a:prstGeom>
        </p:spPr>
      </p:pic>
      <p:sp>
        <p:nvSpPr>
          <p:cNvPr id="33" name="Rectangle 32"/>
          <p:cNvSpPr/>
          <p:nvPr/>
        </p:nvSpPr>
        <p:spPr>
          <a:xfrm>
            <a:off x="1371600" y="4626864"/>
            <a:ext cx="1609344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426464" y="4626864"/>
            <a:ext cx="3931920" cy="603504"/>
          </a:xfrm>
          <a:prstGeom prst="rect">
            <a:avLst/>
          </a:prstGeom>
          <a:noFill/>
        </p:spPr>
        <p:txBody>
          <a:bodyPr wrap="square" lIns="0" tIns="0" rIns="0" bIns="0" anchor="ctr">
            <a:noAutofit/>
          </a:bodyPr>
          <a:lstStyle/>
          <a:p>
            <a:pPr algn="l"/>
            <a:r>
              <a:rPr sz="1700" b="0" i="0">
                <a:solidFill>
                  <a:srgbClr val="172033"/>
                </a:solidFill>
                <a:latin typeface="Roboto Condensed SemiBold"/>
              </a:rPr>
              <a:t>No app required (web)</a:t>
            </a:r>
          </a:p>
        </p:txBody>
      </p:sp>
      <p:pic>
        <p:nvPicPr>
          <p:cNvPr id="35" name="Picture 34" descr="check_purple.png"/>
          <p:cNvPicPr>
            <a:picLocks noChangeAspect="1"/>
          </p:cNvPicPr>
          <p:nvPr/>
        </p:nvPicPr>
        <p:blipFill>
          <a:blip r:embed="rId3"/>
          <a:stretch>
            <a:fillRect/>
          </a:stretch>
        </p:blipFill>
        <p:spPr>
          <a:xfrm>
            <a:off x="6428232" y="4745736"/>
            <a:ext cx="365760" cy="365760"/>
          </a:xfrm>
          <a:prstGeom prst="rect">
            <a:avLst/>
          </a:prstGeom>
        </p:spPr>
      </p:pic>
      <p:sp>
        <p:nvSpPr>
          <p:cNvPr id="36" name="TextBox 35"/>
          <p:cNvSpPr txBox="1"/>
          <p:nvPr/>
        </p:nvSpPr>
        <p:spPr>
          <a:xfrm>
            <a:off x="7827264" y="4626864"/>
            <a:ext cx="2432304" cy="603504"/>
          </a:xfrm>
          <a:prstGeom prst="rect">
            <a:avLst/>
          </a:prstGeom>
          <a:noFill/>
        </p:spPr>
        <p:txBody>
          <a:bodyPr wrap="square" lIns="0" tIns="0" rIns="0" bIns="0" anchor="ctr">
            <a:noAutofit/>
          </a:bodyPr>
          <a:lstStyle/>
          <a:p>
            <a:pPr algn="ctr"/>
            <a:r>
              <a:rPr sz="1800" b="0" i="0">
                <a:solidFill>
                  <a:srgbClr val="94A3B8"/>
                </a:solidFill>
                <a:latin typeface="Roboto Condensed"/>
              </a:rPr>
              <a:t>—</a:t>
            </a:r>
          </a:p>
        </p:txBody>
      </p:sp>
      <p:sp>
        <p:nvSpPr>
          <p:cNvPr id="37" name="TextBox 36"/>
          <p:cNvSpPr txBox="1"/>
          <p:nvPr/>
        </p:nvSpPr>
        <p:spPr>
          <a:xfrm>
            <a:off x="10259568" y="4626864"/>
            <a:ext cx="2432304" cy="603504"/>
          </a:xfrm>
          <a:prstGeom prst="rect">
            <a:avLst/>
          </a:prstGeom>
          <a:noFill/>
        </p:spPr>
        <p:txBody>
          <a:bodyPr wrap="square" lIns="0" tIns="0" rIns="0" bIns="0" anchor="ctr">
            <a:noAutofit/>
          </a:bodyPr>
          <a:lstStyle/>
          <a:p>
            <a:pPr algn="ctr"/>
            <a:r>
              <a:rPr sz="1800" b="0" i="0">
                <a:solidFill>
                  <a:srgbClr val="94A3B8"/>
                </a:solidFill>
                <a:latin typeface="Roboto Condensed"/>
              </a:rPr>
              <a:t>—</a:t>
            </a:r>
          </a:p>
        </p:txBody>
      </p:sp>
      <p:sp>
        <p:nvSpPr>
          <p:cNvPr id="38" name="TextBox 37"/>
          <p:cNvSpPr txBox="1"/>
          <p:nvPr/>
        </p:nvSpPr>
        <p:spPr>
          <a:xfrm>
            <a:off x="12691872" y="4626864"/>
            <a:ext cx="2432304" cy="603504"/>
          </a:xfrm>
          <a:prstGeom prst="rect">
            <a:avLst/>
          </a:prstGeom>
          <a:noFill/>
        </p:spPr>
        <p:txBody>
          <a:bodyPr wrap="square" lIns="0" tIns="0" rIns="0" bIns="0" anchor="ctr">
            <a:noAutofit/>
          </a:bodyPr>
          <a:lstStyle/>
          <a:p>
            <a:pPr algn="ctr"/>
            <a:r>
              <a:rPr sz="1800" b="0" i="0">
                <a:solidFill>
                  <a:srgbClr val="94A3B8"/>
                </a:solidFill>
                <a:latin typeface="Roboto Condensed"/>
              </a:rPr>
              <a:t>—</a:t>
            </a:r>
          </a:p>
        </p:txBody>
      </p:sp>
      <p:sp>
        <p:nvSpPr>
          <p:cNvPr id="39" name="TextBox 38"/>
          <p:cNvSpPr txBox="1"/>
          <p:nvPr/>
        </p:nvSpPr>
        <p:spPr>
          <a:xfrm>
            <a:off x="15124176" y="4626864"/>
            <a:ext cx="2432304" cy="603504"/>
          </a:xfrm>
          <a:prstGeom prst="rect">
            <a:avLst/>
          </a:prstGeom>
          <a:noFill/>
        </p:spPr>
        <p:txBody>
          <a:bodyPr wrap="square" lIns="0" tIns="0" rIns="0" bIns="0" anchor="ctr">
            <a:noAutofit/>
          </a:bodyPr>
          <a:lstStyle/>
          <a:p>
            <a:pPr algn="ctr"/>
            <a:r>
              <a:rPr sz="1500" b="0" i="0">
                <a:solidFill>
                  <a:srgbClr val="172033"/>
                </a:solidFill>
                <a:latin typeface="Roboto Condensed"/>
              </a:rPr>
              <a:t>Venue only</a:t>
            </a:r>
          </a:p>
        </p:txBody>
      </p:sp>
      <p:sp>
        <p:nvSpPr>
          <p:cNvPr id="40" name="Rectangle 39"/>
          <p:cNvSpPr/>
          <p:nvPr/>
        </p:nvSpPr>
        <p:spPr>
          <a:xfrm>
            <a:off x="1371600" y="5230368"/>
            <a:ext cx="1609344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426464" y="5230368"/>
            <a:ext cx="3931920" cy="603504"/>
          </a:xfrm>
          <a:prstGeom prst="rect">
            <a:avLst/>
          </a:prstGeom>
          <a:noFill/>
        </p:spPr>
        <p:txBody>
          <a:bodyPr wrap="square" lIns="0" tIns="0" rIns="0" bIns="0" anchor="ctr">
            <a:noAutofit/>
          </a:bodyPr>
          <a:lstStyle/>
          <a:p>
            <a:pPr algn="l"/>
            <a:r>
              <a:rPr sz="1700" b="0" i="0">
                <a:solidFill>
                  <a:srgbClr val="172033"/>
                </a:solidFill>
                <a:latin typeface="Roboto Condensed SemiBold"/>
              </a:rPr>
              <a:t>Shared interactive worlds</a:t>
            </a:r>
          </a:p>
        </p:txBody>
      </p:sp>
      <p:pic>
        <p:nvPicPr>
          <p:cNvPr id="42" name="Picture 41" descr="check_purple.png"/>
          <p:cNvPicPr>
            <a:picLocks noChangeAspect="1"/>
          </p:cNvPicPr>
          <p:nvPr/>
        </p:nvPicPr>
        <p:blipFill>
          <a:blip r:embed="rId3"/>
          <a:stretch>
            <a:fillRect/>
          </a:stretch>
        </p:blipFill>
        <p:spPr>
          <a:xfrm>
            <a:off x="6428232" y="5349240"/>
            <a:ext cx="365760" cy="365760"/>
          </a:xfrm>
          <a:prstGeom prst="rect">
            <a:avLst/>
          </a:prstGeom>
        </p:spPr>
      </p:pic>
      <p:sp>
        <p:nvSpPr>
          <p:cNvPr id="43" name="TextBox 42"/>
          <p:cNvSpPr txBox="1"/>
          <p:nvPr/>
        </p:nvSpPr>
        <p:spPr>
          <a:xfrm>
            <a:off x="7827264" y="5230368"/>
            <a:ext cx="2432304" cy="603504"/>
          </a:xfrm>
          <a:prstGeom prst="rect">
            <a:avLst/>
          </a:prstGeom>
          <a:noFill/>
        </p:spPr>
        <p:txBody>
          <a:bodyPr wrap="square" lIns="0" tIns="0" rIns="0" bIns="0" anchor="ctr">
            <a:noAutofit/>
          </a:bodyPr>
          <a:lstStyle/>
          <a:p>
            <a:pPr algn="ctr"/>
            <a:r>
              <a:rPr sz="1800" b="0" i="0">
                <a:solidFill>
                  <a:srgbClr val="94A3B8"/>
                </a:solidFill>
                <a:latin typeface="Roboto Condensed"/>
              </a:rPr>
              <a:t>—</a:t>
            </a:r>
          </a:p>
        </p:txBody>
      </p:sp>
      <p:sp>
        <p:nvSpPr>
          <p:cNvPr id="44" name="TextBox 43"/>
          <p:cNvSpPr txBox="1"/>
          <p:nvPr/>
        </p:nvSpPr>
        <p:spPr>
          <a:xfrm>
            <a:off x="10259568" y="5230368"/>
            <a:ext cx="2432304" cy="603504"/>
          </a:xfrm>
          <a:prstGeom prst="rect">
            <a:avLst/>
          </a:prstGeom>
          <a:noFill/>
        </p:spPr>
        <p:txBody>
          <a:bodyPr wrap="square" lIns="0" tIns="0" rIns="0" bIns="0" anchor="ctr">
            <a:noAutofit/>
          </a:bodyPr>
          <a:lstStyle/>
          <a:p>
            <a:pPr algn="ctr"/>
            <a:r>
              <a:rPr sz="1800" b="0" i="0">
                <a:solidFill>
                  <a:srgbClr val="94A3B8"/>
                </a:solidFill>
                <a:latin typeface="Roboto Condensed"/>
              </a:rPr>
              <a:t>—</a:t>
            </a:r>
          </a:p>
        </p:txBody>
      </p:sp>
      <p:sp>
        <p:nvSpPr>
          <p:cNvPr id="45" name="TextBox 44"/>
          <p:cNvSpPr txBox="1"/>
          <p:nvPr/>
        </p:nvSpPr>
        <p:spPr>
          <a:xfrm>
            <a:off x="12691872" y="5230368"/>
            <a:ext cx="2432304" cy="603504"/>
          </a:xfrm>
          <a:prstGeom prst="rect">
            <a:avLst/>
          </a:prstGeom>
          <a:noFill/>
        </p:spPr>
        <p:txBody>
          <a:bodyPr wrap="square" lIns="0" tIns="0" rIns="0" bIns="0" anchor="ctr">
            <a:noAutofit/>
          </a:bodyPr>
          <a:lstStyle/>
          <a:p>
            <a:pPr algn="ctr"/>
            <a:r>
              <a:rPr sz="1800" b="0" i="0">
                <a:solidFill>
                  <a:srgbClr val="94A3B8"/>
                </a:solidFill>
                <a:latin typeface="Roboto Condensed"/>
              </a:rPr>
              <a:t>—</a:t>
            </a:r>
          </a:p>
        </p:txBody>
      </p:sp>
      <p:pic>
        <p:nvPicPr>
          <p:cNvPr id="46" name="Picture 45" descr="check_green.png"/>
          <p:cNvPicPr>
            <a:picLocks noChangeAspect="1"/>
          </p:cNvPicPr>
          <p:nvPr/>
        </p:nvPicPr>
        <p:blipFill>
          <a:blip r:embed="rId4"/>
          <a:stretch>
            <a:fillRect/>
          </a:stretch>
        </p:blipFill>
        <p:spPr>
          <a:xfrm>
            <a:off x="16157447" y="5349240"/>
            <a:ext cx="365760" cy="365760"/>
          </a:xfrm>
          <a:prstGeom prst="rect">
            <a:avLst/>
          </a:prstGeom>
        </p:spPr>
      </p:pic>
      <p:sp>
        <p:nvSpPr>
          <p:cNvPr id="47" name="Rectangle 46"/>
          <p:cNvSpPr/>
          <p:nvPr/>
        </p:nvSpPr>
        <p:spPr>
          <a:xfrm>
            <a:off x="1371600" y="5833872"/>
            <a:ext cx="1609344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426464" y="5833872"/>
            <a:ext cx="3931920" cy="603504"/>
          </a:xfrm>
          <a:prstGeom prst="rect">
            <a:avLst/>
          </a:prstGeom>
          <a:noFill/>
        </p:spPr>
        <p:txBody>
          <a:bodyPr wrap="square" lIns="0" tIns="0" rIns="0" bIns="0" anchor="ctr">
            <a:noAutofit/>
          </a:bodyPr>
          <a:lstStyle/>
          <a:p>
            <a:pPr algn="l"/>
            <a:r>
              <a:rPr sz="1700" b="0" i="0">
                <a:solidFill>
                  <a:srgbClr val="172033"/>
                </a:solidFill>
                <a:latin typeface="Roboto Condensed SemiBold"/>
              </a:rPr>
              <a:t>Educational / story content</a:t>
            </a:r>
          </a:p>
        </p:txBody>
      </p:sp>
      <p:pic>
        <p:nvPicPr>
          <p:cNvPr id="49" name="Picture 48" descr="check_purple.png"/>
          <p:cNvPicPr>
            <a:picLocks noChangeAspect="1"/>
          </p:cNvPicPr>
          <p:nvPr/>
        </p:nvPicPr>
        <p:blipFill>
          <a:blip r:embed="rId3"/>
          <a:stretch>
            <a:fillRect/>
          </a:stretch>
        </p:blipFill>
        <p:spPr>
          <a:xfrm>
            <a:off x="6428232" y="5952744"/>
            <a:ext cx="365760" cy="365760"/>
          </a:xfrm>
          <a:prstGeom prst="rect">
            <a:avLst/>
          </a:prstGeom>
        </p:spPr>
      </p:pic>
      <p:sp>
        <p:nvSpPr>
          <p:cNvPr id="50" name="TextBox 49"/>
          <p:cNvSpPr txBox="1"/>
          <p:nvPr/>
        </p:nvSpPr>
        <p:spPr>
          <a:xfrm>
            <a:off x="7827264" y="5833872"/>
            <a:ext cx="2432304" cy="603504"/>
          </a:xfrm>
          <a:prstGeom prst="rect">
            <a:avLst/>
          </a:prstGeom>
          <a:noFill/>
        </p:spPr>
        <p:txBody>
          <a:bodyPr wrap="square" lIns="0" tIns="0" rIns="0" bIns="0" anchor="ctr">
            <a:noAutofit/>
          </a:bodyPr>
          <a:lstStyle/>
          <a:p>
            <a:pPr algn="ctr"/>
            <a:r>
              <a:rPr sz="1500" b="0" i="0">
                <a:solidFill>
                  <a:srgbClr val="172033"/>
                </a:solidFill>
                <a:latin typeface="Roboto Condensed"/>
              </a:rPr>
              <a:t>Some</a:t>
            </a:r>
          </a:p>
        </p:txBody>
      </p:sp>
      <p:pic>
        <p:nvPicPr>
          <p:cNvPr id="51" name="Picture 50" descr="check_green.png"/>
          <p:cNvPicPr>
            <a:picLocks noChangeAspect="1"/>
          </p:cNvPicPr>
          <p:nvPr/>
        </p:nvPicPr>
        <p:blipFill>
          <a:blip r:embed="rId4"/>
          <a:stretch>
            <a:fillRect/>
          </a:stretch>
        </p:blipFill>
        <p:spPr>
          <a:xfrm>
            <a:off x="11292840" y="5952744"/>
            <a:ext cx="365760" cy="365760"/>
          </a:xfrm>
          <a:prstGeom prst="rect">
            <a:avLst/>
          </a:prstGeom>
        </p:spPr>
      </p:pic>
      <p:pic>
        <p:nvPicPr>
          <p:cNvPr id="52" name="Picture 51" descr="check_green.png"/>
          <p:cNvPicPr>
            <a:picLocks noChangeAspect="1"/>
          </p:cNvPicPr>
          <p:nvPr/>
        </p:nvPicPr>
        <p:blipFill>
          <a:blip r:embed="rId4"/>
          <a:stretch>
            <a:fillRect/>
          </a:stretch>
        </p:blipFill>
        <p:spPr>
          <a:xfrm>
            <a:off x="13725144" y="5952744"/>
            <a:ext cx="365760" cy="365760"/>
          </a:xfrm>
          <a:prstGeom prst="rect">
            <a:avLst/>
          </a:prstGeom>
        </p:spPr>
      </p:pic>
      <p:sp>
        <p:nvSpPr>
          <p:cNvPr id="53" name="TextBox 52"/>
          <p:cNvSpPr txBox="1"/>
          <p:nvPr/>
        </p:nvSpPr>
        <p:spPr>
          <a:xfrm>
            <a:off x="15124176" y="5833872"/>
            <a:ext cx="2432304" cy="603504"/>
          </a:xfrm>
          <a:prstGeom prst="rect">
            <a:avLst/>
          </a:prstGeom>
          <a:noFill/>
        </p:spPr>
        <p:txBody>
          <a:bodyPr wrap="square" lIns="0" tIns="0" rIns="0" bIns="0" anchor="ctr">
            <a:noAutofit/>
          </a:bodyPr>
          <a:lstStyle/>
          <a:p>
            <a:pPr algn="ctr"/>
            <a:r>
              <a:rPr sz="1500" b="0" i="0">
                <a:solidFill>
                  <a:srgbClr val="172033"/>
                </a:solidFill>
                <a:latin typeface="Roboto Condensed"/>
              </a:rPr>
              <a:t>Some</a:t>
            </a:r>
          </a:p>
        </p:txBody>
      </p:sp>
      <p:sp>
        <p:nvSpPr>
          <p:cNvPr id="54" name="Rectangle 53"/>
          <p:cNvSpPr/>
          <p:nvPr/>
        </p:nvSpPr>
        <p:spPr>
          <a:xfrm>
            <a:off x="1371600" y="6437376"/>
            <a:ext cx="1609344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426464" y="6437376"/>
            <a:ext cx="3931920" cy="603504"/>
          </a:xfrm>
          <a:prstGeom prst="rect">
            <a:avLst/>
          </a:prstGeom>
          <a:noFill/>
        </p:spPr>
        <p:txBody>
          <a:bodyPr wrap="square" lIns="0" tIns="0" rIns="0" bIns="0" anchor="ctr">
            <a:noAutofit/>
          </a:bodyPr>
          <a:lstStyle/>
          <a:p>
            <a:pPr algn="l"/>
            <a:r>
              <a:rPr sz="1700" b="0" i="0">
                <a:solidFill>
                  <a:srgbClr val="172033"/>
                </a:solidFill>
                <a:latin typeface="Roboto Condensed SemiBold"/>
              </a:rPr>
              <a:t>Institutional sessions</a:t>
            </a:r>
          </a:p>
        </p:txBody>
      </p:sp>
      <p:sp>
        <p:nvSpPr>
          <p:cNvPr id="56" name="TextBox 55"/>
          <p:cNvSpPr txBox="1"/>
          <p:nvPr/>
        </p:nvSpPr>
        <p:spPr>
          <a:xfrm>
            <a:off x="5394960" y="6437376"/>
            <a:ext cx="2432304" cy="603504"/>
          </a:xfrm>
          <a:prstGeom prst="rect">
            <a:avLst/>
          </a:prstGeom>
          <a:noFill/>
        </p:spPr>
        <p:txBody>
          <a:bodyPr wrap="square" lIns="0" tIns="0" rIns="0" bIns="0" anchor="ctr">
            <a:noAutofit/>
          </a:bodyPr>
          <a:lstStyle/>
          <a:p>
            <a:pPr algn="ctr"/>
            <a:r>
              <a:rPr sz="1500" b="0" i="0">
                <a:solidFill>
                  <a:srgbClr val="5B21B6"/>
                </a:solidFill>
                <a:latin typeface="Roboto Condensed SemiBold"/>
              </a:rPr>
              <a:t>Pilot</a:t>
            </a:r>
          </a:p>
        </p:txBody>
      </p:sp>
      <p:sp>
        <p:nvSpPr>
          <p:cNvPr id="57" name="TextBox 56"/>
          <p:cNvSpPr txBox="1"/>
          <p:nvPr/>
        </p:nvSpPr>
        <p:spPr>
          <a:xfrm>
            <a:off x="7827264" y="6437376"/>
            <a:ext cx="2432304" cy="603504"/>
          </a:xfrm>
          <a:prstGeom prst="rect">
            <a:avLst/>
          </a:prstGeom>
          <a:noFill/>
        </p:spPr>
        <p:txBody>
          <a:bodyPr wrap="square" lIns="0" tIns="0" rIns="0" bIns="0" anchor="ctr">
            <a:noAutofit/>
          </a:bodyPr>
          <a:lstStyle/>
          <a:p>
            <a:pPr algn="ctr"/>
            <a:r>
              <a:rPr sz="1800" b="0" i="0">
                <a:solidFill>
                  <a:srgbClr val="94A3B8"/>
                </a:solidFill>
                <a:latin typeface="Roboto Condensed"/>
              </a:rPr>
              <a:t>—</a:t>
            </a:r>
          </a:p>
        </p:txBody>
      </p:sp>
      <p:sp>
        <p:nvSpPr>
          <p:cNvPr id="58" name="TextBox 57"/>
          <p:cNvSpPr txBox="1"/>
          <p:nvPr/>
        </p:nvSpPr>
        <p:spPr>
          <a:xfrm>
            <a:off x="10259568" y="6437376"/>
            <a:ext cx="2432304" cy="603504"/>
          </a:xfrm>
          <a:prstGeom prst="rect">
            <a:avLst/>
          </a:prstGeom>
          <a:noFill/>
        </p:spPr>
        <p:txBody>
          <a:bodyPr wrap="square" lIns="0" tIns="0" rIns="0" bIns="0" anchor="ctr">
            <a:noAutofit/>
          </a:bodyPr>
          <a:lstStyle/>
          <a:p>
            <a:pPr algn="ctr"/>
            <a:r>
              <a:rPr sz="1500" b="0" i="0">
                <a:solidFill>
                  <a:srgbClr val="172033"/>
                </a:solidFill>
                <a:latin typeface="Roboto Condensed"/>
              </a:rPr>
              <a:t>Edu subscription</a:t>
            </a:r>
          </a:p>
        </p:txBody>
      </p:sp>
      <p:sp>
        <p:nvSpPr>
          <p:cNvPr id="59" name="TextBox 58"/>
          <p:cNvSpPr txBox="1"/>
          <p:nvPr/>
        </p:nvSpPr>
        <p:spPr>
          <a:xfrm>
            <a:off x="12691872" y="6437376"/>
            <a:ext cx="2432304" cy="603504"/>
          </a:xfrm>
          <a:prstGeom prst="rect">
            <a:avLst/>
          </a:prstGeom>
          <a:noFill/>
        </p:spPr>
        <p:txBody>
          <a:bodyPr wrap="square" lIns="0" tIns="0" rIns="0" bIns="0" anchor="ctr">
            <a:noAutofit/>
          </a:bodyPr>
          <a:lstStyle/>
          <a:p>
            <a:pPr algn="ctr"/>
            <a:r>
              <a:rPr sz="1500" b="0" i="0">
                <a:solidFill>
                  <a:srgbClr val="172033"/>
                </a:solidFill>
                <a:latin typeface="Roboto Condensed"/>
              </a:rPr>
              <a:t>School license</a:t>
            </a:r>
          </a:p>
        </p:txBody>
      </p:sp>
      <p:sp>
        <p:nvSpPr>
          <p:cNvPr id="60" name="TextBox 59"/>
          <p:cNvSpPr txBox="1"/>
          <p:nvPr/>
        </p:nvSpPr>
        <p:spPr>
          <a:xfrm>
            <a:off x="15124176" y="6437376"/>
            <a:ext cx="2432304" cy="603504"/>
          </a:xfrm>
          <a:prstGeom prst="rect">
            <a:avLst/>
          </a:prstGeom>
          <a:noFill/>
        </p:spPr>
        <p:txBody>
          <a:bodyPr wrap="square" lIns="0" tIns="0" rIns="0" bIns="0" anchor="ctr">
            <a:noAutofit/>
          </a:bodyPr>
          <a:lstStyle/>
          <a:p>
            <a:pPr algn="ctr"/>
            <a:r>
              <a:rPr sz="1500" b="0" i="0">
                <a:solidFill>
                  <a:srgbClr val="172033"/>
                </a:solidFill>
                <a:latin typeface="Roboto Condensed"/>
              </a:rPr>
              <a:t>Installation</a:t>
            </a:r>
          </a:p>
        </p:txBody>
      </p:sp>
      <p:sp>
        <p:nvSpPr>
          <p:cNvPr id="61" name="Rectangle 60"/>
          <p:cNvSpPr/>
          <p:nvPr/>
        </p:nvSpPr>
        <p:spPr>
          <a:xfrm>
            <a:off x="1371600" y="7040880"/>
            <a:ext cx="1609344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426464" y="7040880"/>
            <a:ext cx="3931920" cy="603504"/>
          </a:xfrm>
          <a:prstGeom prst="rect">
            <a:avLst/>
          </a:prstGeom>
          <a:noFill/>
        </p:spPr>
        <p:txBody>
          <a:bodyPr wrap="square" lIns="0" tIns="0" rIns="0" bIns="0" anchor="ctr">
            <a:noAutofit/>
          </a:bodyPr>
          <a:lstStyle/>
          <a:p>
            <a:pPr algn="l"/>
            <a:r>
              <a:rPr sz="1700" b="0" i="0">
                <a:solidFill>
                  <a:srgbClr val="172033"/>
                </a:solidFill>
                <a:latin typeface="Roboto Condensed SemiBold"/>
              </a:rPr>
              <a:t>Large ready-made content library</a:t>
            </a:r>
          </a:p>
        </p:txBody>
      </p:sp>
      <p:sp>
        <p:nvSpPr>
          <p:cNvPr id="63" name="TextBox 62"/>
          <p:cNvSpPr txBox="1"/>
          <p:nvPr/>
        </p:nvSpPr>
        <p:spPr>
          <a:xfrm>
            <a:off x="5394960" y="7040880"/>
            <a:ext cx="2432304" cy="603504"/>
          </a:xfrm>
          <a:prstGeom prst="rect">
            <a:avLst/>
          </a:prstGeom>
          <a:noFill/>
        </p:spPr>
        <p:txBody>
          <a:bodyPr wrap="square" lIns="0" tIns="0" rIns="0" bIns="0" anchor="ctr">
            <a:noAutofit/>
          </a:bodyPr>
          <a:lstStyle/>
          <a:p>
            <a:pPr algn="ctr"/>
            <a:r>
              <a:rPr sz="1500" b="0" i="0">
                <a:solidFill>
                  <a:srgbClr val="5B21B6"/>
                </a:solidFill>
                <a:latin typeface="Roboto Condensed SemiBold"/>
              </a:rPr>
              <a:t>2 worlds</a:t>
            </a:r>
          </a:p>
        </p:txBody>
      </p:sp>
      <p:sp>
        <p:nvSpPr>
          <p:cNvPr id="64" name="TextBox 63"/>
          <p:cNvSpPr txBox="1"/>
          <p:nvPr/>
        </p:nvSpPr>
        <p:spPr>
          <a:xfrm>
            <a:off x="7827264" y="7040880"/>
            <a:ext cx="2432304" cy="603504"/>
          </a:xfrm>
          <a:prstGeom prst="rect">
            <a:avLst/>
          </a:prstGeom>
          <a:noFill/>
        </p:spPr>
        <p:txBody>
          <a:bodyPr wrap="square" lIns="0" tIns="0" rIns="0" bIns="0" anchor="ctr">
            <a:noAutofit/>
          </a:bodyPr>
          <a:lstStyle/>
          <a:p>
            <a:pPr algn="ctr"/>
            <a:r>
              <a:rPr sz="1800" b="0" i="0">
                <a:solidFill>
                  <a:srgbClr val="94A3B8"/>
                </a:solidFill>
                <a:latin typeface="Roboto Condensed"/>
              </a:rPr>
              <a:t>—</a:t>
            </a:r>
          </a:p>
        </p:txBody>
      </p:sp>
      <p:pic>
        <p:nvPicPr>
          <p:cNvPr id="65" name="Picture 64" descr="check_green.png"/>
          <p:cNvPicPr>
            <a:picLocks noChangeAspect="1"/>
          </p:cNvPicPr>
          <p:nvPr/>
        </p:nvPicPr>
        <p:blipFill>
          <a:blip r:embed="rId4"/>
          <a:stretch>
            <a:fillRect/>
          </a:stretch>
        </p:blipFill>
        <p:spPr>
          <a:xfrm>
            <a:off x="11292840" y="7159751"/>
            <a:ext cx="365760" cy="365760"/>
          </a:xfrm>
          <a:prstGeom prst="rect">
            <a:avLst/>
          </a:prstGeom>
        </p:spPr>
      </p:pic>
      <p:sp>
        <p:nvSpPr>
          <p:cNvPr id="66" name="TextBox 65"/>
          <p:cNvSpPr txBox="1"/>
          <p:nvPr/>
        </p:nvSpPr>
        <p:spPr>
          <a:xfrm>
            <a:off x="12691872" y="7040880"/>
            <a:ext cx="2432304" cy="603504"/>
          </a:xfrm>
          <a:prstGeom prst="rect">
            <a:avLst/>
          </a:prstGeom>
          <a:noFill/>
        </p:spPr>
        <p:txBody>
          <a:bodyPr wrap="square" lIns="0" tIns="0" rIns="0" bIns="0" anchor="ctr">
            <a:noAutofit/>
          </a:bodyPr>
          <a:lstStyle/>
          <a:p>
            <a:pPr algn="ctr"/>
            <a:r>
              <a:rPr sz="1500" b="0" i="0">
                <a:solidFill>
                  <a:srgbClr val="172033"/>
                </a:solidFill>
                <a:latin typeface="Roboto Condensed"/>
              </a:rPr>
              <a:t>100+ lessons</a:t>
            </a:r>
          </a:p>
        </p:txBody>
      </p:sp>
      <p:sp>
        <p:nvSpPr>
          <p:cNvPr id="67" name="TextBox 66"/>
          <p:cNvSpPr txBox="1"/>
          <p:nvPr/>
        </p:nvSpPr>
        <p:spPr>
          <a:xfrm>
            <a:off x="15124176" y="7040880"/>
            <a:ext cx="2432304" cy="603504"/>
          </a:xfrm>
          <a:prstGeom prst="rect">
            <a:avLst/>
          </a:prstGeom>
          <a:noFill/>
        </p:spPr>
        <p:txBody>
          <a:bodyPr wrap="square" lIns="0" tIns="0" rIns="0" bIns="0" anchor="ctr">
            <a:noAutofit/>
          </a:bodyPr>
          <a:lstStyle/>
          <a:p>
            <a:pPr algn="ctr"/>
            <a:r>
              <a:rPr sz="1800" b="0" i="0">
                <a:solidFill>
                  <a:srgbClr val="94A3B8"/>
                </a:solidFill>
                <a:latin typeface="Roboto Condensed"/>
              </a:rPr>
              <a:t>—</a:t>
            </a:r>
          </a:p>
        </p:txBody>
      </p:sp>
      <p:sp>
        <p:nvSpPr>
          <p:cNvPr id="68" name="Rectangle 67"/>
          <p:cNvSpPr/>
          <p:nvPr/>
        </p:nvSpPr>
        <p:spPr>
          <a:xfrm>
            <a:off x="1371600" y="7644383"/>
            <a:ext cx="1609344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1426464" y="7644383"/>
            <a:ext cx="3931920" cy="603504"/>
          </a:xfrm>
          <a:prstGeom prst="rect">
            <a:avLst/>
          </a:prstGeom>
          <a:noFill/>
        </p:spPr>
        <p:txBody>
          <a:bodyPr wrap="square" lIns="0" tIns="0" rIns="0" bIns="0" anchor="ctr">
            <a:noAutofit/>
          </a:bodyPr>
          <a:lstStyle/>
          <a:p>
            <a:pPr algn="l"/>
            <a:r>
              <a:rPr sz="1700" b="0" i="0">
                <a:solidFill>
                  <a:srgbClr val="172033"/>
                </a:solidFill>
                <a:latin typeface="Roboto Condensed SemiBold"/>
              </a:rPr>
              <a:t>Brand &amp; distribution reach</a:t>
            </a:r>
          </a:p>
        </p:txBody>
      </p:sp>
      <p:sp>
        <p:nvSpPr>
          <p:cNvPr id="70" name="TextBox 69"/>
          <p:cNvSpPr txBox="1"/>
          <p:nvPr/>
        </p:nvSpPr>
        <p:spPr>
          <a:xfrm>
            <a:off x="5394960" y="7644383"/>
            <a:ext cx="2432304" cy="603504"/>
          </a:xfrm>
          <a:prstGeom prst="rect">
            <a:avLst/>
          </a:prstGeom>
          <a:noFill/>
        </p:spPr>
        <p:txBody>
          <a:bodyPr wrap="square" lIns="0" tIns="0" rIns="0" bIns="0" anchor="ctr">
            <a:noAutofit/>
          </a:bodyPr>
          <a:lstStyle/>
          <a:p>
            <a:pPr algn="ctr"/>
            <a:r>
              <a:rPr sz="1500" b="0" i="0">
                <a:solidFill>
                  <a:srgbClr val="5B21B6"/>
                </a:solidFill>
                <a:latin typeface="Roboto Condensed SemiBold"/>
              </a:rPr>
              <a:t>Early</a:t>
            </a:r>
          </a:p>
        </p:txBody>
      </p:sp>
      <p:sp>
        <p:nvSpPr>
          <p:cNvPr id="71" name="TextBox 70"/>
          <p:cNvSpPr txBox="1"/>
          <p:nvPr/>
        </p:nvSpPr>
        <p:spPr>
          <a:xfrm>
            <a:off x="7827264" y="7644383"/>
            <a:ext cx="2432304" cy="603504"/>
          </a:xfrm>
          <a:prstGeom prst="rect">
            <a:avLst/>
          </a:prstGeom>
          <a:noFill/>
        </p:spPr>
        <p:txBody>
          <a:bodyPr wrap="square" lIns="0" tIns="0" rIns="0" bIns="0" anchor="ctr">
            <a:noAutofit/>
          </a:bodyPr>
          <a:lstStyle/>
          <a:p>
            <a:pPr algn="ctr"/>
            <a:r>
              <a:rPr sz="1500" b="0" i="0">
                <a:solidFill>
                  <a:srgbClr val="172033"/>
                </a:solidFill>
                <a:latin typeface="Roboto Condensed"/>
              </a:rPr>
              <a:t>Retail brand</a:t>
            </a:r>
          </a:p>
        </p:txBody>
      </p:sp>
      <p:sp>
        <p:nvSpPr>
          <p:cNvPr id="72" name="TextBox 71"/>
          <p:cNvSpPr txBox="1"/>
          <p:nvPr/>
        </p:nvSpPr>
        <p:spPr>
          <a:xfrm>
            <a:off x="10259568" y="7644383"/>
            <a:ext cx="2432304" cy="603504"/>
          </a:xfrm>
          <a:prstGeom prst="rect">
            <a:avLst/>
          </a:prstGeom>
          <a:noFill/>
        </p:spPr>
        <p:txBody>
          <a:bodyPr wrap="square" lIns="0" tIns="0" rIns="0" bIns="0" anchor="ctr">
            <a:noAutofit/>
          </a:bodyPr>
          <a:lstStyle/>
          <a:p>
            <a:pPr algn="ctr"/>
            <a:r>
              <a:rPr sz="1500" b="0" i="0">
                <a:solidFill>
                  <a:srgbClr val="172033"/>
                </a:solidFill>
                <a:latin typeface="Roboto Condensed"/>
              </a:rPr>
              <a:t>26M+ downloads</a:t>
            </a:r>
          </a:p>
        </p:txBody>
      </p:sp>
      <p:sp>
        <p:nvSpPr>
          <p:cNvPr id="73" name="TextBox 72"/>
          <p:cNvSpPr txBox="1"/>
          <p:nvPr/>
        </p:nvSpPr>
        <p:spPr>
          <a:xfrm>
            <a:off x="12691872" y="7644383"/>
            <a:ext cx="2432304" cy="603504"/>
          </a:xfrm>
          <a:prstGeom prst="rect">
            <a:avLst/>
          </a:prstGeom>
          <a:noFill/>
        </p:spPr>
        <p:txBody>
          <a:bodyPr wrap="square" lIns="0" tIns="0" rIns="0" bIns="0" anchor="ctr">
            <a:noAutofit/>
          </a:bodyPr>
          <a:lstStyle/>
          <a:p>
            <a:pPr algn="ctr"/>
            <a:r>
              <a:rPr sz="1500" b="0" i="0">
                <a:solidFill>
                  <a:srgbClr val="172033"/>
                </a:solidFill>
                <a:latin typeface="Roboto Condensed"/>
              </a:rPr>
              <a:t>30 languages</a:t>
            </a:r>
          </a:p>
        </p:txBody>
      </p:sp>
      <p:sp>
        <p:nvSpPr>
          <p:cNvPr id="74" name="TextBox 73"/>
          <p:cNvSpPr txBox="1"/>
          <p:nvPr/>
        </p:nvSpPr>
        <p:spPr>
          <a:xfrm>
            <a:off x="15124176" y="7644383"/>
            <a:ext cx="2432304" cy="603504"/>
          </a:xfrm>
          <a:prstGeom prst="rect">
            <a:avLst/>
          </a:prstGeom>
          <a:noFill/>
        </p:spPr>
        <p:txBody>
          <a:bodyPr wrap="square" lIns="0" tIns="0" rIns="0" bIns="0" anchor="ctr">
            <a:noAutofit/>
          </a:bodyPr>
          <a:lstStyle/>
          <a:p>
            <a:pPr algn="ctr"/>
            <a:r>
              <a:rPr sz="1500" b="0" i="0">
                <a:solidFill>
                  <a:srgbClr val="172033"/>
                </a:solidFill>
                <a:latin typeface="Roboto Condensed"/>
              </a:rPr>
              <a:t>Museums</a:t>
            </a:r>
          </a:p>
        </p:txBody>
      </p:sp>
      <p:sp>
        <p:nvSpPr>
          <p:cNvPr id="75" name="Rounded Rectangle 74"/>
          <p:cNvSpPr/>
          <p:nvPr/>
        </p:nvSpPr>
        <p:spPr>
          <a:xfrm>
            <a:off x="1097280" y="8430768"/>
            <a:ext cx="16093440" cy="914400"/>
          </a:xfrm>
          <a:prstGeom prst="roundRect">
            <a:avLst>
              <a:gd name="adj" fmla="val 24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1426464" y="8430768"/>
            <a:ext cx="15453359" cy="914400"/>
          </a:xfrm>
          <a:prstGeom prst="rect">
            <a:avLst/>
          </a:prstGeom>
          <a:noFill/>
        </p:spPr>
        <p:txBody>
          <a:bodyPr wrap="square" lIns="0" tIns="0" rIns="0" bIns="0" anchor="ctr">
            <a:noAutofit/>
          </a:bodyPr>
          <a:lstStyle/>
          <a:p>
            <a:pPr algn="l">
              <a:lnSpc>
                <a:spcPct val="100000"/>
              </a:lnSpc>
            </a:pPr>
            <a:r>
              <a:rPr sz="1800" b="0" i="0">
                <a:solidFill>
                  <a:srgbClr val="172033"/>
                </a:solidFill>
                <a:latin typeface="Roboto Condensed SemiBold"/>
              </a:rPr>
              <a:t>Scanvas does not need to replace these products. The opportunity is to combine a low-friction web experience, child-generated characters, shared worlds, and a reusable content engine.</a:t>
            </a:r>
          </a:p>
        </p:txBody>
      </p:sp>
      <p:sp>
        <p:nvSpPr>
          <p:cNvPr id="77" name="TextBox 76"/>
          <p:cNvSpPr txBox="1"/>
          <p:nvPr/>
        </p:nvSpPr>
        <p:spPr>
          <a:xfrm>
            <a:off x="1097280" y="9454896"/>
            <a:ext cx="16093440" cy="402336"/>
          </a:xfrm>
          <a:prstGeom prst="rect">
            <a:avLst/>
          </a:prstGeom>
          <a:noFill/>
        </p:spPr>
        <p:txBody>
          <a:bodyPr wrap="square" lIns="0" tIns="0" rIns="0" bIns="0" anchor="t">
            <a:noAutofit/>
          </a:bodyPr>
          <a:lstStyle/>
          <a:p>
            <a:pPr algn="l"/>
            <a:r>
              <a:rPr sz="1500" b="0" i="0">
                <a:solidFill>
                  <a:srgbClr val="172033"/>
                </a:solidFill>
                <a:latin typeface="Roboto Condensed"/>
              </a:rPr>
              <a:t>Indirect competition also includes video and game apps that compete for screen time. Evidence checked Sep 2026 on each product’s official site.</a:t>
            </a:r>
          </a:p>
        </p:txBody>
      </p:sp>
      <p:sp>
        <p:nvSpPr>
          <p:cNvPr id="78" name="Rounded Rectangle 77"/>
          <p:cNvSpPr/>
          <p:nvPr/>
        </p:nvSpPr>
        <p:spPr>
          <a:xfrm>
            <a:off x="7936992" y="2103120"/>
            <a:ext cx="7077456" cy="310896"/>
          </a:xfrm>
          <a:prstGeom prst="roundRect">
            <a:avLst>
              <a:gd name="adj" fmla="val 50000"/>
            </a:avLst>
          </a:prstGeom>
          <a:solidFill>
            <a:srgbClr val="527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7936992" y="2103120"/>
            <a:ext cx="7077456" cy="310896"/>
          </a:xfrm>
          <a:prstGeom prst="rect">
            <a:avLst/>
          </a:prstGeom>
          <a:noFill/>
        </p:spPr>
        <p:txBody>
          <a:bodyPr wrap="square" lIns="0" tIns="0" rIns="0" bIns="0" anchor="ctr">
            <a:noAutofit/>
          </a:bodyPr>
          <a:lstStyle/>
          <a:p>
            <a:pPr algn="ctr"/>
            <a:r>
              <a:rPr sz="1300" b="0" i="0">
                <a:solidFill>
                  <a:srgbClr val="FFFFFF"/>
                </a:solidFill>
                <a:latin typeface="Roboto Condensed SemiBold"/>
              </a:rPr>
              <a:t>DIRECT</a:t>
            </a:r>
          </a:p>
        </p:txBody>
      </p:sp>
      <p:sp>
        <p:nvSpPr>
          <p:cNvPr id="80" name="Rounded Rectangle 79"/>
          <p:cNvSpPr/>
          <p:nvPr/>
        </p:nvSpPr>
        <p:spPr>
          <a:xfrm>
            <a:off x="15233904" y="2103120"/>
            <a:ext cx="2212848" cy="310896"/>
          </a:xfrm>
          <a:prstGeom prst="roundRect">
            <a:avLst>
              <a:gd name="adj" fmla="val 50000"/>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5233904" y="2103120"/>
            <a:ext cx="2212848" cy="310896"/>
          </a:xfrm>
          <a:prstGeom prst="rect">
            <a:avLst/>
          </a:prstGeom>
          <a:noFill/>
        </p:spPr>
        <p:txBody>
          <a:bodyPr wrap="square" lIns="0" tIns="0" rIns="0" bIns="0" anchor="ctr">
            <a:noAutofit/>
          </a:bodyPr>
          <a:lstStyle/>
          <a:p>
            <a:pPr algn="ctr"/>
            <a:r>
              <a:rPr sz="1300" b="0" i="0">
                <a:solidFill>
                  <a:srgbClr val="FFFFFF"/>
                </a:solidFill>
                <a:latin typeface="Roboto Condensed SemiBold"/>
              </a:rPr>
              <a:t>INDIRECT</a:t>
            </a:r>
          </a:p>
        </p:txBody>
      </p:sp>
      <p:sp>
        <p:nvSpPr>
          <p:cNvPr id="82" name="TextBox 81"/>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APPENDIX · COMPETITOR MATRIX</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694944"/>
            <a:ext cx="14630400" cy="1371600"/>
          </a:xfrm>
          <a:prstGeom prst="rect">
            <a:avLst/>
          </a:prstGeom>
          <a:noFill/>
        </p:spPr>
        <p:txBody>
          <a:bodyPr wrap="square" lIns="0" tIns="0" rIns="0" bIns="0" anchor="t">
            <a:noAutofit/>
          </a:bodyPr>
          <a:lstStyle/>
          <a:p>
            <a:pPr algn="l">
              <a:lnSpc>
                <a:spcPct val="95000"/>
              </a:lnSpc>
            </a:pPr>
            <a:r>
              <a:rPr sz="4000" b="1" i="0">
                <a:solidFill>
                  <a:srgbClr val="172033"/>
                </a:solidFill>
                <a:latin typeface="Roboto Condensed"/>
              </a:rPr>
              <a:t>Start With a Reachable Beachhead,</a:t>
            </a:r>
            <a:br/>
            <a:r>
              <a:rPr sz="4000" b="1" i="0">
                <a:solidFill>
                  <a:srgbClr val="172033"/>
                </a:solidFill>
                <a:latin typeface="Roboto Condensed"/>
              </a:rPr>
              <a:t>Then Scale Distribution</a:t>
            </a:r>
          </a:p>
        </p:txBody>
      </p:sp>
      <p:sp>
        <p:nvSpPr>
          <p:cNvPr id="13" name="TextBox 12"/>
          <p:cNvSpPr txBox="1"/>
          <p:nvPr/>
        </p:nvSpPr>
        <p:spPr>
          <a:xfrm>
            <a:off x="1097280" y="2157984"/>
            <a:ext cx="16093440" cy="585216"/>
          </a:xfrm>
          <a:prstGeom prst="rect">
            <a:avLst/>
          </a:prstGeom>
          <a:noFill/>
        </p:spPr>
        <p:txBody>
          <a:bodyPr wrap="square" lIns="0" tIns="0" rIns="0" bIns="0" anchor="t">
            <a:noAutofit/>
          </a:bodyPr>
          <a:lstStyle/>
          <a:p>
            <a:pPr algn="l"/>
            <a:r>
              <a:rPr sz="1900" b="0" i="0">
                <a:solidFill>
                  <a:srgbClr val="172033"/>
                </a:solidFill>
                <a:latin typeface="Roboto Condensed"/>
              </a:rPr>
              <a:t>Bottom-up: count of PAUD + primary-school units (our institutional buyers), plus a BPS-based estimate of children aged 3–10.</a:t>
            </a:r>
          </a:p>
        </p:txBody>
      </p:sp>
      <p:sp>
        <p:nvSpPr>
          <p:cNvPr id="14" name="Rounded Rectangle 13"/>
          <p:cNvSpPr/>
          <p:nvPr/>
        </p:nvSpPr>
        <p:spPr>
          <a:xfrm>
            <a:off x="1097280" y="4297680"/>
            <a:ext cx="3749039" cy="4151376"/>
          </a:xfrm>
          <a:prstGeom prst="roundRect">
            <a:avLst>
              <a:gd name="adj" fmla="val 7804"/>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389888" y="4553712"/>
            <a:ext cx="1306068"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5B21B6"/>
                </a:solidFill>
                <a:latin typeface="Roboto Condensed SemiBold"/>
              </a:rPr>
              <a:t>WEDGE</a:t>
            </a:r>
          </a:p>
        </p:txBody>
      </p:sp>
      <p:sp>
        <p:nvSpPr>
          <p:cNvPr id="16" name="TextBox 15"/>
          <p:cNvSpPr txBox="1"/>
          <p:nvPr/>
        </p:nvSpPr>
        <p:spPr>
          <a:xfrm>
            <a:off x="1389888" y="5175504"/>
            <a:ext cx="3200399" cy="438912"/>
          </a:xfrm>
          <a:prstGeom prst="rect">
            <a:avLst/>
          </a:prstGeom>
          <a:noFill/>
        </p:spPr>
        <p:txBody>
          <a:bodyPr wrap="square" lIns="0" tIns="0" rIns="0" bIns="0" anchor="t">
            <a:noAutofit/>
          </a:bodyPr>
          <a:lstStyle/>
          <a:p>
            <a:pPr algn="l"/>
            <a:r>
              <a:rPr sz="2000" b="0" i="0">
                <a:solidFill>
                  <a:srgbClr val="FFFFFF"/>
                </a:solidFill>
                <a:latin typeface="Roboto Condensed SemiBold"/>
              </a:rPr>
              <a:t>D.I. Yogyakarta</a:t>
            </a:r>
          </a:p>
        </p:txBody>
      </p:sp>
      <p:sp>
        <p:nvSpPr>
          <p:cNvPr id="17" name="TextBox 16"/>
          <p:cNvSpPr txBox="1"/>
          <p:nvPr/>
        </p:nvSpPr>
        <p:spPr>
          <a:xfrm>
            <a:off x="1389888" y="5650992"/>
            <a:ext cx="3200399" cy="841248"/>
          </a:xfrm>
          <a:prstGeom prst="rect">
            <a:avLst/>
          </a:prstGeom>
          <a:noFill/>
        </p:spPr>
        <p:txBody>
          <a:bodyPr wrap="square" lIns="0" tIns="0" rIns="0" bIns="0" anchor="t">
            <a:noAutofit/>
          </a:bodyPr>
          <a:lstStyle/>
          <a:p>
            <a:pPr algn="l"/>
            <a:r>
              <a:rPr sz="4800" b="1" i="0">
                <a:solidFill>
                  <a:srgbClr val="FFFFFF"/>
                </a:solidFill>
                <a:latin typeface="Roboto Condensed"/>
              </a:rPr>
              <a:t>7,123</a:t>
            </a:r>
          </a:p>
        </p:txBody>
      </p:sp>
      <p:sp>
        <p:nvSpPr>
          <p:cNvPr id="18" name="TextBox 17"/>
          <p:cNvSpPr txBox="1"/>
          <p:nvPr/>
        </p:nvSpPr>
        <p:spPr>
          <a:xfrm>
            <a:off x="1389888" y="6528816"/>
            <a:ext cx="3200399" cy="365760"/>
          </a:xfrm>
          <a:prstGeom prst="rect">
            <a:avLst/>
          </a:prstGeom>
          <a:noFill/>
        </p:spPr>
        <p:txBody>
          <a:bodyPr wrap="square" lIns="0" tIns="0" rIns="0" bIns="0" anchor="t">
            <a:noAutofit/>
          </a:bodyPr>
          <a:lstStyle/>
          <a:p>
            <a:pPr algn="l"/>
            <a:r>
              <a:rPr sz="1600" b="0" i="0">
                <a:solidFill>
                  <a:srgbClr val="EDE9FE"/>
                </a:solidFill>
                <a:latin typeface="Roboto Condensed SemiBold"/>
              </a:rPr>
              <a:t>PAUD + primary schools</a:t>
            </a:r>
          </a:p>
        </p:txBody>
      </p:sp>
      <p:sp>
        <p:nvSpPr>
          <p:cNvPr id="19" name="TextBox 18"/>
          <p:cNvSpPr txBox="1"/>
          <p:nvPr/>
        </p:nvSpPr>
        <p:spPr>
          <a:xfrm>
            <a:off x="1389888" y="6967728"/>
            <a:ext cx="3200399" cy="1097280"/>
          </a:xfrm>
          <a:prstGeom prst="rect">
            <a:avLst/>
          </a:prstGeom>
          <a:noFill/>
        </p:spPr>
        <p:txBody>
          <a:bodyPr wrap="square" lIns="0" tIns="0" rIns="0" bIns="0" anchor="t">
            <a:noAutofit/>
          </a:bodyPr>
          <a:lstStyle/>
          <a:p>
            <a:pPr algn="l">
              <a:lnSpc>
                <a:spcPct val="108000"/>
              </a:lnSpc>
            </a:pPr>
            <a:r>
              <a:rPr sz="1700" b="0" i="0">
                <a:solidFill>
                  <a:srgbClr val="FFFFFF"/>
                </a:solidFill>
                <a:latin typeface="Roboto Condensed"/>
              </a:rPr>
              <a:t>First institutional beachhead, where our first pilot ran.</a:t>
            </a:r>
          </a:p>
        </p:txBody>
      </p:sp>
      <p:sp>
        <p:nvSpPr>
          <p:cNvPr id="20" name="Chevron 19"/>
          <p:cNvSpPr/>
          <p:nvPr/>
        </p:nvSpPr>
        <p:spPr>
          <a:xfrm>
            <a:off x="4919472" y="6400800"/>
            <a:ext cx="219456" cy="475488"/>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212080" y="3931920"/>
            <a:ext cx="3749039" cy="4517136"/>
          </a:xfrm>
          <a:prstGeom prst="roundRect">
            <a:avLst>
              <a:gd name="adj" fmla="val 7804"/>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504688" y="4187952"/>
            <a:ext cx="1306068" cy="47548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5B21B6"/>
                </a:solidFill>
                <a:latin typeface="Roboto Condensed SemiBold"/>
              </a:rPr>
              <a:t>SCALE</a:t>
            </a:r>
          </a:p>
        </p:txBody>
      </p:sp>
      <p:sp>
        <p:nvSpPr>
          <p:cNvPr id="23" name="TextBox 22"/>
          <p:cNvSpPr txBox="1"/>
          <p:nvPr/>
        </p:nvSpPr>
        <p:spPr>
          <a:xfrm>
            <a:off x="5504688" y="4809744"/>
            <a:ext cx="3200399" cy="438912"/>
          </a:xfrm>
          <a:prstGeom prst="rect">
            <a:avLst/>
          </a:prstGeom>
          <a:noFill/>
        </p:spPr>
        <p:txBody>
          <a:bodyPr wrap="square" lIns="0" tIns="0" rIns="0" bIns="0" anchor="t">
            <a:noAutofit/>
          </a:bodyPr>
          <a:lstStyle/>
          <a:p>
            <a:pPr algn="l"/>
            <a:r>
              <a:rPr sz="2000" b="0" i="0">
                <a:solidFill>
                  <a:srgbClr val="172033"/>
                </a:solidFill>
                <a:latin typeface="Roboto Condensed SemiBold"/>
              </a:rPr>
              <a:t>Central Java + DIY</a:t>
            </a:r>
          </a:p>
        </p:txBody>
      </p:sp>
      <p:sp>
        <p:nvSpPr>
          <p:cNvPr id="24" name="TextBox 23"/>
          <p:cNvSpPr txBox="1"/>
          <p:nvPr/>
        </p:nvSpPr>
        <p:spPr>
          <a:xfrm>
            <a:off x="5504688" y="5285231"/>
            <a:ext cx="3200399" cy="841248"/>
          </a:xfrm>
          <a:prstGeom prst="rect">
            <a:avLst/>
          </a:prstGeom>
          <a:noFill/>
        </p:spPr>
        <p:txBody>
          <a:bodyPr wrap="square" lIns="0" tIns="0" rIns="0" bIns="0" anchor="t">
            <a:noAutofit/>
          </a:bodyPr>
          <a:lstStyle/>
          <a:p>
            <a:pPr algn="l"/>
            <a:r>
              <a:rPr sz="4800" b="1" i="0">
                <a:solidFill>
                  <a:srgbClr val="5B21B6"/>
                </a:solidFill>
                <a:latin typeface="Roboto Condensed"/>
              </a:rPr>
              <a:t>62,797</a:t>
            </a:r>
          </a:p>
        </p:txBody>
      </p:sp>
      <p:sp>
        <p:nvSpPr>
          <p:cNvPr id="25" name="TextBox 24"/>
          <p:cNvSpPr txBox="1"/>
          <p:nvPr/>
        </p:nvSpPr>
        <p:spPr>
          <a:xfrm>
            <a:off x="5504688" y="6163056"/>
            <a:ext cx="3200399" cy="365760"/>
          </a:xfrm>
          <a:prstGeom prst="rect">
            <a:avLst/>
          </a:prstGeom>
          <a:noFill/>
        </p:spPr>
        <p:txBody>
          <a:bodyPr wrap="square" lIns="0" tIns="0" rIns="0" bIns="0" anchor="t">
            <a:noAutofit/>
          </a:bodyPr>
          <a:lstStyle/>
          <a:p>
            <a:pPr algn="l"/>
            <a:r>
              <a:rPr sz="1600" b="0" i="0">
                <a:solidFill>
                  <a:srgbClr val="172033"/>
                </a:solidFill>
                <a:latin typeface="Roboto Condensed SemiBold"/>
              </a:rPr>
              <a:t>PAUD + primary schools</a:t>
            </a:r>
          </a:p>
        </p:txBody>
      </p:sp>
      <p:sp>
        <p:nvSpPr>
          <p:cNvPr id="26" name="TextBox 25"/>
          <p:cNvSpPr txBox="1"/>
          <p:nvPr/>
        </p:nvSpPr>
        <p:spPr>
          <a:xfrm>
            <a:off x="5504688" y="6601968"/>
            <a:ext cx="3200399" cy="1097280"/>
          </a:xfrm>
          <a:prstGeom prst="rect">
            <a:avLst/>
          </a:prstGeom>
          <a:noFill/>
        </p:spPr>
        <p:txBody>
          <a:bodyPr wrap="square" lIns="0" tIns="0" rIns="0" bIns="0" anchor="t">
            <a:noAutofit/>
          </a:bodyPr>
          <a:lstStyle/>
          <a:p>
            <a:pPr algn="l">
              <a:lnSpc>
                <a:spcPct val="108000"/>
              </a:lnSpc>
            </a:pPr>
            <a:r>
              <a:rPr sz="1700" b="0" i="0">
                <a:solidFill>
                  <a:srgbClr val="172033"/>
                </a:solidFill>
                <a:latin typeface="Roboto Condensed"/>
              </a:rPr>
              <a:t>School sessions, events, and Scanvas Studio.</a:t>
            </a:r>
          </a:p>
        </p:txBody>
      </p:sp>
      <p:sp>
        <p:nvSpPr>
          <p:cNvPr id="27" name="Chevron 26"/>
          <p:cNvSpPr/>
          <p:nvPr/>
        </p:nvSpPr>
        <p:spPr>
          <a:xfrm>
            <a:off x="9034272" y="6400800"/>
            <a:ext cx="219456" cy="475488"/>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326880" y="3566160"/>
            <a:ext cx="3749039" cy="4882896"/>
          </a:xfrm>
          <a:prstGeom prst="roundRect">
            <a:avLst>
              <a:gd name="adj" fmla="val 7804"/>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9619488" y="3822192"/>
            <a:ext cx="1694688" cy="47548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5B21B6"/>
                </a:solidFill>
                <a:latin typeface="Roboto Condensed SemiBold"/>
              </a:rPr>
              <a:t>NATIONAL</a:t>
            </a:r>
          </a:p>
        </p:txBody>
      </p:sp>
      <p:sp>
        <p:nvSpPr>
          <p:cNvPr id="30" name="TextBox 29"/>
          <p:cNvSpPr txBox="1"/>
          <p:nvPr/>
        </p:nvSpPr>
        <p:spPr>
          <a:xfrm>
            <a:off x="9619488" y="4443984"/>
            <a:ext cx="3200399" cy="438912"/>
          </a:xfrm>
          <a:prstGeom prst="rect">
            <a:avLst/>
          </a:prstGeom>
          <a:noFill/>
        </p:spPr>
        <p:txBody>
          <a:bodyPr wrap="square" lIns="0" tIns="0" rIns="0" bIns="0" anchor="t">
            <a:noAutofit/>
          </a:bodyPr>
          <a:lstStyle/>
          <a:p>
            <a:pPr algn="l"/>
            <a:r>
              <a:rPr sz="2000" b="0" i="0">
                <a:solidFill>
                  <a:srgbClr val="172033"/>
                </a:solidFill>
                <a:latin typeface="Roboto Condensed SemiBold"/>
              </a:rPr>
              <a:t>Indonesia</a:t>
            </a:r>
          </a:p>
        </p:txBody>
      </p:sp>
      <p:sp>
        <p:nvSpPr>
          <p:cNvPr id="31" name="TextBox 30"/>
          <p:cNvSpPr txBox="1"/>
          <p:nvPr/>
        </p:nvSpPr>
        <p:spPr>
          <a:xfrm>
            <a:off x="9619488" y="4919472"/>
            <a:ext cx="3200399" cy="841248"/>
          </a:xfrm>
          <a:prstGeom prst="rect">
            <a:avLst/>
          </a:prstGeom>
          <a:noFill/>
        </p:spPr>
        <p:txBody>
          <a:bodyPr wrap="square" lIns="0" tIns="0" rIns="0" bIns="0" anchor="t">
            <a:noAutofit/>
          </a:bodyPr>
          <a:lstStyle/>
          <a:p>
            <a:pPr algn="l"/>
            <a:r>
              <a:rPr sz="4800" b="1" i="0">
                <a:solidFill>
                  <a:srgbClr val="5B21B6"/>
                </a:solidFill>
                <a:latin typeface="Roboto Condensed"/>
              </a:rPr>
              <a:t>420,886</a:t>
            </a:r>
          </a:p>
        </p:txBody>
      </p:sp>
      <p:sp>
        <p:nvSpPr>
          <p:cNvPr id="32" name="TextBox 31"/>
          <p:cNvSpPr txBox="1"/>
          <p:nvPr/>
        </p:nvSpPr>
        <p:spPr>
          <a:xfrm>
            <a:off x="9619488" y="5797296"/>
            <a:ext cx="3200399" cy="365760"/>
          </a:xfrm>
          <a:prstGeom prst="rect">
            <a:avLst/>
          </a:prstGeom>
          <a:noFill/>
        </p:spPr>
        <p:txBody>
          <a:bodyPr wrap="square" lIns="0" tIns="0" rIns="0" bIns="0" anchor="t">
            <a:noAutofit/>
          </a:bodyPr>
          <a:lstStyle/>
          <a:p>
            <a:pPr algn="l"/>
            <a:r>
              <a:rPr sz="1600" b="0" i="0">
                <a:solidFill>
                  <a:srgbClr val="172033"/>
                </a:solidFill>
                <a:latin typeface="Roboto Condensed SemiBold"/>
              </a:rPr>
              <a:t>PAUD + primary schools</a:t>
            </a:r>
          </a:p>
        </p:txBody>
      </p:sp>
      <p:sp>
        <p:nvSpPr>
          <p:cNvPr id="33" name="TextBox 32"/>
          <p:cNvSpPr txBox="1"/>
          <p:nvPr/>
        </p:nvSpPr>
        <p:spPr>
          <a:xfrm>
            <a:off x="9619488" y="6236208"/>
            <a:ext cx="3200399" cy="1097280"/>
          </a:xfrm>
          <a:prstGeom prst="rect">
            <a:avLst/>
          </a:prstGeom>
          <a:noFill/>
        </p:spPr>
        <p:txBody>
          <a:bodyPr wrap="square" lIns="0" tIns="0" rIns="0" bIns="0" anchor="t">
            <a:noAutofit/>
          </a:bodyPr>
          <a:lstStyle/>
          <a:p>
            <a:pPr algn="l">
              <a:lnSpc>
                <a:spcPct val="108000"/>
              </a:lnSpc>
            </a:pPr>
            <a:r>
              <a:rPr sz="1700" b="0" i="0">
                <a:solidFill>
                  <a:srgbClr val="172033"/>
                </a:solidFill>
                <a:latin typeface="Roboto Condensed"/>
              </a:rPr>
              <a:t>≈35.3M children aged 3–10.*</a:t>
            </a:r>
          </a:p>
        </p:txBody>
      </p:sp>
      <p:sp>
        <p:nvSpPr>
          <p:cNvPr id="34" name="Chevron 33"/>
          <p:cNvSpPr/>
          <p:nvPr/>
        </p:nvSpPr>
        <p:spPr>
          <a:xfrm>
            <a:off x="13149072" y="6400800"/>
            <a:ext cx="219456" cy="475488"/>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13441680" y="3200400"/>
            <a:ext cx="3749039" cy="5248656"/>
          </a:xfrm>
          <a:prstGeom prst="roundRect">
            <a:avLst>
              <a:gd name="adj" fmla="val 7804"/>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13734288" y="3456432"/>
            <a:ext cx="1435608" cy="47548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5B21B6"/>
                </a:solidFill>
                <a:latin typeface="Roboto Condensed SemiBold"/>
              </a:rPr>
              <a:t>EXPAND</a:t>
            </a:r>
          </a:p>
        </p:txBody>
      </p:sp>
      <p:sp>
        <p:nvSpPr>
          <p:cNvPr id="37" name="TextBox 36"/>
          <p:cNvSpPr txBox="1"/>
          <p:nvPr/>
        </p:nvSpPr>
        <p:spPr>
          <a:xfrm>
            <a:off x="13734288" y="4078224"/>
            <a:ext cx="3200399" cy="438912"/>
          </a:xfrm>
          <a:prstGeom prst="rect">
            <a:avLst/>
          </a:prstGeom>
          <a:noFill/>
        </p:spPr>
        <p:txBody>
          <a:bodyPr wrap="square" lIns="0" tIns="0" rIns="0" bIns="0" anchor="t">
            <a:noAutofit/>
          </a:bodyPr>
          <a:lstStyle/>
          <a:p>
            <a:pPr algn="l"/>
            <a:r>
              <a:rPr sz="2000" b="0" i="0">
                <a:solidFill>
                  <a:srgbClr val="172033"/>
                </a:solidFill>
                <a:latin typeface="Roboto Condensed SemiBold"/>
              </a:rPr>
              <a:t>Southeast Asia</a:t>
            </a:r>
          </a:p>
        </p:txBody>
      </p:sp>
      <p:sp>
        <p:nvSpPr>
          <p:cNvPr id="38" name="TextBox 37"/>
          <p:cNvSpPr txBox="1"/>
          <p:nvPr/>
        </p:nvSpPr>
        <p:spPr>
          <a:xfrm>
            <a:off x="13734288" y="4553712"/>
            <a:ext cx="3200399" cy="841248"/>
          </a:xfrm>
          <a:prstGeom prst="rect">
            <a:avLst/>
          </a:prstGeom>
          <a:noFill/>
        </p:spPr>
        <p:txBody>
          <a:bodyPr wrap="square" lIns="0" tIns="0" rIns="0" bIns="0" anchor="t">
            <a:noAutofit/>
          </a:bodyPr>
          <a:lstStyle/>
          <a:p>
            <a:pPr algn="l"/>
            <a:r>
              <a:rPr sz="4800" b="1" i="0">
                <a:solidFill>
                  <a:srgbClr val="7C3AED"/>
                </a:solidFill>
                <a:latin typeface="Roboto Condensed"/>
              </a:rPr>
              <a:t>SEA</a:t>
            </a:r>
          </a:p>
        </p:txBody>
      </p:sp>
      <p:sp>
        <p:nvSpPr>
          <p:cNvPr id="39" name="TextBox 38"/>
          <p:cNvSpPr txBox="1"/>
          <p:nvPr/>
        </p:nvSpPr>
        <p:spPr>
          <a:xfrm>
            <a:off x="13734288" y="5431536"/>
            <a:ext cx="3200399" cy="365760"/>
          </a:xfrm>
          <a:prstGeom prst="rect">
            <a:avLst/>
          </a:prstGeom>
          <a:noFill/>
        </p:spPr>
        <p:txBody>
          <a:bodyPr wrap="square" lIns="0" tIns="0" rIns="0" bIns="0" anchor="t">
            <a:noAutofit/>
          </a:bodyPr>
          <a:lstStyle/>
          <a:p>
            <a:pPr algn="l"/>
            <a:r>
              <a:rPr sz="1600" b="0" i="0">
                <a:solidFill>
                  <a:srgbClr val="172033"/>
                </a:solidFill>
                <a:latin typeface="Roboto Condensed SemiBold"/>
              </a:rPr>
              <a:t>same engine, local content</a:t>
            </a:r>
          </a:p>
        </p:txBody>
      </p:sp>
      <p:sp>
        <p:nvSpPr>
          <p:cNvPr id="40" name="TextBox 39"/>
          <p:cNvSpPr txBox="1"/>
          <p:nvPr/>
        </p:nvSpPr>
        <p:spPr>
          <a:xfrm>
            <a:off x="13734288" y="5870448"/>
            <a:ext cx="3200399" cy="1097280"/>
          </a:xfrm>
          <a:prstGeom prst="rect">
            <a:avLst/>
          </a:prstGeom>
          <a:noFill/>
        </p:spPr>
        <p:txBody>
          <a:bodyPr wrap="square" lIns="0" tIns="0" rIns="0" bIns="0" anchor="t">
            <a:noAutofit/>
          </a:bodyPr>
          <a:lstStyle/>
          <a:p>
            <a:pPr algn="l">
              <a:lnSpc>
                <a:spcPct val="108000"/>
              </a:lnSpc>
            </a:pPr>
            <a:r>
              <a:rPr sz="1700" b="0" i="0">
                <a:solidFill>
                  <a:srgbClr val="172033"/>
                </a:solidFill>
                <a:latin typeface="Roboto Condensed"/>
              </a:rPr>
              <a:t>New languages, worlds, cultural content, partners.</a:t>
            </a:r>
          </a:p>
        </p:txBody>
      </p:sp>
      <p:sp>
        <p:nvSpPr>
          <p:cNvPr id="41" name="TextBox 40"/>
          <p:cNvSpPr txBox="1"/>
          <p:nvPr/>
        </p:nvSpPr>
        <p:spPr>
          <a:xfrm>
            <a:off x="1097280" y="8595360"/>
            <a:ext cx="16093440" cy="548640"/>
          </a:xfrm>
          <a:prstGeom prst="rect">
            <a:avLst/>
          </a:prstGeom>
          <a:noFill/>
        </p:spPr>
        <p:txBody>
          <a:bodyPr wrap="square" lIns="0" tIns="0" rIns="0" bIns="0" anchor="t">
            <a:noAutofit/>
          </a:bodyPr>
          <a:lstStyle/>
          <a:p>
            <a:pPr algn="l">
              <a:lnSpc>
                <a:spcPct val="100000"/>
              </a:lnSpc>
            </a:pPr>
            <a:r>
              <a:rPr sz="1800" b="0" i="0">
                <a:solidFill>
                  <a:srgbClr val="5B21B6"/>
                </a:solidFill>
                <a:latin typeface="Roboto Condensed SemiBold"/>
              </a:rPr>
              <a:t>Institution counts represent the first distribution beachhead — not the entire Scanvas market. Families, events, and content expand beyond it.</a:t>
            </a:r>
          </a:p>
        </p:txBody>
      </p:sp>
      <p:sp>
        <p:nvSpPr>
          <p:cNvPr id="42" name="TextBox 41"/>
          <p:cNvSpPr txBox="1"/>
          <p:nvPr/>
        </p:nvSpPr>
        <p:spPr>
          <a:xfrm>
            <a:off x="1097280" y="9180576"/>
            <a:ext cx="16093440" cy="402336"/>
          </a:xfrm>
          <a:prstGeom prst="rect">
            <a:avLst/>
          </a:prstGeom>
          <a:noFill/>
        </p:spPr>
        <p:txBody>
          <a:bodyPr wrap="square" lIns="0" tIns="0" rIns="0" bIns="0" anchor="t">
            <a:noAutofit/>
          </a:bodyPr>
          <a:lstStyle/>
          <a:p>
            <a:pPr algn="l"/>
            <a:r>
              <a:rPr sz="1300" b="0" i="0">
                <a:solidFill>
                  <a:srgbClr val="172033"/>
                </a:solidFill>
                <a:latin typeface="Roboto Condensed"/>
              </a:rPr>
              <a:t>Sources: Kemendikdasmen Data Referensi Pendidikan (PAUD, SD), accessed Sep 2026 · *estimated from BPS population by 5-year age group, 2022. Details in Appendix B.</a:t>
            </a:r>
          </a:p>
        </p:txBody>
      </p:sp>
      <p:sp>
        <p:nvSpPr>
          <p:cNvPr id="43" name="TextBox 42"/>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APPENDIX · MARKET SIZE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822960"/>
            <a:ext cx="16093440" cy="1371600"/>
          </a:xfrm>
          <a:prstGeom prst="rect">
            <a:avLst/>
          </a:prstGeom>
          <a:noFill/>
        </p:spPr>
        <p:txBody>
          <a:bodyPr wrap="square" lIns="0" tIns="0" rIns="0" bIns="0" anchor="t">
            <a:noAutofit/>
          </a:bodyPr>
          <a:lstStyle/>
          <a:p>
            <a:pPr algn="l">
              <a:lnSpc>
                <a:spcPct val="95000"/>
              </a:lnSpc>
            </a:pPr>
            <a:r>
              <a:rPr sz="4000" b="1" i="0">
                <a:solidFill>
                  <a:srgbClr val="172033"/>
                </a:solidFill>
                <a:latin typeface="Roboto Condensed"/>
              </a:rPr>
              <a:t>Market Figures Use Indonesian Education Data</a:t>
            </a:r>
            <a:br/>
            <a:r>
              <a:rPr sz="4000" b="1" i="0">
                <a:solidFill>
                  <a:srgbClr val="172033"/>
                </a:solidFill>
                <a:latin typeface="Roboto Condensed"/>
              </a:rPr>
              <a:t>and a BPS-Based Child Population Estimate</a:t>
            </a:r>
          </a:p>
        </p:txBody>
      </p:sp>
      <p:sp>
        <p:nvSpPr>
          <p:cNvPr id="13" name="Rounded Rectangle 12"/>
          <p:cNvSpPr/>
          <p:nvPr/>
        </p:nvSpPr>
        <p:spPr>
          <a:xfrm>
            <a:off x="1097280" y="2286000"/>
            <a:ext cx="16093440" cy="6492240"/>
          </a:xfrm>
          <a:prstGeom prst="roundRect">
            <a:avLst>
              <a:gd name="adj" fmla="val 4507"/>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463040" y="2523744"/>
            <a:ext cx="5029200" cy="475488"/>
          </a:xfrm>
          <a:prstGeom prst="rect">
            <a:avLst/>
          </a:prstGeom>
          <a:noFill/>
        </p:spPr>
        <p:txBody>
          <a:bodyPr wrap="square" lIns="0" tIns="0" rIns="0" bIns="0" anchor="t">
            <a:noAutofit/>
          </a:bodyPr>
          <a:lstStyle/>
          <a:p>
            <a:pPr algn="l"/>
            <a:r>
              <a:rPr sz="1700" b="0" i="0">
                <a:solidFill>
                  <a:srgbClr val="7C3AED"/>
                </a:solidFill>
                <a:latin typeface="Roboto Condensed SemiBold"/>
              </a:rPr>
              <a:t>Figure</a:t>
            </a:r>
          </a:p>
        </p:txBody>
      </p:sp>
      <p:sp>
        <p:nvSpPr>
          <p:cNvPr id="15" name="TextBox 14"/>
          <p:cNvSpPr txBox="1"/>
          <p:nvPr/>
        </p:nvSpPr>
        <p:spPr>
          <a:xfrm>
            <a:off x="6583680" y="2523744"/>
            <a:ext cx="1737360" cy="475488"/>
          </a:xfrm>
          <a:prstGeom prst="rect">
            <a:avLst/>
          </a:prstGeom>
          <a:noFill/>
        </p:spPr>
        <p:txBody>
          <a:bodyPr wrap="square" lIns="0" tIns="0" rIns="0" bIns="0" anchor="t">
            <a:noAutofit/>
          </a:bodyPr>
          <a:lstStyle/>
          <a:p>
            <a:pPr algn="l"/>
            <a:r>
              <a:rPr sz="1700" b="0" i="0">
                <a:solidFill>
                  <a:srgbClr val="7C3AED"/>
                </a:solidFill>
                <a:latin typeface="Roboto Condensed SemiBold"/>
              </a:rPr>
              <a:t>Value</a:t>
            </a:r>
          </a:p>
        </p:txBody>
      </p:sp>
      <p:sp>
        <p:nvSpPr>
          <p:cNvPr id="16" name="TextBox 15"/>
          <p:cNvSpPr txBox="1"/>
          <p:nvPr/>
        </p:nvSpPr>
        <p:spPr>
          <a:xfrm>
            <a:off x="8503920" y="2523744"/>
            <a:ext cx="8412480" cy="475488"/>
          </a:xfrm>
          <a:prstGeom prst="rect">
            <a:avLst/>
          </a:prstGeom>
          <a:noFill/>
        </p:spPr>
        <p:txBody>
          <a:bodyPr wrap="square" lIns="0" tIns="0" rIns="0" bIns="0" anchor="t">
            <a:noAutofit/>
          </a:bodyPr>
          <a:lstStyle/>
          <a:p>
            <a:pPr algn="l"/>
            <a:r>
              <a:rPr sz="1700" b="0" i="0">
                <a:solidFill>
                  <a:srgbClr val="7C3AED"/>
                </a:solidFill>
                <a:latin typeface="Roboto Condensed SemiBold"/>
              </a:rPr>
              <a:t>How it is calculated / source</a:t>
            </a:r>
          </a:p>
        </p:txBody>
      </p:sp>
      <p:sp>
        <p:nvSpPr>
          <p:cNvPr id="17" name="Rectangle 16"/>
          <p:cNvSpPr/>
          <p:nvPr/>
        </p:nvSpPr>
        <p:spPr>
          <a:xfrm>
            <a:off x="1463040" y="3072384"/>
            <a:ext cx="1536192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463040" y="3145536"/>
            <a:ext cx="5029200" cy="804672"/>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PAUD units, Indonesia</a:t>
            </a:r>
          </a:p>
        </p:txBody>
      </p:sp>
      <p:sp>
        <p:nvSpPr>
          <p:cNvPr id="19" name="TextBox 18"/>
          <p:cNvSpPr txBox="1"/>
          <p:nvPr/>
        </p:nvSpPr>
        <p:spPr>
          <a:xfrm>
            <a:off x="6583680" y="3145536"/>
            <a:ext cx="1737360" cy="804672"/>
          </a:xfrm>
          <a:prstGeom prst="rect">
            <a:avLst/>
          </a:prstGeom>
          <a:noFill/>
        </p:spPr>
        <p:txBody>
          <a:bodyPr wrap="square" lIns="0" tIns="0" rIns="0" bIns="0" anchor="ctr">
            <a:noAutofit/>
          </a:bodyPr>
          <a:lstStyle/>
          <a:p>
            <a:pPr algn="l">
              <a:lnSpc>
                <a:spcPct val="100000"/>
              </a:lnSpc>
            </a:pPr>
            <a:r>
              <a:rPr sz="1900" b="1" i="0">
                <a:solidFill>
                  <a:srgbClr val="172033"/>
                </a:solidFill>
                <a:latin typeface="Roboto Condensed"/>
              </a:rPr>
              <a:t>243,604</a:t>
            </a:r>
          </a:p>
        </p:txBody>
      </p:sp>
      <p:sp>
        <p:nvSpPr>
          <p:cNvPr id="20" name="TextBox 19"/>
          <p:cNvSpPr txBox="1"/>
          <p:nvPr/>
        </p:nvSpPr>
        <p:spPr>
          <a:xfrm>
            <a:off x="8503920" y="3145536"/>
            <a:ext cx="8412480" cy="804672"/>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TK 134,789 + KB 86,429 + TPA 2,684 + SPS 19,702 · Kemendikdasmen</a:t>
            </a:r>
          </a:p>
        </p:txBody>
      </p:sp>
      <p:sp>
        <p:nvSpPr>
          <p:cNvPr id="21" name="Rectangle 20"/>
          <p:cNvSpPr/>
          <p:nvPr/>
        </p:nvSpPr>
        <p:spPr>
          <a:xfrm>
            <a:off x="1463040" y="3986783"/>
            <a:ext cx="1536192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463040" y="4059935"/>
            <a:ext cx="5029200" cy="804672"/>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Primary schools (SD sederajat), Indonesia</a:t>
            </a:r>
          </a:p>
        </p:txBody>
      </p:sp>
      <p:sp>
        <p:nvSpPr>
          <p:cNvPr id="23" name="TextBox 22"/>
          <p:cNvSpPr txBox="1"/>
          <p:nvPr/>
        </p:nvSpPr>
        <p:spPr>
          <a:xfrm>
            <a:off x="6583680" y="4059935"/>
            <a:ext cx="1737360" cy="804672"/>
          </a:xfrm>
          <a:prstGeom prst="rect">
            <a:avLst/>
          </a:prstGeom>
          <a:noFill/>
        </p:spPr>
        <p:txBody>
          <a:bodyPr wrap="square" lIns="0" tIns="0" rIns="0" bIns="0" anchor="ctr">
            <a:noAutofit/>
          </a:bodyPr>
          <a:lstStyle/>
          <a:p>
            <a:pPr algn="l">
              <a:lnSpc>
                <a:spcPct val="100000"/>
              </a:lnSpc>
            </a:pPr>
            <a:r>
              <a:rPr sz="1900" b="1" i="0">
                <a:solidFill>
                  <a:srgbClr val="172033"/>
                </a:solidFill>
                <a:latin typeface="Roboto Condensed"/>
              </a:rPr>
              <a:t>177,282</a:t>
            </a:r>
          </a:p>
        </p:txBody>
      </p:sp>
      <p:sp>
        <p:nvSpPr>
          <p:cNvPr id="24" name="TextBox 23"/>
          <p:cNvSpPr txBox="1"/>
          <p:nvPr/>
        </p:nvSpPr>
        <p:spPr>
          <a:xfrm>
            <a:off x="8503920" y="4059935"/>
            <a:ext cx="8412480" cy="804672"/>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Kemendikdasmen Data Referensi Pendidikan</a:t>
            </a:r>
          </a:p>
        </p:txBody>
      </p:sp>
      <p:sp>
        <p:nvSpPr>
          <p:cNvPr id="25" name="Rectangle 24"/>
          <p:cNvSpPr/>
          <p:nvPr/>
        </p:nvSpPr>
        <p:spPr>
          <a:xfrm>
            <a:off x="1463040" y="4901183"/>
            <a:ext cx="1536192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463040" y="4974336"/>
            <a:ext cx="5029200" cy="804672"/>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PAUD + primary schools, Indonesia</a:t>
            </a:r>
          </a:p>
        </p:txBody>
      </p:sp>
      <p:sp>
        <p:nvSpPr>
          <p:cNvPr id="27" name="TextBox 26"/>
          <p:cNvSpPr txBox="1"/>
          <p:nvPr/>
        </p:nvSpPr>
        <p:spPr>
          <a:xfrm>
            <a:off x="6583680" y="4974336"/>
            <a:ext cx="1737360" cy="804672"/>
          </a:xfrm>
          <a:prstGeom prst="rect">
            <a:avLst/>
          </a:prstGeom>
          <a:noFill/>
        </p:spPr>
        <p:txBody>
          <a:bodyPr wrap="square" lIns="0" tIns="0" rIns="0" bIns="0" anchor="ctr">
            <a:noAutofit/>
          </a:bodyPr>
          <a:lstStyle/>
          <a:p>
            <a:pPr algn="l">
              <a:lnSpc>
                <a:spcPct val="100000"/>
              </a:lnSpc>
            </a:pPr>
            <a:r>
              <a:rPr sz="1900" b="1" i="0">
                <a:solidFill>
                  <a:srgbClr val="172033"/>
                </a:solidFill>
                <a:latin typeface="Roboto Condensed"/>
              </a:rPr>
              <a:t>420,886</a:t>
            </a:r>
          </a:p>
        </p:txBody>
      </p:sp>
      <p:sp>
        <p:nvSpPr>
          <p:cNvPr id="28" name="TextBox 27"/>
          <p:cNvSpPr txBox="1"/>
          <p:nvPr/>
        </p:nvSpPr>
        <p:spPr>
          <a:xfrm>
            <a:off x="8503920" y="4974336"/>
            <a:ext cx="8412480" cy="804672"/>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243,604 + 177,282</a:t>
            </a:r>
          </a:p>
        </p:txBody>
      </p:sp>
      <p:sp>
        <p:nvSpPr>
          <p:cNvPr id="29" name="Rectangle 28"/>
          <p:cNvSpPr/>
          <p:nvPr/>
        </p:nvSpPr>
        <p:spPr>
          <a:xfrm>
            <a:off x="1463040" y="5815583"/>
            <a:ext cx="1536192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463040" y="5888736"/>
            <a:ext cx="5029200" cy="804672"/>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Central Java + D.I. Yogyakarta</a:t>
            </a:r>
          </a:p>
        </p:txBody>
      </p:sp>
      <p:sp>
        <p:nvSpPr>
          <p:cNvPr id="31" name="TextBox 30"/>
          <p:cNvSpPr txBox="1"/>
          <p:nvPr/>
        </p:nvSpPr>
        <p:spPr>
          <a:xfrm>
            <a:off x="6583680" y="5888736"/>
            <a:ext cx="1737360" cy="804672"/>
          </a:xfrm>
          <a:prstGeom prst="rect">
            <a:avLst/>
          </a:prstGeom>
          <a:noFill/>
        </p:spPr>
        <p:txBody>
          <a:bodyPr wrap="square" lIns="0" tIns="0" rIns="0" bIns="0" anchor="ctr">
            <a:noAutofit/>
          </a:bodyPr>
          <a:lstStyle/>
          <a:p>
            <a:pPr algn="l">
              <a:lnSpc>
                <a:spcPct val="100000"/>
              </a:lnSpc>
            </a:pPr>
            <a:r>
              <a:rPr sz="1900" b="1" i="0">
                <a:solidFill>
                  <a:srgbClr val="172033"/>
                </a:solidFill>
                <a:latin typeface="Roboto Condensed"/>
              </a:rPr>
              <a:t>62,797</a:t>
            </a:r>
          </a:p>
        </p:txBody>
      </p:sp>
      <p:sp>
        <p:nvSpPr>
          <p:cNvPr id="32" name="TextBox 31"/>
          <p:cNvSpPr txBox="1"/>
          <p:nvPr/>
        </p:nvSpPr>
        <p:spPr>
          <a:xfrm>
            <a:off x="8503920" y="5888736"/>
            <a:ext cx="8412480" cy="804672"/>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PAUD 32,839 + 5,071 · SD 22,835 + 2,052</a:t>
            </a:r>
          </a:p>
        </p:txBody>
      </p:sp>
      <p:sp>
        <p:nvSpPr>
          <p:cNvPr id="33" name="Rectangle 32"/>
          <p:cNvSpPr/>
          <p:nvPr/>
        </p:nvSpPr>
        <p:spPr>
          <a:xfrm>
            <a:off x="1463040" y="6729983"/>
            <a:ext cx="1536192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463040" y="6803136"/>
            <a:ext cx="5029200" cy="804672"/>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D.I. Yogyakarta</a:t>
            </a:r>
          </a:p>
        </p:txBody>
      </p:sp>
      <p:sp>
        <p:nvSpPr>
          <p:cNvPr id="35" name="TextBox 34"/>
          <p:cNvSpPr txBox="1"/>
          <p:nvPr/>
        </p:nvSpPr>
        <p:spPr>
          <a:xfrm>
            <a:off x="6583680" y="6803136"/>
            <a:ext cx="1737360" cy="804672"/>
          </a:xfrm>
          <a:prstGeom prst="rect">
            <a:avLst/>
          </a:prstGeom>
          <a:noFill/>
        </p:spPr>
        <p:txBody>
          <a:bodyPr wrap="square" lIns="0" tIns="0" rIns="0" bIns="0" anchor="ctr">
            <a:noAutofit/>
          </a:bodyPr>
          <a:lstStyle/>
          <a:p>
            <a:pPr algn="l">
              <a:lnSpc>
                <a:spcPct val="100000"/>
              </a:lnSpc>
            </a:pPr>
            <a:r>
              <a:rPr sz="1900" b="1" i="0">
                <a:solidFill>
                  <a:srgbClr val="172033"/>
                </a:solidFill>
                <a:latin typeface="Roboto Condensed"/>
              </a:rPr>
              <a:t>7,123</a:t>
            </a:r>
          </a:p>
        </p:txBody>
      </p:sp>
      <p:sp>
        <p:nvSpPr>
          <p:cNvPr id="36" name="TextBox 35"/>
          <p:cNvSpPr txBox="1"/>
          <p:nvPr/>
        </p:nvSpPr>
        <p:spPr>
          <a:xfrm>
            <a:off x="8503920" y="6803136"/>
            <a:ext cx="8412480" cy="804672"/>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PAUD 5,071 + SD 2,052</a:t>
            </a:r>
          </a:p>
        </p:txBody>
      </p:sp>
      <p:sp>
        <p:nvSpPr>
          <p:cNvPr id="37" name="Rectangle 36"/>
          <p:cNvSpPr/>
          <p:nvPr/>
        </p:nvSpPr>
        <p:spPr>
          <a:xfrm>
            <a:off x="1463040" y="7644383"/>
            <a:ext cx="15361920" cy="18288"/>
          </a:xfrm>
          <a:prstGeom prst="rect">
            <a:avLst/>
          </a:prstGeom>
          <a:solidFill>
            <a:srgbClr val="D9D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463040" y="7717536"/>
            <a:ext cx="5029200" cy="804672"/>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Children aged 3–10, Indonesia</a:t>
            </a:r>
          </a:p>
        </p:txBody>
      </p:sp>
      <p:sp>
        <p:nvSpPr>
          <p:cNvPr id="39" name="TextBox 38"/>
          <p:cNvSpPr txBox="1"/>
          <p:nvPr/>
        </p:nvSpPr>
        <p:spPr>
          <a:xfrm>
            <a:off x="6583680" y="7717536"/>
            <a:ext cx="1737360" cy="804672"/>
          </a:xfrm>
          <a:prstGeom prst="rect">
            <a:avLst/>
          </a:prstGeom>
          <a:noFill/>
        </p:spPr>
        <p:txBody>
          <a:bodyPr wrap="square" lIns="0" tIns="0" rIns="0" bIns="0" anchor="ctr">
            <a:noAutofit/>
          </a:bodyPr>
          <a:lstStyle/>
          <a:p>
            <a:pPr algn="l">
              <a:lnSpc>
                <a:spcPct val="100000"/>
              </a:lnSpc>
            </a:pPr>
            <a:r>
              <a:rPr sz="1900" b="1" i="0">
                <a:solidFill>
                  <a:srgbClr val="172033"/>
                </a:solidFill>
                <a:latin typeface="Roboto Condensed"/>
              </a:rPr>
              <a:t>≈35.3M</a:t>
            </a:r>
          </a:p>
        </p:txBody>
      </p:sp>
      <p:sp>
        <p:nvSpPr>
          <p:cNvPr id="40" name="TextBox 39"/>
          <p:cNvSpPr txBox="1"/>
          <p:nvPr/>
        </p:nvSpPr>
        <p:spPr>
          <a:xfrm>
            <a:off x="8503920" y="7717536"/>
            <a:ext cx="8412480" cy="804672"/>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2/5 × 22,094,426 (0–4) + 22,013,768 (5–9) + 1/5 × 22,088,673 (10–14) · BPS 2022</a:t>
            </a:r>
          </a:p>
        </p:txBody>
      </p:sp>
      <p:sp>
        <p:nvSpPr>
          <p:cNvPr id="41" name="TextBox 40"/>
          <p:cNvSpPr txBox="1"/>
          <p:nvPr/>
        </p:nvSpPr>
        <p:spPr>
          <a:xfrm>
            <a:off x="1097280" y="8961120"/>
            <a:ext cx="16093440" cy="822960"/>
          </a:xfrm>
          <a:prstGeom prst="rect">
            <a:avLst/>
          </a:prstGeom>
          <a:noFill/>
        </p:spPr>
        <p:txBody>
          <a:bodyPr wrap="square" lIns="0" tIns="0" rIns="0" bIns="0" anchor="t">
            <a:noAutofit/>
          </a:bodyPr>
          <a:lstStyle/>
          <a:p>
            <a:pPr algn="l">
              <a:lnSpc>
                <a:spcPct val="105000"/>
              </a:lnSpc>
            </a:pPr>
            <a:r>
              <a:rPr sz="1400" b="0" i="0">
                <a:solidFill>
                  <a:srgbClr val="172033"/>
                </a:solidFill>
                <a:latin typeface="Roboto Condensed"/>
              </a:rPr>
              <a:t>Kemendikdasmen: referensi.data.kemendikdasmen.go.id (PAUD &amp; Dikdas per province), accessed Sep 2026. BPS: Jumlah Penduduk Menurut Kelompok Umur, Long Form SP2020 (2022). TPA in Kemendikdasmen data = Taman Penitipan Anak.</a:t>
            </a:r>
          </a:p>
        </p:txBody>
      </p:sp>
      <p:sp>
        <p:nvSpPr>
          <p:cNvPr id="42" name="TextBox 41"/>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APPENDIX · MARKET DATA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694944"/>
            <a:ext cx="16093440" cy="1316736"/>
          </a:xfrm>
          <a:prstGeom prst="rect">
            <a:avLst/>
          </a:prstGeom>
          <a:noFill/>
        </p:spPr>
        <p:txBody>
          <a:bodyPr wrap="square" lIns="0" tIns="0" rIns="0" bIns="0" anchor="t">
            <a:noAutofit/>
          </a:bodyPr>
          <a:lstStyle/>
          <a:p>
            <a:pPr algn="l">
              <a:lnSpc>
                <a:spcPct val="95000"/>
              </a:lnSpc>
            </a:pPr>
            <a:r>
              <a:rPr sz="4000" b="1" i="0">
                <a:solidFill>
                  <a:srgbClr val="172033"/>
                </a:solidFill>
                <a:latin typeface="Roboto Condensed"/>
              </a:rPr>
              <a:t>One Pipeline, Responsible Child Data,</a:t>
            </a:r>
            <a:br/>
            <a:r>
              <a:rPr sz="4000" b="1" i="0">
                <a:solidFill>
                  <a:srgbClr val="172033"/>
                </a:solidFill>
                <a:latin typeface="Roboto Condensed"/>
              </a:rPr>
              <a:t>and a Validation Gate Before Every Build</a:t>
            </a:r>
          </a:p>
        </p:txBody>
      </p:sp>
      <p:sp>
        <p:nvSpPr>
          <p:cNvPr id="13" name="Rounded Rectangle 12"/>
          <p:cNvSpPr/>
          <p:nvPr/>
        </p:nvSpPr>
        <p:spPr>
          <a:xfrm>
            <a:off x="1097280" y="2286000"/>
            <a:ext cx="2084831" cy="4114800"/>
          </a:xfrm>
          <a:prstGeom prst="roundRect">
            <a:avLst>
              <a:gd name="adj" fmla="val 1228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1280160" y="250545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Roboto Condensed"/>
              </a:rPr>
              <a:t>1</a:t>
            </a:r>
          </a:p>
        </p:txBody>
      </p:sp>
      <p:sp>
        <p:nvSpPr>
          <p:cNvPr id="15" name="Oval 14"/>
          <p:cNvSpPr/>
          <p:nvPr/>
        </p:nvSpPr>
        <p:spPr>
          <a:xfrm>
            <a:off x="2377439" y="2468880"/>
            <a:ext cx="621792" cy="621792"/>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palette_purple.png"/>
          <p:cNvPicPr>
            <a:picLocks noChangeAspect="1"/>
          </p:cNvPicPr>
          <p:nvPr/>
        </p:nvPicPr>
        <p:blipFill>
          <a:blip r:embed="rId3"/>
          <a:stretch>
            <a:fillRect/>
          </a:stretch>
        </p:blipFill>
        <p:spPr>
          <a:xfrm>
            <a:off x="2526670" y="2618110"/>
            <a:ext cx="323331" cy="323331"/>
          </a:xfrm>
          <a:prstGeom prst="rect">
            <a:avLst/>
          </a:prstGeom>
        </p:spPr>
      </p:pic>
      <p:sp>
        <p:nvSpPr>
          <p:cNvPr id="17" name="TextBox 16"/>
          <p:cNvSpPr txBox="1"/>
          <p:nvPr/>
        </p:nvSpPr>
        <p:spPr>
          <a:xfrm>
            <a:off x="1280160" y="3273552"/>
            <a:ext cx="1792223" cy="804672"/>
          </a:xfrm>
          <a:prstGeom prst="rect">
            <a:avLst/>
          </a:prstGeom>
          <a:noFill/>
        </p:spPr>
        <p:txBody>
          <a:bodyPr wrap="square" lIns="0" tIns="0" rIns="0" bIns="0" anchor="t">
            <a:noAutofit/>
          </a:bodyPr>
          <a:lstStyle/>
          <a:p>
            <a:pPr algn="l">
              <a:lnSpc>
                <a:spcPct val="95000"/>
              </a:lnSpc>
            </a:pPr>
            <a:r>
              <a:rPr sz="1900" b="1" i="0">
                <a:solidFill>
                  <a:srgbClr val="172033"/>
                </a:solidFill>
                <a:latin typeface="Roboto Condensed"/>
              </a:rPr>
              <a:t>Physical creation</a:t>
            </a:r>
          </a:p>
        </p:txBody>
      </p:sp>
      <p:sp>
        <p:nvSpPr>
          <p:cNvPr id="18" name="TextBox 17"/>
          <p:cNvSpPr txBox="1"/>
          <p:nvPr/>
        </p:nvSpPr>
        <p:spPr>
          <a:xfrm>
            <a:off x="1280160" y="4114800"/>
            <a:ext cx="1792223" cy="548640"/>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Child colors a Scanvas sheet</a:t>
            </a:r>
          </a:p>
        </p:txBody>
      </p:sp>
      <p:sp>
        <p:nvSpPr>
          <p:cNvPr id="19" name="Chevron 18"/>
          <p:cNvSpPr/>
          <p:nvPr/>
        </p:nvSpPr>
        <p:spPr>
          <a:xfrm>
            <a:off x="3218687" y="4178808"/>
            <a:ext cx="146304" cy="32918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401568" y="2286000"/>
            <a:ext cx="2084831" cy="4114800"/>
          </a:xfrm>
          <a:prstGeom prst="roundRect">
            <a:avLst>
              <a:gd name="adj" fmla="val 1228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3584448" y="250545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Roboto Condensed"/>
              </a:rPr>
              <a:t>2</a:t>
            </a:r>
          </a:p>
        </p:txBody>
      </p:sp>
      <p:sp>
        <p:nvSpPr>
          <p:cNvPr id="22" name="Oval 21"/>
          <p:cNvSpPr/>
          <p:nvPr/>
        </p:nvSpPr>
        <p:spPr>
          <a:xfrm>
            <a:off x="4681728" y="2468880"/>
            <a:ext cx="621792" cy="621792"/>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camera_purple.png"/>
          <p:cNvPicPr>
            <a:picLocks noChangeAspect="1"/>
          </p:cNvPicPr>
          <p:nvPr/>
        </p:nvPicPr>
        <p:blipFill>
          <a:blip r:embed="rId4"/>
          <a:stretch>
            <a:fillRect/>
          </a:stretch>
        </p:blipFill>
        <p:spPr>
          <a:xfrm>
            <a:off x="4830958" y="2618110"/>
            <a:ext cx="323331" cy="323331"/>
          </a:xfrm>
          <a:prstGeom prst="rect">
            <a:avLst/>
          </a:prstGeom>
        </p:spPr>
      </p:pic>
      <p:sp>
        <p:nvSpPr>
          <p:cNvPr id="24" name="TextBox 23"/>
          <p:cNvSpPr txBox="1"/>
          <p:nvPr/>
        </p:nvSpPr>
        <p:spPr>
          <a:xfrm>
            <a:off x="3584448" y="3273552"/>
            <a:ext cx="1792223" cy="804672"/>
          </a:xfrm>
          <a:prstGeom prst="rect">
            <a:avLst/>
          </a:prstGeom>
          <a:noFill/>
        </p:spPr>
        <p:txBody>
          <a:bodyPr wrap="square" lIns="0" tIns="0" rIns="0" bIns="0" anchor="t">
            <a:noAutofit/>
          </a:bodyPr>
          <a:lstStyle/>
          <a:p>
            <a:pPr algn="l">
              <a:lnSpc>
                <a:spcPct val="95000"/>
              </a:lnSpc>
            </a:pPr>
            <a:r>
              <a:rPr sz="1900" b="1" i="0">
                <a:solidFill>
                  <a:srgbClr val="172033"/>
                </a:solidFill>
                <a:latin typeface="Roboto Condensed"/>
              </a:rPr>
              <a:t>Capture</a:t>
            </a:r>
          </a:p>
        </p:txBody>
      </p:sp>
      <p:sp>
        <p:nvSpPr>
          <p:cNvPr id="25" name="TextBox 24"/>
          <p:cNvSpPr txBox="1"/>
          <p:nvPr/>
        </p:nvSpPr>
        <p:spPr>
          <a:xfrm>
            <a:off x="3584448" y="4114800"/>
            <a:ext cx="1792223" cy="548640"/>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Camera or photo upload</a:t>
            </a:r>
          </a:p>
        </p:txBody>
      </p:sp>
      <p:sp>
        <p:nvSpPr>
          <p:cNvPr id="26" name="Chevron 25"/>
          <p:cNvSpPr/>
          <p:nvPr/>
        </p:nvSpPr>
        <p:spPr>
          <a:xfrm>
            <a:off x="5522976" y="4178808"/>
            <a:ext cx="146304" cy="32918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5705855" y="2286000"/>
            <a:ext cx="2084831" cy="4114800"/>
          </a:xfrm>
          <a:prstGeom prst="roundRect">
            <a:avLst>
              <a:gd name="adj" fmla="val 12280"/>
            </a:avLst>
          </a:prstGeom>
          <a:solidFill>
            <a:srgbClr val="EDE9FE"/>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5888736" y="250545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Roboto Condensed"/>
              </a:rPr>
              <a:t>3</a:t>
            </a:r>
          </a:p>
        </p:txBody>
      </p:sp>
      <p:sp>
        <p:nvSpPr>
          <p:cNvPr id="29" name="Oval 28"/>
          <p:cNvSpPr/>
          <p:nvPr/>
        </p:nvSpPr>
        <p:spPr>
          <a:xfrm>
            <a:off x="6986016" y="2468880"/>
            <a:ext cx="621792" cy="6217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scan-line_purple.png"/>
          <p:cNvPicPr>
            <a:picLocks noChangeAspect="1"/>
          </p:cNvPicPr>
          <p:nvPr/>
        </p:nvPicPr>
        <p:blipFill>
          <a:blip r:embed="rId5"/>
          <a:stretch>
            <a:fillRect/>
          </a:stretch>
        </p:blipFill>
        <p:spPr>
          <a:xfrm>
            <a:off x="7135246" y="2618110"/>
            <a:ext cx="323331" cy="323331"/>
          </a:xfrm>
          <a:prstGeom prst="rect">
            <a:avLst/>
          </a:prstGeom>
        </p:spPr>
      </p:pic>
      <p:sp>
        <p:nvSpPr>
          <p:cNvPr id="31" name="TextBox 30"/>
          <p:cNvSpPr txBox="1"/>
          <p:nvPr/>
        </p:nvSpPr>
        <p:spPr>
          <a:xfrm>
            <a:off x="5888736" y="3273552"/>
            <a:ext cx="1792223" cy="804672"/>
          </a:xfrm>
          <a:prstGeom prst="rect">
            <a:avLst/>
          </a:prstGeom>
          <a:noFill/>
        </p:spPr>
        <p:txBody>
          <a:bodyPr wrap="square" lIns="0" tIns="0" rIns="0" bIns="0" anchor="t">
            <a:noAutofit/>
          </a:bodyPr>
          <a:lstStyle/>
          <a:p>
            <a:pPr algn="l">
              <a:lnSpc>
                <a:spcPct val="95000"/>
              </a:lnSpc>
            </a:pPr>
            <a:r>
              <a:rPr sz="1900" b="1" i="0">
                <a:solidFill>
                  <a:srgbClr val="172033"/>
                </a:solidFill>
                <a:latin typeface="Roboto Condensed"/>
              </a:rPr>
              <a:t>Computer vision</a:t>
            </a:r>
          </a:p>
        </p:txBody>
      </p:sp>
      <p:sp>
        <p:nvSpPr>
          <p:cNvPr id="32" name="TextBox 31"/>
          <p:cNvSpPr txBox="1"/>
          <p:nvPr/>
        </p:nvSpPr>
        <p:spPr>
          <a:xfrm>
            <a:off x="5888736" y="4114800"/>
            <a:ext cx="1792223" cy="274320"/>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Marker detection</a:t>
            </a:r>
          </a:p>
        </p:txBody>
      </p:sp>
      <p:sp>
        <p:nvSpPr>
          <p:cNvPr id="33" name="TextBox 32"/>
          <p:cNvSpPr txBox="1"/>
          <p:nvPr/>
        </p:nvSpPr>
        <p:spPr>
          <a:xfrm>
            <a:off x="5888736" y="4572000"/>
            <a:ext cx="1792223" cy="548640"/>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Perspective correction</a:t>
            </a:r>
          </a:p>
        </p:txBody>
      </p:sp>
      <p:sp>
        <p:nvSpPr>
          <p:cNvPr id="34" name="TextBox 33"/>
          <p:cNvSpPr txBox="1"/>
          <p:nvPr/>
        </p:nvSpPr>
        <p:spPr>
          <a:xfrm>
            <a:off x="5888736" y="5303520"/>
            <a:ext cx="1792223" cy="274320"/>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Crop</a:t>
            </a:r>
          </a:p>
        </p:txBody>
      </p:sp>
      <p:sp>
        <p:nvSpPr>
          <p:cNvPr id="35" name="TextBox 34"/>
          <p:cNvSpPr txBox="1"/>
          <p:nvPr/>
        </p:nvSpPr>
        <p:spPr>
          <a:xfrm>
            <a:off x="5888736" y="5760720"/>
            <a:ext cx="1792223" cy="548640"/>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Object extraction</a:t>
            </a:r>
          </a:p>
        </p:txBody>
      </p:sp>
      <p:sp>
        <p:nvSpPr>
          <p:cNvPr id="36" name="Chevron 35"/>
          <p:cNvSpPr/>
          <p:nvPr/>
        </p:nvSpPr>
        <p:spPr>
          <a:xfrm>
            <a:off x="7827263" y="4178808"/>
            <a:ext cx="146304" cy="32918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8010143" y="2286000"/>
            <a:ext cx="2084831" cy="4114800"/>
          </a:xfrm>
          <a:prstGeom prst="roundRect">
            <a:avLst>
              <a:gd name="adj" fmla="val 1228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193023" y="250545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Roboto Condensed"/>
              </a:rPr>
              <a:t>4</a:t>
            </a:r>
          </a:p>
        </p:txBody>
      </p:sp>
      <p:sp>
        <p:nvSpPr>
          <p:cNvPr id="39" name="Oval 38"/>
          <p:cNvSpPr/>
          <p:nvPr/>
        </p:nvSpPr>
        <p:spPr>
          <a:xfrm>
            <a:off x="9290303" y="2468880"/>
            <a:ext cx="621792" cy="621792"/>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0" name="Picture 39" descr="wand-sparkles_purple.png"/>
          <p:cNvPicPr>
            <a:picLocks noChangeAspect="1"/>
          </p:cNvPicPr>
          <p:nvPr/>
        </p:nvPicPr>
        <p:blipFill>
          <a:blip r:embed="rId6"/>
          <a:stretch>
            <a:fillRect/>
          </a:stretch>
        </p:blipFill>
        <p:spPr>
          <a:xfrm>
            <a:off x="9439534" y="2618110"/>
            <a:ext cx="323331" cy="323331"/>
          </a:xfrm>
          <a:prstGeom prst="rect">
            <a:avLst/>
          </a:prstGeom>
        </p:spPr>
      </p:pic>
      <p:sp>
        <p:nvSpPr>
          <p:cNvPr id="41" name="TextBox 40"/>
          <p:cNvSpPr txBox="1"/>
          <p:nvPr/>
        </p:nvSpPr>
        <p:spPr>
          <a:xfrm>
            <a:off x="8193023" y="3273552"/>
            <a:ext cx="1792223" cy="804672"/>
          </a:xfrm>
          <a:prstGeom prst="rect">
            <a:avLst/>
          </a:prstGeom>
          <a:noFill/>
        </p:spPr>
        <p:txBody>
          <a:bodyPr wrap="square" lIns="0" tIns="0" rIns="0" bIns="0" anchor="t">
            <a:noAutofit/>
          </a:bodyPr>
          <a:lstStyle/>
          <a:p>
            <a:pPr algn="l">
              <a:lnSpc>
                <a:spcPct val="95000"/>
              </a:lnSpc>
            </a:pPr>
            <a:r>
              <a:rPr sz="1900" b="1" i="0">
                <a:solidFill>
                  <a:srgbClr val="172033"/>
                </a:solidFill>
                <a:latin typeface="Roboto Condensed"/>
              </a:rPr>
              <a:t>Digital asset</a:t>
            </a:r>
          </a:p>
        </p:txBody>
      </p:sp>
      <p:sp>
        <p:nvSpPr>
          <p:cNvPr id="42" name="TextBox 41"/>
          <p:cNvSpPr txBox="1"/>
          <p:nvPr/>
        </p:nvSpPr>
        <p:spPr>
          <a:xfrm>
            <a:off x="8193023" y="4114800"/>
            <a:ext cx="1792223" cy="822959"/>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Child’s artwork becomes the character</a:t>
            </a:r>
          </a:p>
        </p:txBody>
      </p:sp>
      <p:sp>
        <p:nvSpPr>
          <p:cNvPr id="43" name="Chevron 42"/>
          <p:cNvSpPr/>
          <p:nvPr/>
        </p:nvSpPr>
        <p:spPr>
          <a:xfrm>
            <a:off x="10131551" y="4178808"/>
            <a:ext cx="146304" cy="32918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10314431" y="2286000"/>
            <a:ext cx="2084831" cy="4114800"/>
          </a:xfrm>
          <a:prstGeom prst="roundRect">
            <a:avLst>
              <a:gd name="adj" fmla="val 12280"/>
            </a:avLst>
          </a:prstGeom>
          <a:solidFill>
            <a:srgbClr val="EDE9FE"/>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10497311" y="250545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Roboto Condensed"/>
              </a:rPr>
              <a:t>5</a:t>
            </a:r>
          </a:p>
        </p:txBody>
      </p:sp>
      <p:sp>
        <p:nvSpPr>
          <p:cNvPr id="46" name="Oval 45"/>
          <p:cNvSpPr/>
          <p:nvPr/>
        </p:nvSpPr>
        <p:spPr>
          <a:xfrm>
            <a:off x="11594591" y="2468880"/>
            <a:ext cx="621792" cy="62179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play_purple.png"/>
          <p:cNvPicPr>
            <a:picLocks noChangeAspect="1"/>
          </p:cNvPicPr>
          <p:nvPr/>
        </p:nvPicPr>
        <p:blipFill>
          <a:blip r:embed="rId7"/>
          <a:stretch>
            <a:fillRect/>
          </a:stretch>
        </p:blipFill>
        <p:spPr>
          <a:xfrm>
            <a:off x="11743822" y="2618110"/>
            <a:ext cx="323331" cy="323331"/>
          </a:xfrm>
          <a:prstGeom prst="rect">
            <a:avLst/>
          </a:prstGeom>
        </p:spPr>
      </p:pic>
      <p:sp>
        <p:nvSpPr>
          <p:cNvPr id="48" name="TextBox 47"/>
          <p:cNvSpPr txBox="1"/>
          <p:nvPr/>
        </p:nvSpPr>
        <p:spPr>
          <a:xfrm>
            <a:off x="10497311" y="3273552"/>
            <a:ext cx="1792223" cy="804672"/>
          </a:xfrm>
          <a:prstGeom prst="rect">
            <a:avLst/>
          </a:prstGeom>
          <a:noFill/>
        </p:spPr>
        <p:txBody>
          <a:bodyPr wrap="square" lIns="0" tIns="0" rIns="0" bIns="0" anchor="t">
            <a:noAutofit/>
          </a:bodyPr>
          <a:lstStyle/>
          <a:p>
            <a:pPr algn="l">
              <a:lnSpc>
                <a:spcPct val="95000"/>
              </a:lnSpc>
            </a:pPr>
            <a:r>
              <a:rPr sz="1900" b="1" i="0">
                <a:solidFill>
                  <a:srgbClr val="172033"/>
                </a:solidFill>
                <a:latin typeface="Roboto Condensed"/>
              </a:rPr>
              <a:t>Interactive runtime</a:t>
            </a:r>
          </a:p>
        </p:txBody>
      </p:sp>
      <p:sp>
        <p:nvSpPr>
          <p:cNvPr id="49" name="TextBox 48"/>
          <p:cNvSpPr txBox="1"/>
          <p:nvPr/>
        </p:nvSpPr>
        <p:spPr>
          <a:xfrm>
            <a:off x="10497311" y="4114800"/>
            <a:ext cx="1792223" cy="274320"/>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Animation</a:t>
            </a:r>
          </a:p>
        </p:txBody>
      </p:sp>
      <p:sp>
        <p:nvSpPr>
          <p:cNvPr id="50" name="TextBox 49"/>
          <p:cNvSpPr txBox="1"/>
          <p:nvPr/>
        </p:nvSpPr>
        <p:spPr>
          <a:xfrm>
            <a:off x="10497311" y="4572000"/>
            <a:ext cx="1792223" cy="274320"/>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Movement</a:t>
            </a:r>
          </a:p>
        </p:txBody>
      </p:sp>
      <p:sp>
        <p:nvSpPr>
          <p:cNvPr id="51" name="TextBox 50"/>
          <p:cNvSpPr txBox="1"/>
          <p:nvPr/>
        </p:nvSpPr>
        <p:spPr>
          <a:xfrm>
            <a:off x="10497311" y="5029200"/>
            <a:ext cx="1792223" cy="274320"/>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Sounds</a:t>
            </a:r>
          </a:p>
        </p:txBody>
      </p:sp>
      <p:sp>
        <p:nvSpPr>
          <p:cNvPr id="52" name="TextBox 51"/>
          <p:cNvSpPr txBox="1"/>
          <p:nvPr/>
        </p:nvSpPr>
        <p:spPr>
          <a:xfrm>
            <a:off x="10497311" y="5486400"/>
            <a:ext cx="1792223" cy="548640"/>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Interactive world</a:t>
            </a:r>
          </a:p>
        </p:txBody>
      </p:sp>
      <p:sp>
        <p:nvSpPr>
          <p:cNvPr id="53" name="Chevron 52"/>
          <p:cNvSpPr/>
          <p:nvPr/>
        </p:nvSpPr>
        <p:spPr>
          <a:xfrm>
            <a:off x="12435839" y="4178808"/>
            <a:ext cx="146304" cy="32918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12618719" y="2286000"/>
            <a:ext cx="2084831" cy="4114800"/>
          </a:xfrm>
          <a:prstGeom prst="roundRect">
            <a:avLst>
              <a:gd name="adj" fmla="val 1228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12801599" y="250545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Roboto Condensed"/>
              </a:rPr>
              <a:t>6</a:t>
            </a:r>
          </a:p>
        </p:txBody>
      </p:sp>
      <p:sp>
        <p:nvSpPr>
          <p:cNvPr id="56" name="Oval 55"/>
          <p:cNvSpPr/>
          <p:nvPr/>
        </p:nvSpPr>
        <p:spPr>
          <a:xfrm>
            <a:off x="13898879" y="2468880"/>
            <a:ext cx="621792" cy="621792"/>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7" name="Picture 56" descr="book-open_purple.png"/>
          <p:cNvPicPr>
            <a:picLocks noChangeAspect="1"/>
          </p:cNvPicPr>
          <p:nvPr/>
        </p:nvPicPr>
        <p:blipFill>
          <a:blip r:embed="rId8"/>
          <a:stretch>
            <a:fillRect/>
          </a:stretch>
        </p:blipFill>
        <p:spPr>
          <a:xfrm>
            <a:off x="14048110" y="2618110"/>
            <a:ext cx="323331" cy="323331"/>
          </a:xfrm>
          <a:prstGeom prst="rect">
            <a:avLst/>
          </a:prstGeom>
        </p:spPr>
      </p:pic>
      <p:sp>
        <p:nvSpPr>
          <p:cNvPr id="58" name="TextBox 57"/>
          <p:cNvSpPr txBox="1"/>
          <p:nvPr/>
        </p:nvSpPr>
        <p:spPr>
          <a:xfrm>
            <a:off x="12801599" y="3273552"/>
            <a:ext cx="1792223" cy="804672"/>
          </a:xfrm>
          <a:prstGeom prst="rect">
            <a:avLst/>
          </a:prstGeom>
          <a:noFill/>
        </p:spPr>
        <p:txBody>
          <a:bodyPr wrap="square" lIns="0" tIns="0" rIns="0" bIns="0" anchor="t">
            <a:noAutofit/>
          </a:bodyPr>
          <a:lstStyle/>
          <a:p>
            <a:pPr algn="l">
              <a:lnSpc>
                <a:spcPct val="95000"/>
              </a:lnSpc>
            </a:pPr>
            <a:r>
              <a:rPr sz="1900" b="1" i="0">
                <a:solidFill>
                  <a:srgbClr val="172033"/>
                </a:solidFill>
                <a:latin typeface="Roboto Condensed"/>
              </a:rPr>
              <a:t>Content layer</a:t>
            </a:r>
          </a:p>
        </p:txBody>
      </p:sp>
      <p:sp>
        <p:nvSpPr>
          <p:cNvPr id="59" name="TextBox 58"/>
          <p:cNvSpPr txBox="1"/>
          <p:nvPr/>
        </p:nvSpPr>
        <p:spPr>
          <a:xfrm>
            <a:off x="12801599" y="4114800"/>
            <a:ext cx="1792223" cy="274320"/>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Story</a:t>
            </a:r>
          </a:p>
        </p:txBody>
      </p:sp>
      <p:sp>
        <p:nvSpPr>
          <p:cNvPr id="60" name="TextBox 59"/>
          <p:cNvSpPr txBox="1"/>
          <p:nvPr/>
        </p:nvSpPr>
        <p:spPr>
          <a:xfrm>
            <a:off x="12801599" y="4572000"/>
            <a:ext cx="1792223" cy="274320"/>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Facts</a:t>
            </a:r>
          </a:p>
        </p:txBody>
      </p:sp>
      <p:sp>
        <p:nvSpPr>
          <p:cNvPr id="61" name="TextBox 60"/>
          <p:cNvSpPr txBox="1"/>
          <p:nvPr/>
        </p:nvSpPr>
        <p:spPr>
          <a:xfrm>
            <a:off x="12801599" y="5029200"/>
            <a:ext cx="1792223" cy="274320"/>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Discovery</a:t>
            </a:r>
          </a:p>
        </p:txBody>
      </p:sp>
      <p:sp>
        <p:nvSpPr>
          <p:cNvPr id="62" name="Chevron 61"/>
          <p:cNvSpPr/>
          <p:nvPr/>
        </p:nvSpPr>
        <p:spPr>
          <a:xfrm>
            <a:off x="14740127" y="4178808"/>
            <a:ext cx="146304" cy="329184"/>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14923007" y="2286000"/>
            <a:ext cx="2084831" cy="4114800"/>
          </a:xfrm>
          <a:prstGeom prst="roundRect">
            <a:avLst>
              <a:gd name="adj" fmla="val 1228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15105887" y="250545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r>
              <a:rPr sz="1800" b="1" i="0">
                <a:solidFill>
                  <a:srgbClr val="FFFFFF"/>
                </a:solidFill>
                <a:latin typeface="Roboto Condensed"/>
              </a:rPr>
              <a:t>7</a:t>
            </a:r>
          </a:p>
        </p:txBody>
      </p:sp>
      <p:sp>
        <p:nvSpPr>
          <p:cNvPr id="65" name="Oval 64"/>
          <p:cNvSpPr/>
          <p:nvPr/>
        </p:nvSpPr>
        <p:spPr>
          <a:xfrm>
            <a:off x="16203167" y="2468880"/>
            <a:ext cx="621792" cy="621792"/>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6" name="Picture 65" descr="layers_purple.png"/>
          <p:cNvPicPr>
            <a:picLocks noChangeAspect="1"/>
          </p:cNvPicPr>
          <p:nvPr/>
        </p:nvPicPr>
        <p:blipFill>
          <a:blip r:embed="rId9"/>
          <a:stretch>
            <a:fillRect/>
          </a:stretch>
        </p:blipFill>
        <p:spPr>
          <a:xfrm>
            <a:off x="16352398" y="2618110"/>
            <a:ext cx="323331" cy="323331"/>
          </a:xfrm>
          <a:prstGeom prst="rect">
            <a:avLst/>
          </a:prstGeom>
        </p:spPr>
      </p:pic>
      <p:sp>
        <p:nvSpPr>
          <p:cNvPr id="67" name="TextBox 66"/>
          <p:cNvSpPr txBox="1"/>
          <p:nvPr/>
        </p:nvSpPr>
        <p:spPr>
          <a:xfrm>
            <a:off x="15105887" y="3273552"/>
            <a:ext cx="1792223" cy="804672"/>
          </a:xfrm>
          <a:prstGeom prst="rect">
            <a:avLst/>
          </a:prstGeom>
          <a:noFill/>
        </p:spPr>
        <p:txBody>
          <a:bodyPr wrap="square" lIns="0" tIns="0" rIns="0" bIns="0" anchor="t">
            <a:noAutofit/>
          </a:bodyPr>
          <a:lstStyle/>
          <a:p>
            <a:pPr algn="l">
              <a:lnSpc>
                <a:spcPct val="95000"/>
              </a:lnSpc>
            </a:pPr>
            <a:r>
              <a:rPr sz="1900" b="1" i="0">
                <a:solidFill>
                  <a:srgbClr val="172033"/>
                </a:solidFill>
                <a:latin typeface="Roboto Condensed"/>
              </a:rPr>
              <a:t>Reusable world engine</a:t>
            </a:r>
          </a:p>
        </p:txBody>
      </p:sp>
      <p:sp>
        <p:nvSpPr>
          <p:cNvPr id="68" name="TextBox 67"/>
          <p:cNvSpPr txBox="1"/>
          <p:nvPr/>
        </p:nvSpPr>
        <p:spPr>
          <a:xfrm>
            <a:off x="15105887" y="4114800"/>
            <a:ext cx="1792223" cy="274320"/>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Ocean</a:t>
            </a:r>
          </a:p>
        </p:txBody>
      </p:sp>
      <p:sp>
        <p:nvSpPr>
          <p:cNvPr id="69" name="TextBox 68"/>
          <p:cNvSpPr txBox="1"/>
          <p:nvPr/>
        </p:nvSpPr>
        <p:spPr>
          <a:xfrm>
            <a:off x="15105887" y="4572000"/>
            <a:ext cx="1792223" cy="274320"/>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Vehicles</a:t>
            </a:r>
          </a:p>
        </p:txBody>
      </p:sp>
      <p:sp>
        <p:nvSpPr>
          <p:cNvPr id="70" name="TextBox 69"/>
          <p:cNvSpPr txBox="1"/>
          <p:nvPr/>
        </p:nvSpPr>
        <p:spPr>
          <a:xfrm>
            <a:off x="15105887" y="5029200"/>
            <a:ext cx="1792223" cy="822959"/>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Future: culture, nature, characters</a:t>
            </a:r>
          </a:p>
        </p:txBody>
      </p:sp>
      <p:sp>
        <p:nvSpPr>
          <p:cNvPr id="71" name="Rounded Rectangle 70"/>
          <p:cNvSpPr/>
          <p:nvPr/>
        </p:nvSpPr>
        <p:spPr>
          <a:xfrm>
            <a:off x="1097280" y="6729984"/>
            <a:ext cx="7863840" cy="2743200"/>
          </a:xfrm>
          <a:prstGeom prst="roundRect">
            <a:avLst>
              <a:gd name="adj" fmla="val 10666"/>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1389888" y="7022592"/>
            <a:ext cx="768096" cy="768096"/>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3" name="Picture 72" descr="shield-check_purple.png"/>
          <p:cNvPicPr>
            <a:picLocks noChangeAspect="1"/>
          </p:cNvPicPr>
          <p:nvPr/>
        </p:nvPicPr>
        <p:blipFill>
          <a:blip r:embed="rId10"/>
          <a:stretch>
            <a:fillRect/>
          </a:stretch>
        </p:blipFill>
        <p:spPr>
          <a:xfrm>
            <a:off x="1574231" y="7206935"/>
            <a:ext cx="399409" cy="399409"/>
          </a:xfrm>
          <a:prstGeom prst="rect">
            <a:avLst/>
          </a:prstGeom>
        </p:spPr>
      </p:pic>
      <p:sp>
        <p:nvSpPr>
          <p:cNvPr id="74" name="TextBox 73"/>
          <p:cNvSpPr txBox="1"/>
          <p:nvPr/>
        </p:nvSpPr>
        <p:spPr>
          <a:xfrm>
            <a:off x="2377440" y="7095744"/>
            <a:ext cx="6217920" cy="621792"/>
          </a:xfrm>
          <a:prstGeom prst="rect">
            <a:avLst/>
          </a:prstGeom>
          <a:noFill/>
        </p:spPr>
        <p:txBody>
          <a:bodyPr wrap="square" lIns="0" tIns="0" rIns="0" bIns="0" anchor="ctr">
            <a:noAutofit/>
          </a:bodyPr>
          <a:lstStyle/>
          <a:p>
            <a:pPr algn="l"/>
            <a:r>
              <a:rPr sz="2200" b="1" i="0">
                <a:solidFill>
                  <a:srgbClr val="172033"/>
                </a:solidFill>
                <a:latin typeface="Roboto Condensed"/>
              </a:rPr>
              <a:t>RESPONSIBLE CHILD DATA</a:t>
            </a:r>
          </a:p>
        </p:txBody>
      </p:sp>
      <p:sp>
        <p:nvSpPr>
          <p:cNvPr id="75" name="TextBox 74"/>
          <p:cNvSpPr txBox="1"/>
          <p:nvPr/>
        </p:nvSpPr>
        <p:spPr>
          <a:xfrm>
            <a:off x="1426464" y="7936992"/>
            <a:ext cx="7223760" cy="1207008"/>
          </a:xfrm>
          <a:prstGeom prst="rect">
            <a:avLst/>
          </a:prstGeom>
          <a:noFill/>
        </p:spPr>
        <p:txBody>
          <a:bodyPr wrap="square" lIns="0" tIns="0" rIns="0" bIns="0" anchor="t">
            <a:noAutofit/>
          </a:bodyPr>
          <a:lstStyle/>
          <a:p>
            <a:pPr algn="l">
              <a:lnSpc>
                <a:spcPct val="110000"/>
              </a:lnSpc>
            </a:pPr>
            <a:r>
              <a:rPr sz="1800" b="0" i="0">
                <a:solidFill>
                  <a:srgbClr val="172033"/>
                </a:solidFill>
                <a:latin typeface="Roboto Condensed"/>
              </a:rPr>
              <a:t>Collect only what is necessary. No child name, parent identity, email, phone, precise location, or artwork itself as analytics payload by default.</a:t>
            </a:r>
          </a:p>
        </p:txBody>
      </p:sp>
      <p:sp>
        <p:nvSpPr>
          <p:cNvPr id="76" name="Rounded Rectangle 75"/>
          <p:cNvSpPr/>
          <p:nvPr/>
        </p:nvSpPr>
        <p:spPr>
          <a:xfrm>
            <a:off x="9326880" y="6729984"/>
            <a:ext cx="7863840" cy="2743200"/>
          </a:xfrm>
          <a:prstGeom prst="roundRect">
            <a:avLst>
              <a:gd name="adj" fmla="val 10666"/>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Oval 76"/>
          <p:cNvSpPr/>
          <p:nvPr/>
        </p:nvSpPr>
        <p:spPr>
          <a:xfrm>
            <a:off x="9619488" y="7022592"/>
            <a:ext cx="768096" cy="76809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8" name="Picture 77" descr="repeat_purple.png"/>
          <p:cNvPicPr>
            <a:picLocks noChangeAspect="1"/>
          </p:cNvPicPr>
          <p:nvPr/>
        </p:nvPicPr>
        <p:blipFill>
          <a:blip r:embed="rId11"/>
          <a:stretch>
            <a:fillRect/>
          </a:stretch>
        </p:blipFill>
        <p:spPr>
          <a:xfrm>
            <a:off x="9803831" y="7206935"/>
            <a:ext cx="399409" cy="399409"/>
          </a:xfrm>
          <a:prstGeom prst="rect">
            <a:avLst/>
          </a:prstGeom>
        </p:spPr>
      </p:pic>
      <p:sp>
        <p:nvSpPr>
          <p:cNvPr id="79" name="TextBox 78"/>
          <p:cNvSpPr txBox="1"/>
          <p:nvPr/>
        </p:nvSpPr>
        <p:spPr>
          <a:xfrm>
            <a:off x="10607040" y="7095744"/>
            <a:ext cx="6217920" cy="621792"/>
          </a:xfrm>
          <a:prstGeom prst="rect">
            <a:avLst/>
          </a:prstGeom>
          <a:noFill/>
        </p:spPr>
        <p:txBody>
          <a:bodyPr wrap="square" lIns="0" tIns="0" rIns="0" bIns="0" anchor="ctr">
            <a:noAutofit/>
          </a:bodyPr>
          <a:lstStyle/>
          <a:p>
            <a:pPr algn="l"/>
            <a:r>
              <a:rPr sz="2200" b="1" i="0">
                <a:solidFill>
                  <a:srgbClr val="172033"/>
                </a:solidFill>
                <a:latin typeface="Roboto Condensed"/>
              </a:rPr>
              <a:t>VALIDATION PRINCIPLE</a:t>
            </a:r>
          </a:p>
        </p:txBody>
      </p:sp>
      <p:sp>
        <p:nvSpPr>
          <p:cNvPr id="80" name="Rounded Rectangle 79"/>
          <p:cNvSpPr/>
          <p:nvPr/>
        </p:nvSpPr>
        <p:spPr>
          <a:xfrm>
            <a:off x="9656064" y="7973568"/>
            <a:ext cx="1306068"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5B21B6"/>
                </a:solidFill>
                <a:latin typeface="Roboto Condensed SemiBold"/>
              </a:rPr>
              <a:t>Build</a:t>
            </a:r>
          </a:p>
        </p:txBody>
      </p:sp>
      <p:pic>
        <p:nvPicPr>
          <p:cNvPr id="81" name="Picture 80" descr="arrow-right_purple.png"/>
          <p:cNvPicPr>
            <a:picLocks noChangeAspect="1"/>
          </p:cNvPicPr>
          <p:nvPr/>
        </p:nvPicPr>
        <p:blipFill>
          <a:blip r:embed="rId12"/>
          <a:stretch>
            <a:fillRect/>
          </a:stretch>
        </p:blipFill>
        <p:spPr>
          <a:xfrm>
            <a:off x="11007852" y="8074152"/>
            <a:ext cx="274320" cy="274320"/>
          </a:xfrm>
          <a:prstGeom prst="rect">
            <a:avLst/>
          </a:prstGeom>
        </p:spPr>
      </p:pic>
      <p:sp>
        <p:nvSpPr>
          <p:cNvPr id="82" name="Rounded Rectangle 81"/>
          <p:cNvSpPr/>
          <p:nvPr/>
        </p:nvSpPr>
        <p:spPr>
          <a:xfrm>
            <a:off x="11327892" y="7973568"/>
            <a:ext cx="1565148"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5B21B6"/>
                </a:solidFill>
                <a:latin typeface="Roboto Condensed SemiBold"/>
              </a:rPr>
              <a:t>Measure</a:t>
            </a:r>
          </a:p>
        </p:txBody>
      </p:sp>
      <p:pic>
        <p:nvPicPr>
          <p:cNvPr id="83" name="Picture 82" descr="arrow-right_purple.png"/>
          <p:cNvPicPr>
            <a:picLocks noChangeAspect="1"/>
          </p:cNvPicPr>
          <p:nvPr/>
        </p:nvPicPr>
        <p:blipFill>
          <a:blip r:embed="rId12"/>
          <a:stretch>
            <a:fillRect/>
          </a:stretch>
        </p:blipFill>
        <p:spPr>
          <a:xfrm>
            <a:off x="12938760" y="8074152"/>
            <a:ext cx="274320" cy="274320"/>
          </a:xfrm>
          <a:prstGeom prst="rect">
            <a:avLst/>
          </a:prstGeom>
        </p:spPr>
      </p:pic>
      <p:sp>
        <p:nvSpPr>
          <p:cNvPr id="84" name="Rounded Rectangle 83"/>
          <p:cNvSpPr/>
          <p:nvPr/>
        </p:nvSpPr>
        <p:spPr>
          <a:xfrm>
            <a:off x="13258800" y="7973568"/>
            <a:ext cx="1176528"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5B21B6"/>
                </a:solidFill>
                <a:latin typeface="Roboto Condensed SemiBold"/>
              </a:rPr>
              <a:t>Gate</a:t>
            </a:r>
          </a:p>
        </p:txBody>
      </p:sp>
      <p:pic>
        <p:nvPicPr>
          <p:cNvPr id="85" name="Picture 84" descr="arrow-right_purple.png"/>
          <p:cNvPicPr>
            <a:picLocks noChangeAspect="1"/>
          </p:cNvPicPr>
          <p:nvPr/>
        </p:nvPicPr>
        <p:blipFill>
          <a:blip r:embed="rId12"/>
          <a:stretch>
            <a:fillRect/>
          </a:stretch>
        </p:blipFill>
        <p:spPr>
          <a:xfrm>
            <a:off x="14481048" y="8074152"/>
            <a:ext cx="274320" cy="274320"/>
          </a:xfrm>
          <a:prstGeom prst="rect">
            <a:avLst/>
          </a:prstGeom>
        </p:spPr>
      </p:pic>
      <p:sp>
        <p:nvSpPr>
          <p:cNvPr id="86" name="Rounded Rectangle 85"/>
          <p:cNvSpPr/>
          <p:nvPr/>
        </p:nvSpPr>
        <p:spPr>
          <a:xfrm>
            <a:off x="14801088" y="7973568"/>
            <a:ext cx="1435608" cy="475488"/>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500" b="0" i="0">
                <a:solidFill>
                  <a:srgbClr val="5B21B6"/>
                </a:solidFill>
                <a:latin typeface="Roboto Condensed SemiBold"/>
              </a:rPr>
              <a:t>Expand</a:t>
            </a:r>
          </a:p>
        </p:txBody>
      </p:sp>
      <p:sp>
        <p:nvSpPr>
          <p:cNvPr id="87" name="TextBox 86"/>
          <p:cNvSpPr txBox="1"/>
          <p:nvPr/>
        </p:nvSpPr>
        <p:spPr>
          <a:xfrm>
            <a:off x="9656064" y="8595360"/>
            <a:ext cx="7223760" cy="841248"/>
          </a:xfrm>
          <a:prstGeom prst="rect">
            <a:avLst/>
          </a:prstGeom>
          <a:noFill/>
        </p:spPr>
        <p:txBody>
          <a:bodyPr wrap="square" lIns="0" tIns="0" rIns="0" bIns="0" anchor="t">
            <a:noAutofit/>
          </a:bodyPr>
          <a:lstStyle/>
          <a:p>
            <a:pPr algn="l">
              <a:lnSpc>
                <a:spcPct val="105000"/>
              </a:lnSpc>
            </a:pPr>
            <a:r>
              <a:rPr sz="1700" b="0" i="0">
                <a:solidFill>
                  <a:srgbClr val="172033"/>
                </a:solidFill>
                <a:latin typeface="Roboto Condensed"/>
              </a:rPr>
              <a:t>Do not build the full course before a 3-lesson pilot validates progression and willingness to pay. Do not build large Mission/Story/AI layers before repeat usage is proven.</a:t>
            </a:r>
          </a:p>
        </p:txBody>
      </p:sp>
      <p:sp>
        <p:nvSpPr>
          <p:cNvPr id="88" name="TextBox 87"/>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APPENDIX · TECHNOLOGY &amp; CHILD DATA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768096"/>
            <a:ext cx="13898880" cy="1463040"/>
          </a:xfrm>
          <a:prstGeom prst="rect">
            <a:avLst/>
          </a:prstGeom>
          <a:noFill/>
        </p:spPr>
        <p:txBody>
          <a:bodyPr wrap="square" lIns="0" tIns="0" rIns="0" bIns="0" anchor="t">
            <a:noAutofit/>
          </a:bodyPr>
          <a:lstStyle/>
          <a:p>
            <a:pPr algn="l">
              <a:lnSpc>
                <a:spcPct val="95000"/>
              </a:lnSpc>
            </a:pPr>
            <a:r>
              <a:rPr sz="4000" b="1" i="0">
                <a:solidFill>
                  <a:srgbClr val="172033"/>
                </a:solidFill>
                <a:latin typeface="Roboto Condensed"/>
              </a:rPr>
              <a:t>Rp200M Funds 12 Months to Prove</a:t>
            </a:r>
            <a:br/>
            <a:r>
              <a:rPr sz="4000" b="1" i="0">
                <a:solidFill>
                  <a:srgbClr val="172033"/>
                </a:solidFill>
                <a:latin typeface="Roboto Condensed"/>
              </a:rPr>
              <a:t>Paid, Repeat Use</a:t>
            </a:r>
          </a:p>
        </p:txBody>
      </p:sp>
      <p:sp>
        <p:nvSpPr>
          <p:cNvPr id="13" name="Rounded Rectangle 12"/>
          <p:cNvSpPr/>
          <p:nvPr/>
        </p:nvSpPr>
        <p:spPr>
          <a:xfrm>
            <a:off x="1097280" y="2468880"/>
            <a:ext cx="5029200" cy="7040880"/>
          </a:xfrm>
          <a:prstGeom prst="roundRect">
            <a:avLst>
              <a:gd name="adj" fmla="val 6545"/>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463040" y="2834640"/>
            <a:ext cx="4389120" cy="365760"/>
          </a:xfrm>
          <a:prstGeom prst="rect">
            <a:avLst/>
          </a:prstGeom>
          <a:noFill/>
        </p:spPr>
        <p:txBody>
          <a:bodyPr wrap="square" lIns="0" tIns="0" rIns="0" bIns="0" anchor="t">
            <a:noAutofit/>
          </a:bodyPr>
          <a:lstStyle/>
          <a:p>
            <a:pPr algn="l"/>
            <a:r>
              <a:rPr sz="1500" b="0" i="0">
                <a:solidFill>
                  <a:srgbClr val="EDE9FE"/>
                </a:solidFill>
                <a:latin typeface="Roboto Condensed SemiBold"/>
              </a:rPr>
              <a:t>12-MONTH CAPITAL NEED</a:t>
            </a:r>
          </a:p>
        </p:txBody>
      </p:sp>
      <p:sp>
        <p:nvSpPr>
          <p:cNvPr id="15" name="TextBox 14"/>
          <p:cNvSpPr txBox="1"/>
          <p:nvPr/>
        </p:nvSpPr>
        <p:spPr>
          <a:xfrm>
            <a:off x="1463040" y="3255264"/>
            <a:ext cx="4389120" cy="1133856"/>
          </a:xfrm>
          <a:prstGeom prst="rect">
            <a:avLst/>
          </a:prstGeom>
          <a:noFill/>
        </p:spPr>
        <p:txBody>
          <a:bodyPr wrap="square" lIns="0" tIns="0" rIns="0" bIns="0" anchor="ctr">
            <a:noAutofit/>
          </a:bodyPr>
          <a:lstStyle/>
          <a:p>
            <a:pPr algn="l"/>
            <a:r>
              <a:rPr sz="7200" b="1" i="0">
                <a:solidFill>
                  <a:srgbClr val="FFFFFF"/>
                </a:solidFill>
                <a:latin typeface="Roboto Condensed"/>
              </a:rPr>
              <a:t>Rp200M</a:t>
            </a:r>
          </a:p>
        </p:txBody>
      </p:sp>
      <p:sp>
        <p:nvSpPr>
          <p:cNvPr id="16" name="TextBox 15"/>
          <p:cNvSpPr txBox="1"/>
          <p:nvPr/>
        </p:nvSpPr>
        <p:spPr>
          <a:xfrm>
            <a:off x="1463040" y="4425696"/>
            <a:ext cx="4389120" cy="365760"/>
          </a:xfrm>
          <a:prstGeom prst="rect">
            <a:avLst/>
          </a:prstGeom>
          <a:noFill/>
        </p:spPr>
        <p:txBody>
          <a:bodyPr wrap="square" lIns="0" tIns="0" rIns="0" bIns="0" anchor="t">
            <a:noAutofit/>
          </a:bodyPr>
          <a:lstStyle/>
          <a:p>
            <a:pPr algn="l"/>
            <a:r>
              <a:rPr sz="1500" b="0" i="0">
                <a:solidFill>
                  <a:srgbClr val="EDE9FE"/>
                </a:solidFill>
                <a:latin typeface="Roboto Condensed"/>
              </a:rPr>
              <a:t>≈ US$12K (at Rp16,500 / US$, indicative)</a:t>
            </a:r>
          </a:p>
        </p:txBody>
      </p:sp>
      <p:sp>
        <p:nvSpPr>
          <p:cNvPr id="17" name="Rectangle 16"/>
          <p:cNvSpPr/>
          <p:nvPr/>
        </p:nvSpPr>
        <p:spPr>
          <a:xfrm>
            <a:off x="1463040" y="5029200"/>
            <a:ext cx="4297680" cy="18288"/>
          </a:xfrm>
          <a:prstGeom prst="rect">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463040" y="5303520"/>
            <a:ext cx="4297680" cy="2377440"/>
          </a:xfrm>
          <a:prstGeom prst="rect">
            <a:avLst/>
          </a:prstGeom>
          <a:noFill/>
        </p:spPr>
        <p:txBody>
          <a:bodyPr wrap="square" lIns="0" tIns="0" rIns="0" bIns="0" anchor="t">
            <a:noAutofit/>
          </a:bodyPr>
          <a:lstStyle/>
          <a:p>
            <a:pPr algn="l">
              <a:lnSpc>
                <a:spcPct val="112000"/>
              </a:lnSpc>
            </a:pPr>
            <a:r>
              <a:rPr sz="2000" b="0" i="0">
                <a:solidFill>
                  <a:srgbClr val="FFFFFF"/>
                </a:solidFill>
                <a:latin typeface="Roboto Condensed"/>
              </a:rPr>
              <a:t>Founder runway, scan reliability, Scanvas Studio, school acquisition, production, and new worlds, so the next round is raised on proven repeat use.</a:t>
            </a:r>
          </a:p>
        </p:txBody>
      </p:sp>
      <p:sp>
        <p:nvSpPr>
          <p:cNvPr id="19" name="Rounded Rectangle 18"/>
          <p:cNvSpPr/>
          <p:nvPr/>
        </p:nvSpPr>
        <p:spPr>
          <a:xfrm>
            <a:off x="1463040" y="8558784"/>
            <a:ext cx="2340864" cy="54864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647395" tIns="0" rIns="182880" bIns="0" rtlCol="0" anchor="ctr">
            <a:noAutofit/>
          </a:bodyPr>
          <a:lstStyle/>
          <a:p>
            <a:pPr algn="l"/>
            <a:r>
              <a:rPr sz="1600" b="0" i="0">
                <a:solidFill>
                  <a:srgbClr val="5B21B6"/>
                </a:solidFill>
                <a:latin typeface="Roboto Condensed SemiBold"/>
              </a:rPr>
              <a:t>12 MONTHS</a:t>
            </a:r>
          </a:p>
        </p:txBody>
      </p:sp>
      <p:pic>
        <p:nvPicPr>
          <p:cNvPr id="20" name="Picture 19" descr="calendar-check_purple.png"/>
          <p:cNvPicPr>
            <a:picLocks noChangeAspect="1"/>
          </p:cNvPicPr>
          <p:nvPr/>
        </p:nvPicPr>
        <p:blipFill>
          <a:blip r:embed="rId3"/>
          <a:stretch>
            <a:fillRect/>
          </a:stretch>
        </p:blipFill>
        <p:spPr>
          <a:xfrm>
            <a:off x="1682496" y="8663025"/>
            <a:ext cx="340156" cy="340156"/>
          </a:xfrm>
          <a:prstGeom prst="rect">
            <a:avLst/>
          </a:prstGeom>
        </p:spPr>
      </p:pic>
      <p:sp>
        <p:nvSpPr>
          <p:cNvPr id="21" name="TextBox 20"/>
          <p:cNvSpPr txBox="1"/>
          <p:nvPr/>
        </p:nvSpPr>
        <p:spPr>
          <a:xfrm>
            <a:off x="6492240" y="2468880"/>
            <a:ext cx="5760720" cy="402336"/>
          </a:xfrm>
          <a:prstGeom prst="rect">
            <a:avLst/>
          </a:prstGeom>
          <a:noFill/>
        </p:spPr>
        <p:txBody>
          <a:bodyPr wrap="square" lIns="0" tIns="0" rIns="0" bIns="0" anchor="t">
            <a:noAutofit/>
          </a:bodyPr>
          <a:lstStyle/>
          <a:p>
            <a:pPr algn="l"/>
            <a:r>
              <a:rPr sz="1600" b="0" i="0">
                <a:solidFill>
                  <a:srgbClr val="7C3AED"/>
                </a:solidFill>
                <a:latin typeface="Roboto Condensed SemiBold"/>
              </a:rPr>
              <a:t>USE OF FUNDS</a:t>
            </a:r>
          </a:p>
        </p:txBody>
      </p:sp>
      <p:sp>
        <p:nvSpPr>
          <p:cNvPr id="22" name="Oval 21"/>
          <p:cNvSpPr/>
          <p:nvPr/>
        </p:nvSpPr>
        <p:spPr>
          <a:xfrm>
            <a:off x="6492240" y="3072384"/>
            <a:ext cx="621792" cy="621792"/>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users_purple.png"/>
          <p:cNvPicPr>
            <a:picLocks noChangeAspect="1"/>
          </p:cNvPicPr>
          <p:nvPr/>
        </p:nvPicPr>
        <p:blipFill>
          <a:blip r:embed="rId4"/>
          <a:stretch>
            <a:fillRect/>
          </a:stretch>
        </p:blipFill>
        <p:spPr>
          <a:xfrm>
            <a:off x="6641470" y="3221614"/>
            <a:ext cx="323331" cy="323331"/>
          </a:xfrm>
          <a:prstGeom prst="rect">
            <a:avLst/>
          </a:prstGeom>
        </p:spPr>
      </p:pic>
      <p:sp>
        <p:nvSpPr>
          <p:cNvPr id="24" name="TextBox 23"/>
          <p:cNvSpPr txBox="1"/>
          <p:nvPr/>
        </p:nvSpPr>
        <p:spPr>
          <a:xfrm>
            <a:off x="7296912" y="3035808"/>
            <a:ext cx="3291840" cy="402336"/>
          </a:xfrm>
          <a:prstGeom prst="rect">
            <a:avLst/>
          </a:prstGeom>
          <a:noFill/>
        </p:spPr>
        <p:txBody>
          <a:bodyPr wrap="square" lIns="0" tIns="0" rIns="0" bIns="0" anchor="ctr">
            <a:noAutofit/>
          </a:bodyPr>
          <a:lstStyle/>
          <a:p>
            <a:pPr algn="l"/>
            <a:r>
              <a:rPr sz="1900" b="0" i="0">
                <a:solidFill>
                  <a:srgbClr val="172033"/>
                </a:solidFill>
                <a:latin typeface="Roboto Condensed SemiBold"/>
              </a:rPr>
              <a:t>Team &amp; operations</a:t>
            </a:r>
          </a:p>
        </p:txBody>
      </p:sp>
      <p:sp>
        <p:nvSpPr>
          <p:cNvPr id="25" name="TextBox 24"/>
          <p:cNvSpPr txBox="1"/>
          <p:nvPr/>
        </p:nvSpPr>
        <p:spPr>
          <a:xfrm>
            <a:off x="9966959" y="3035808"/>
            <a:ext cx="2286000" cy="402336"/>
          </a:xfrm>
          <a:prstGeom prst="rect">
            <a:avLst/>
          </a:prstGeom>
          <a:noFill/>
        </p:spPr>
        <p:txBody>
          <a:bodyPr wrap="square" lIns="0" tIns="0" rIns="0" bIns="0" anchor="ctr">
            <a:noAutofit/>
          </a:bodyPr>
          <a:lstStyle/>
          <a:p>
            <a:pPr algn="r"/>
            <a:r>
              <a:rPr sz="1900" b="1" i="0">
                <a:solidFill>
                  <a:srgbClr val="5B21B6"/>
                </a:solidFill>
                <a:latin typeface="Roboto Condensed"/>
              </a:rPr>
              <a:t>Rp96M · 48%</a:t>
            </a:r>
          </a:p>
        </p:txBody>
      </p:sp>
      <p:sp>
        <p:nvSpPr>
          <p:cNvPr id="26" name="Rounded Rectangle 25"/>
          <p:cNvSpPr/>
          <p:nvPr/>
        </p:nvSpPr>
        <p:spPr>
          <a:xfrm>
            <a:off x="7296912" y="3511296"/>
            <a:ext cx="4956048" cy="14630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296912" y="3511296"/>
            <a:ext cx="2378903" cy="146304"/>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96912" y="3675887"/>
            <a:ext cx="4956048" cy="292608"/>
          </a:xfrm>
          <a:prstGeom prst="rect">
            <a:avLst/>
          </a:prstGeom>
          <a:noFill/>
        </p:spPr>
        <p:txBody>
          <a:bodyPr wrap="square" lIns="0" tIns="0" rIns="0" bIns="0" anchor="t">
            <a:noAutofit/>
          </a:bodyPr>
          <a:lstStyle/>
          <a:p>
            <a:pPr algn="l"/>
            <a:r>
              <a:rPr sz="1400" b="0" i="0">
                <a:solidFill>
                  <a:srgbClr val="172033"/>
                </a:solidFill>
                <a:latin typeface="Roboto Condensed"/>
              </a:rPr>
              <a:t>Two founders at Rp4M / month each</a:t>
            </a:r>
          </a:p>
        </p:txBody>
      </p:sp>
      <p:sp>
        <p:nvSpPr>
          <p:cNvPr id="29" name="Oval 28"/>
          <p:cNvSpPr/>
          <p:nvPr/>
        </p:nvSpPr>
        <p:spPr>
          <a:xfrm>
            <a:off x="6492240" y="4023360"/>
            <a:ext cx="621792" cy="621792"/>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school_purple.png"/>
          <p:cNvPicPr>
            <a:picLocks noChangeAspect="1"/>
          </p:cNvPicPr>
          <p:nvPr/>
        </p:nvPicPr>
        <p:blipFill>
          <a:blip r:embed="rId5"/>
          <a:stretch>
            <a:fillRect/>
          </a:stretch>
        </p:blipFill>
        <p:spPr>
          <a:xfrm>
            <a:off x="6641470" y="4172590"/>
            <a:ext cx="323331" cy="323331"/>
          </a:xfrm>
          <a:prstGeom prst="rect">
            <a:avLst/>
          </a:prstGeom>
        </p:spPr>
      </p:pic>
      <p:sp>
        <p:nvSpPr>
          <p:cNvPr id="31" name="TextBox 30"/>
          <p:cNvSpPr txBox="1"/>
          <p:nvPr/>
        </p:nvSpPr>
        <p:spPr>
          <a:xfrm>
            <a:off x="7296912" y="3986784"/>
            <a:ext cx="3291840" cy="402336"/>
          </a:xfrm>
          <a:prstGeom prst="rect">
            <a:avLst/>
          </a:prstGeom>
          <a:noFill/>
        </p:spPr>
        <p:txBody>
          <a:bodyPr wrap="square" lIns="0" tIns="0" rIns="0" bIns="0" anchor="ctr">
            <a:noAutofit/>
          </a:bodyPr>
          <a:lstStyle/>
          <a:p>
            <a:pPr algn="l"/>
            <a:r>
              <a:rPr sz="1900" b="0" i="0">
                <a:solidFill>
                  <a:srgbClr val="172033"/>
                </a:solidFill>
                <a:latin typeface="Roboto Condensed SemiBold"/>
              </a:rPr>
              <a:t>Go-to-market</a:t>
            </a:r>
          </a:p>
        </p:txBody>
      </p:sp>
      <p:sp>
        <p:nvSpPr>
          <p:cNvPr id="32" name="TextBox 31"/>
          <p:cNvSpPr txBox="1"/>
          <p:nvPr/>
        </p:nvSpPr>
        <p:spPr>
          <a:xfrm>
            <a:off x="9966959" y="3986784"/>
            <a:ext cx="2286000" cy="402336"/>
          </a:xfrm>
          <a:prstGeom prst="rect">
            <a:avLst/>
          </a:prstGeom>
          <a:noFill/>
        </p:spPr>
        <p:txBody>
          <a:bodyPr wrap="square" lIns="0" tIns="0" rIns="0" bIns="0" anchor="ctr">
            <a:noAutofit/>
          </a:bodyPr>
          <a:lstStyle/>
          <a:p>
            <a:pPr algn="r"/>
            <a:r>
              <a:rPr sz="1900" b="1" i="0">
                <a:solidFill>
                  <a:srgbClr val="5B21B6"/>
                </a:solidFill>
                <a:latin typeface="Roboto Condensed"/>
              </a:rPr>
              <a:t>Rp30M · 15%</a:t>
            </a:r>
          </a:p>
        </p:txBody>
      </p:sp>
      <p:sp>
        <p:nvSpPr>
          <p:cNvPr id="33" name="Rounded Rectangle 32"/>
          <p:cNvSpPr/>
          <p:nvPr/>
        </p:nvSpPr>
        <p:spPr>
          <a:xfrm>
            <a:off x="7296912" y="4462272"/>
            <a:ext cx="4956048" cy="14630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7296912" y="4462272"/>
            <a:ext cx="743407" cy="146304"/>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96912" y="4626864"/>
            <a:ext cx="4956048" cy="292608"/>
          </a:xfrm>
          <a:prstGeom prst="rect">
            <a:avLst/>
          </a:prstGeom>
          <a:noFill/>
        </p:spPr>
        <p:txBody>
          <a:bodyPr wrap="square" lIns="0" tIns="0" rIns="0" bIns="0" anchor="t">
            <a:noAutofit/>
          </a:bodyPr>
          <a:lstStyle/>
          <a:p>
            <a:pPr algn="l"/>
            <a:r>
              <a:rPr sz="1400" b="0" i="0">
                <a:solidFill>
                  <a:srgbClr val="172033"/>
                </a:solidFill>
                <a:latin typeface="Roboto Condensed"/>
              </a:rPr>
              <a:t>School pilots, demos, community activation</a:t>
            </a:r>
          </a:p>
        </p:txBody>
      </p:sp>
      <p:sp>
        <p:nvSpPr>
          <p:cNvPr id="36" name="Oval 35"/>
          <p:cNvSpPr/>
          <p:nvPr/>
        </p:nvSpPr>
        <p:spPr>
          <a:xfrm>
            <a:off x="6492240" y="4974336"/>
            <a:ext cx="621792" cy="621792"/>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scan-line_purple.png"/>
          <p:cNvPicPr>
            <a:picLocks noChangeAspect="1"/>
          </p:cNvPicPr>
          <p:nvPr/>
        </p:nvPicPr>
        <p:blipFill>
          <a:blip r:embed="rId6"/>
          <a:stretch>
            <a:fillRect/>
          </a:stretch>
        </p:blipFill>
        <p:spPr>
          <a:xfrm>
            <a:off x="6641470" y="5123566"/>
            <a:ext cx="323331" cy="323331"/>
          </a:xfrm>
          <a:prstGeom prst="rect">
            <a:avLst/>
          </a:prstGeom>
        </p:spPr>
      </p:pic>
      <p:sp>
        <p:nvSpPr>
          <p:cNvPr id="38" name="TextBox 37"/>
          <p:cNvSpPr txBox="1"/>
          <p:nvPr/>
        </p:nvSpPr>
        <p:spPr>
          <a:xfrm>
            <a:off x="7296912" y="4937759"/>
            <a:ext cx="3291840" cy="402336"/>
          </a:xfrm>
          <a:prstGeom prst="rect">
            <a:avLst/>
          </a:prstGeom>
          <a:noFill/>
        </p:spPr>
        <p:txBody>
          <a:bodyPr wrap="square" lIns="0" tIns="0" rIns="0" bIns="0" anchor="ctr">
            <a:noAutofit/>
          </a:bodyPr>
          <a:lstStyle/>
          <a:p>
            <a:pPr algn="l"/>
            <a:r>
              <a:rPr sz="1900" b="0" i="0">
                <a:solidFill>
                  <a:srgbClr val="172033"/>
                </a:solidFill>
                <a:latin typeface="Roboto Condensed SemiBold"/>
              </a:rPr>
              <a:t>Product &amp; technology</a:t>
            </a:r>
          </a:p>
        </p:txBody>
      </p:sp>
      <p:sp>
        <p:nvSpPr>
          <p:cNvPr id="39" name="TextBox 38"/>
          <p:cNvSpPr txBox="1"/>
          <p:nvPr/>
        </p:nvSpPr>
        <p:spPr>
          <a:xfrm>
            <a:off x="9966959" y="4937759"/>
            <a:ext cx="2286000" cy="402336"/>
          </a:xfrm>
          <a:prstGeom prst="rect">
            <a:avLst/>
          </a:prstGeom>
          <a:noFill/>
        </p:spPr>
        <p:txBody>
          <a:bodyPr wrap="square" lIns="0" tIns="0" rIns="0" bIns="0" anchor="ctr">
            <a:noAutofit/>
          </a:bodyPr>
          <a:lstStyle/>
          <a:p>
            <a:pPr algn="r"/>
            <a:r>
              <a:rPr sz="1900" b="1" i="0">
                <a:solidFill>
                  <a:srgbClr val="5B21B6"/>
                </a:solidFill>
                <a:latin typeface="Roboto Condensed"/>
              </a:rPr>
              <a:t>Rp24M · 12%</a:t>
            </a:r>
          </a:p>
        </p:txBody>
      </p:sp>
      <p:sp>
        <p:nvSpPr>
          <p:cNvPr id="40" name="Rounded Rectangle 39"/>
          <p:cNvSpPr/>
          <p:nvPr/>
        </p:nvSpPr>
        <p:spPr>
          <a:xfrm>
            <a:off x="7296912" y="5413248"/>
            <a:ext cx="4956048" cy="14630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7296912" y="5413248"/>
            <a:ext cx="594725" cy="146304"/>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296912" y="5577840"/>
            <a:ext cx="4956048" cy="292608"/>
          </a:xfrm>
          <a:prstGeom prst="rect">
            <a:avLst/>
          </a:prstGeom>
          <a:noFill/>
        </p:spPr>
        <p:txBody>
          <a:bodyPr wrap="square" lIns="0" tIns="0" rIns="0" bIns="0" anchor="t">
            <a:noAutofit/>
          </a:bodyPr>
          <a:lstStyle/>
          <a:p>
            <a:pPr algn="l"/>
            <a:r>
              <a:rPr sz="1400" b="0" i="0">
                <a:solidFill>
                  <a:srgbClr val="172033"/>
                </a:solidFill>
                <a:latin typeface="Roboto Condensed"/>
              </a:rPr>
              <a:t>Infrastructure, scan reliability, Studio</a:t>
            </a:r>
          </a:p>
        </p:txBody>
      </p:sp>
      <p:sp>
        <p:nvSpPr>
          <p:cNvPr id="43" name="Oval 42"/>
          <p:cNvSpPr/>
          <p:nvPr/>
        </p:nvSpPr>
        <p:spPr>
          <a:xfrm>
            <a:off x="6492240" y="5925312"/>
            <a:ext cx="621792" cy="621792"/>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palette_purple.png"/>
          <p:cNvPicPr>
            <a:picLocks noChangeAspect="1"/>
          </p:cNvPicPr>
          <p:nvPr/>
        </p:nvPicPr>
        <p:blipFill>
          <a:blip r:embed="rId7"/>
          <a:stretch>
            <a:fillRect/>
          </a:stretch>
        </p:blipFill>
        <p:spPr>
          <a:xfrm>
            <a:off x="6641470" y="6074542"/>
            <a:ext cx="323331" cy="323331"/>
          </a:xfrm>
          <a:prstGeom prst="rect">
            <a:avLst/>
          </a:prstGeom>
        </p:spPr>
      </p:pic>
      <p:sp>
        <p:nvSpPr>
          <p:cNvPr id="45" name="TextBox 44"/>
          <p:cNvSpPr txBox="1"/>
          <p:nvPr/>
        </p:nvSpPr>
        <p:spPr>
          <a:xfrm>
            <a:off x="7296912" y="5888736"/>
            <a:ext cx="3291840" cy="402336"/>
          </a:xfrm>
          <a:prstGeom prst="rect">
            <a:avLst/>
          </a:prstGeom>
          <a:noFill/>
        </p:spPr>
        <p:txBody>
          <a:bodyPr wrap="square" lIns="0" tIns="0" rIns="0" bIns="0" anchor="ctr">
            <a:noAutofit/>
          </a:bodyPr>
          <a:lstStyle/>
          <a:p>
            <a:pPr algn="l"/>
            <a:r>
              <a:rPr sz="1900" b="0" i="0">
                <a:solidFill>
                  <a:srgbClr val="172033"/>
                </a:solidFill>
                <a:latin typeface="Roboto Condensed SemiBold"/>
              </a:rPr>
              <a:t>Production</a:t>
            </a:r>
          </a:p>
        </p:txBody>
      </p:sp>
      <p:sp>
        <p:nvSpPr>
          <p:cNvPr id="46" name="TextBox 45"/>
          <p:cNvSpPr txBox="1"/>
          <p:nvPr/>
        </p:nvSpPr>
        <p:spPr>
          <a:xfrm>
            <a:off x="9966959" y="5888736"/>
            <a:ext cx="2286000" cy="402336"/>
          </a:xfrm>
          <a:prstGeom prst="rect">
            <a:avLst/>
          </a:prstGeom>
          <a:noFill/>
        </p:spPr>
        <p:txBody>
          <a:bodyPr wrap="square" lIns="0" tIns="0" rIns="0" bIns="0" anchor="ctr">
            <a:noAutofit/>
          </a:bodyPr>
          <a:lstStyle/>
          <a:p>
            <a:pPr algn="r"/>
            <a:r>
              <a:rPr sz="1900" b="1" i="0">
                <a:solidFill>
                  <a:srgbClr val="5B21B6"/>
                </a:solidFill>
                <a:latin typeface="Roboto Condensed"/>
              </a:rPr>
              <a:t>Rp20M · 10%</a:t>
            </a:r>
          </a:p>
        </p:txBody>
      </p:sp>
      <p:sp>
        <p:nvSpPr>
          <p:cNvPr id="47" name="Rounded Rectangle 46"/>
          <p:cNvSpPr/>
          <p:nvPr/>
        </p:nvSpPr>
        <p:spPr>
          <a:xfrm>
            <a:off x="7296912" y="6364224"/>
            <a:ext cx="4956048" cy="14630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7296912" y="6364224"/>
            <a:ext cx="495604" cy="146304"/>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296912" y="6528816"/>
            <a:ext cx="4956048" cy="292608"/>
          </a:xfrm>
          <a:prstGeom prst="rect">
            <a:avLst/>
          </a:prstGeom>
          <a:noFill/>
        </p:spPr>
        <p:txBody>
          <a:bodyPr wrap="square" lIns="0" tIns="0" rIns="0" bIns="0" anchor="t">
            <a:noAutofit/>
          </a:bodyPr>
          <a:lstStyle/>
          <a:p>
            <a:pPr algn="l"/>
            <a:r>
              <a:rPr sz="1400" b="0" i="0">
                <a:solidFill>
                  <a:srgbClr val="172033"/>
                </a:solidFill>
                <a:latin typeface="Roboto Condensed"/>
              </a:rPr>
              <a:t>Packs, samples, demo materials</a:t>
            </a:r>
          </a:p>
        </p:txBody>
      </p:sp>
      <p:sp>
        <p:nvSpPr>
          <p:cNvPr id="50" name="Oval 49"/>
          <p:cNvSpPr/>
          <p:nvPr/>
        </p:nvSpPr>
        <p:spPr>
          <a:xfrm>
            <a:off x="6492240" y="6876288"/>
            <a:ext cx="621792" cy="621792"/>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book-open_purple.png"/>
          <p:cNvPicPr>
            <a:picLocks noChangeAspect="1"/>
          </p:cNvPicPr>
          <p:nvPr/>
        </p:nvPicPr>
        <p:blipFill>
          <a:blip r:embed="rId8"/>
          <a:stretch>
            <a:fillRect/>
          </a:stretch>
        </p:blipFill>
        <p:spPr>
          <a:xfrm>
            <a:off x="6641470" y="7025518"/>
            <a:ext cx="323331" cy="323331"/>
          </a:xfrm>
          <a:prstGeom prst="rect">
            <a:avLst/>
          </a:prstGeom>
        </p:spPr>
      </p:pic>
      <p:sp>
        <p:nvSpPr>
          <p:cNvPr id="52" name="TextBox 51"/>
          <p:cNvSpPr txBox="1"/>
          <p:nvPr/>
        </p:nvSpPr>
        <p:spPr>
          <a:xfrm>
            <a:off x="7296912" y="6839712"/>
            <a:ext cx="3291840" cy="402336"/>
          </a:xfrm>
          <a:prstGeom prst="rect">
            <a:avLst/>
          </a:prstGeom>
          <a:noFill/>
        </p:spPr>
        <p:txBody>
          <a:bodyPr wrap="square" lIns="0" tIns="0" rIns="0" bIns="0" anchor="ctr">
            <a:noAutofit/>
          </a:bodyPr>
          <a:lstStyle/>
          <a:p>
            <a:pPr algn="l"/>
            <a:r>
              <a:rPr sz="1900" b="0" i="0">
                <a:solidFill>
                  <a:srgbClr val="172033"/>
                </a:solidFill>
                <a:latin typeface="Roboto Condensed SemiBold"/>
              </a:rPr>
              <a:t>Content</a:t>
            </a:r>
          </a:p>
        </p:txBody>
      </p:sp>
      <p:sp>
        <p:nvSpPr>
          <p:cNvPr id="53" name="TextBox 52"/>
          <p:cNvSpPr txBox="1"/>
          <p:nvPr/>
        </p:nvSpPr>
        <p:spPr>
          <a:xfrm>
            <a:off x="9966959" y="6839712"/>
            <a:ext cx="2286000" cy="402336"/>
          </a:xfrm>
          <a:prstGeom prst="rect">
            <a:avLst/>
          </a:prstGeom>
          <a:noFill/>
        </p:spPr>
        <p:txBody>
          <a:bodyPr wrap="square" lIns="0" tIns="0" rIns="0" bIns="0" anchor="ctr">
            <a:noAutofit/>
          </a:bodyPr>
          <a:lstStyle/>
          <a:p>
            <a:pPr algn="r"/>
            <a:r>
              <a:rPr sz="1900" b="1" i="0">
                <a:solidFill>
                  <a:srgbClr val="5B21B6"/>
                </a:solidFill>
                <a:latin typeface="Roboto Condensed"/>
              </a:rPr>
              <a:t>Rp20M · 10%</a:t>
            </a:r>
          </a:p>
        </p:txBody>
      </p:sp>
      <p:sp>
        <p:nvSpPr>
          <p:cNvPr id="54" name="Rounded Rectangle 53"/>
          <p:cNvSpPr/>
          <p:nvPr/>
        </p:nvSpPr>
        <p:spPr>
          <a:xfrm>
            <a:off x="7296912" y="7315200"/>
            <a:ext cx="4956048" cy="14630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7296912" y="7315200"/>
            <a:ext cx="495604" cy="146304"/>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296912" y="7479792"/>
            <a:ext cx="4956048" cy="292608"/>
          </a:xfrm>
          <a:prstGeom prst="rect">
            <a:avLst/>
          </a:prstGeom>
          <a:noFill/>
        </p:spPr>
        <p:txBody>
          <a:bodyPr wrap="square" lIns="0" tIns="0" rIns="0" bIns="0" anchor="t">
            <a:noAutofit/>
          </a:bodyPr>
          <a:lstStyle/>
          <a:p>
            <a:pPr algn="l"/>
            <a:r>
              <a:rPr sz="1400" b="0" i="0">
                <a:solidFill>
                  <a:srgbClr val="172033"/>
                </a:solidFill>
                <a:latin typeface="Roboto Condensed"/>
              </a:rPr>
              <a:t>2 </a:t>
            </a:r>
            <a:r>
              <a:rPr sz="1400" b="0" i="0">
                <a:solidFill>
                  <a:srgbClr val="172033"/>
                </a:solidFill>
                <a:latin typeface="Segoe UI"/>
              </a:rPr>
              <a:t>→</a:t>
            </a:r>
            <a:r>
              <a:rPr sz="1400" b="0" i="0">
                <a:solidFill>
                  <a:srgbClr val="172033"/>
                </a:solidFill>
                <a:latin typeface="Roboto Condensed"/>
              </a:rPr>
              <a:t> 4 interactive worlds</a:t>
            </a:r>
          </a:p>
        </p:txBody>
      </p:sp>
      <p:sp>
        <p:nvSpPr>
          <p:cNvPr id="57" name="Oval 56"/>
          <p:cNvSpPr/>
          <p:nvPr/>
        </p:nvSpPr>
        <p:spPr>
          <a:xfrm>
            <a:off x="6492240" y="7827264"/>
            <a:ext cx="621792" cy="621792"/>
          </a:xfrm>
          <a:prstGeom prst="ellipse">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8" name="Picture 57" descr="shield-check_purple.png"/>
          <p:cNvPicPr>
            <a:picLocks noChangeAspect="1"/>
          </p:cNvPicPr>
          <p:nvPr/>
        </p:nvPicPr>
        <p:blipFill>
          <a:blip r:embed="rId9"/>
          <a:stretch>
            <a:fillRect/>
          </a:stretch>
        </p:blipFill>
        <p:spPr>
          <a:xfrm>
            <a:off x="6641470" y="7976494"/>
            <a:ext cx="323331" cy="323331"/>
          </a:xfrm>
          <a:prstGeom prst="rect">
            <a:avLst/>
          </a:prstGeom>
        </p:spPr>
      </p:pic>
      <p:sp>
        <p:nvSpPr>
          <p:cNvPr id="59" name="TextBox 58"/>
          <p:cNvSpPr txBox="1"/>
          <p:nvPr/>
        </p:nvSpPr>
        <p:spPr>
          <a:xfrm>
            <a:off x="7296912" y="7790688"/>
            <a:ext cx="3291840" cy="402336"/>
          </a:xfrm>
          <a:prstGeom prst="rect">
            <a:avLst/>
          </a:prstGeom>
          <a:noFill/>
        </p:spPr>
        <p:txBody>
          <a:bodyPr wrap="square" lIns="0" tIns="0" rIns="0" bIns="0" anchor="ctr">
            <a:noAutofit/>
          </a:bodyPr>
          <a:lstStyle/>
          <a:p>
            <a:pPr algn="l"/>
            <a:r>
              <a:rPr sz="1900" b="0" i="0">
                <a:solidFill>
                  <a:srgbClr val="172033"/>
                </a:solidFill>
                <a:latin typeface="Roboto Condensed SemiBold"/>
              </a:rPr>
              <a:t>Legal &amp; contingency</a:t>
            </a:r>
          </a:p>
        </p:txBody>
      </p:sp>
      <p:sp>
        <p:nvSpPr>
          <p:cNvPr id="60" name="TextBox 59"/>
          <p:cNvSpPr txBox="1"/>
          <p:nvPr/>
        </p:nvSpPr>
        <p:spPr>
          <a:xfrm>
            <a:off x="9966959" y="7790688"/>
            <a:ext cx="2286000" cy="402336"/>
          </a:xfrm>
          <a:prstGeom prst="rect">
            <a:avLst/>
          </a:prstGeom>
          <a:noFill/>
        </p:spPr>
        <p:txBody>
          <a:bodyPr wrap="square" lIns="0" tIns="0" rIns="0" bIns="0" anchor="ctr">
            <a:noAutofit/>
          </a:bodyPr>
          <a:lstStyle/>
          <a:p>
            <a:pPr algn="r"/>
            <a:r>
              <a:rPr sz="1900" b="1" i="0">
                <a:solidFill>
                  <a:srgbClr val="5B21B6"/>
                </a:solidFill>
                <a:latin typeface="Roboto Condensed"/>
              </a:rPr>
              <a:t>Rp10M · 5%</a:t>
            </a:r>
          </a:p>
        </p:txBody>
      </p:sp>
      <p:sp>
        <p:nvSpPr>
          <p:cNvPr id="61" name="Rounded Rectangle 60"/>
          <p:cNvSpPr/>
          <p:nvPr/>
        </p:nvSpPr>
        <p:spPr>
          <a:xfrm>
            <a:off x="7296912" y="8266176"/>
            <a:ext cx="4956048" cy="146304"/>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7296912" y="8266176"/>
            <a:ext cx="247802" cy="146304"/>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7296912" y="8430768"/>
            <a:ext cx="4956048" cy="292608"/>
          </a:xfrm>
          <a:prstGeom prst="rect">
            <a:avLst/>
          </a:prstGeom>
          <a:noFill/>
        </p:spPr>
        <p:txBody>
          <a:bodyPr wrap="square" lIns="0" tIns="0" rIns="0" bIns="0" anchor="t">
            <a:noAutofit/>
          </a:bodyPr>
          <a:lstStyle/>
          <a:p>
            <a:pPr algn="l"/>
            <a:r>
              <a:rPr sz="1400" b="0" i="0">
                <a:solidFill>
                  <a:srgbClr val="172033"/>
                </a:solidFill>
                <a:latin typeface="Roboto Condensed"/>
              </a:rPr>
              <a:t>Administration, accounting, contracts</a:t>
            </a:r>
          </a:p>
        </p:txBody>
      </p:sp>
      <p:sp>
        <p:nvSpPr>
          <p:cNvPr id="64" name="Rounded Rectangle 63"/>
          <p:cNvSpPr/>
          <p:nvPr/>
        </p:nvSpPr>
        <p:spPr>
          <a:xfrm>
            <a:off x="12618720" y="2468880"/>
            <a:ext cx="4572000" cy="6309360"/>
          </a:xfrm>
          <a:prstGeom prst="roundRect">
            <a:avLst>
              <a:gd name="adj" fmla="val 6400"/>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12893040" y="2688336"/>
            <a:ext cx="4114800" cy="658368"/>
          </a:xfrm>
          <a:prstGeom prst="rect">
            <a:avLst/>
          </a:prstGeom>
          <a:noFill/>
        </p:spPr>
        <p:txBody>
          <a:bodyPr wrap="square" lIns="0" tIns="0" rIns="0" bIns="0" anchor="t">
            <a:noAutofit/>
          </a:bodyPr>
          <a:lstStyle/>
          <a:p>
            <a:pPr algn="l">
              <a:lnSpc>
                <a:spcPct val="100000"/>
              </a:lnSpc>
            </a:pPr>
            <a:r>
              <a:rPr sz="1500" b="0" i="0">
                <a:solidFill>
                  <a:srgbClr val="7C3AED"/>
                </a:solidFill>
                <a:latin typeface="Roboto Condensed SemiBold"/>
              </a:rPr>
              <a:t>MILESTONES IT UNLOCKS · 12 MONTHS</a:t>
            </a:r>
          </a:p>
        </p:txBody>
      </p:sp>
      <p:pic>
        <p:nvPicPr>
          <p:cNvPr id="66" name="Picture 65" descr="check_purple.png"/>
          <p:cNvPicPr>
            <a:picLocks noChangeAspect="1"/>
          </p:cNvPicPr>
          <p:nvPr/>
        </p:nvPicPr>
        <p:blipFill>
          <a:blip r:embed="rId10"/>
          <a:stretch>
            <a:fillRect/>
          </a:stretch>
        </p:blipFill>
        <p:spPr>
          <a:xfrm>
            <a:off x="12893040" y="3584448"/>
            <a:ext cx="292608" cy="292608"/>
          </a:xfrm>
          <a:prstGeom prst="rect">
            <a:avLst/>
          </a:prstGeom>
        </p:spPr>
      </p:pic>
      <p:sp>
        <p:nvSpPr>
          <p:cNvPr id="67" name="TextBox 66"/>
          <p:cNvSpPr txBox="1"/>
          <p:nvPr/>
        </p:nvSpPr>
        <p:spPr>
          <a:xfrm>
            <a:off x="13313664" y="3474720"/>
            <a:ext cx="3749039" cy="548640"/>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48 paid school / event sessions</a:t>
            </a:r>
          </a:p>
        </p:txBody>
      </p:sp>
      <p:pic>
        <p:nvPicPr>
          <p:cNvPr id="68" name="Picture 67" descr="check_purple.png"/>
          <p:cNvPicPr>
            <a:picLocks noChangeAspect="1"/>
          </p:cNvPicPr>
          <p:nvPr/>
        </p:nvPicPr>
        <p:blipFill>
          <a:blip r:embed="rId10"/>
          <a:stretch>
            <a:fillRect/>
          </a:stretch>
        </p:blipFill>
        <p:spPr>
          <a:xfrm>
            <a:off x="12893040" y="4315968"/>
            <a:ext cx="292608" cy="292608"/>
          </a:xfrm>
          <a:prstGeom prst="rect">
            <a:avLst/>
          </a:prstGeom>
        </p:spPr>
      </p:pic>
      <p:sp>
        <p:nvSpPr>
          <p:cNvPr id="69" name="TextBox 68"/>
          <p:cNvSpPr txBox="1"/>
          <p:nvPr/>
        </p:nvSpPr>
        <p:spPr>
          <a:xfrm>
            <a:off x="13313664" y="4206240"/>
            <a:ext cx="3749039" cy="548640"/>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1,440 children in paid sessions</a:t>
            </a:r>
          </a:p>
        </p:txBody>
      </p:sp>
      <p:pic>
        <p:nvPicPr>
          <p:cNvPr id="70" name="Picture 69" descr="check_purple.png"/>
          <p:cNvPicPr>
            <a:picLocks noChangeAspect="1"/>
          </p:cNvPicPr>
          <p:nvPr/>
        </p:nvPicPr>
        <p:blipFill>
          <a:blip r:embed="rId10"/>
          <a:stretch>
            <a:fillRect/>
          </a:stretch>
        </p:blipFill>
        <p:spPr>
          <a:xfrm>
            <a:off x="12893040" y="5047488"/>
            <a:ext cx="292608" cy="292608"/>
          </a:xfrm>
          <a:prstGeom prst="rect">
            <a:avLst/>
          </a:prstGeom>
        </p:spPr>
      </p:pic>
      <p:sp>
        <p:nvSpPr>
          <p:cNvPr id="71" name="TextBox 70"/>
          <p:cNvSpPr txBox="1"/>
          <p:nvPr/>
        </p:nvSpPr>
        <p:spPr>
          <a:xfrm>
            <a:off x="13313664" y="4937760"/>
            <a:ext cx="3749039" cy="548640"/>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600 family packs</a:t>
            </a:r>
          </a:p>
        </p:txBody>
      </p:sp>
      <p:pic>
        <p:nvPicPr>
          <p:cNvPr id="72" name="Picture 71" descr="check_purple.png"/>
          <p:cNvPicPr>
            <a:picLocks noChangeAspect="1"/>
          </p:cNvPicPr>
          <p:nvPr/>
        </p:nvPicPr>
        <p:blipFill>
          <a:blip r:embed="rId10"/>
          <a:stretch>
            <a:fillRect/>
          </a:stretch>
        </p:blipFill>
        <p:spPr>
          <a:xfrm>
            <a:off x="12893040" y="5779008"/>
            <a:ext cx="292608" cy="292608"/>
          </a:xfrm>
          <a:prstGeom prst="rect">
            <a:avLst/>
          </a:prstGeom>
        </p:spPr>
      </p:pic>
      <p:sp>
        <p:nvSpPr>
          <p:cNvPr id="73" name="TextBox 72"/>
          <p:cNvSpPr txBox="1"/>
          <p:nvPr/>
        </p:nvSpPr>
        <p:spPr>
          <a:xfrm>
            <a:off x="13313664" y="5669280"/>
            <a:ext cx="3749039" cy="548640"/>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4 interactive worlds</a:t>
            </a:r>
          </a:p>
        </p:txBody>
      </p:sp>
      <p:pic>
        <p:nvPicPr>
          <p:cNvPr id="74" name="Picture 73" descr="check_purple.png"/>
          <p:cNvPicPr>
            <a:picLocks noChangeAspect="1"/>
          </p:cNvPicPr>
          <p:nvPr/>
        </p:nvPicPr>
        <p:blipFill>
          <a:blip r:embed="rId10"/>
          <a:stretch>
            <a:fillRect/>
          </a:stretch>
        </p:blipFill>
        <p:spPr>
          <a:xfrm>
            <a:off x="12893040" y="6510528"/>
            <a:ext cx="292608" cy="292608"/>
          </a:xfrm>
          <a:prstGeom prst="rect">
            <a:avLst/>
          </a:prstGeom>
        </p:spPr>
      </p:pic>
      <p:sp>
        <p:nvSpPr>
          <p:cNvPr id="75" name="TextBox 74"/>
          <p:cNvSpPr txBox="1"/>
          <p:nvPr/>
        </p:nvSpPr>
        <p:spPr>
          <a:xfrm>
            <a:off x="13313664" y="6400800"/>
            <a:ext cx="3749039" cy="548640"/>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Scanvas Studio operational</a:t>
            </a:r>
          </a:p>
        </p:txBody>
      </p:sp>
      <p:pic>
        <p:nvPicPr>
          <p:cNvPr id="76" name="Picture 75" descr="check_purple.png"/>
          <p:cNvPicPr>
            <a:picLocks noChangeAspect="1"/>
          </p:cNvPicPr>
          <p:nvPr/>
        </p:nvPicPr>
        <p:blipFill>
          <a:blip r:embed="rId10"/>
          <a:stretch>
            <a:fillRect/>
          </a:stretch>
        </p:blipFill>
        <p:spPr>
          <a:xfrm>
            <a:off x="12893040" y="7242048"/>
            <a:ext cx="292608" cy="292608"/>
          </a:xfrm>
          <a:prstGeom prst="rect">
            <a:avLst/>
          </a:prstGeom>
        </p:spPr>
      </p:pic>
      <p:sp>
        <p:nvSpPr>
          <p:cNvPr id="77" name="TextBox 76"/>
          <p:cNvSpPr txBox="1"/>
          <p:nvPr/>
        </p:nvSpPr>
        <p:spPr>
          <a:xfrm>
            <a:off x="13313664" y="7132320"/>
            <a:ext cx="3749039" cy="548640"/>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≥20% repeat purchase / rebooking</a:t>
            </a:r>
          </a:p>
        </p:txBody>
      </p:sp>
      <p:pic>
        <p:nvPicPr>
          <p:cNvPr id="78" name="Picture 77" descr="check_purple.png"/>
          <p:cNvPicPr>
            <a:picLocks noChangeAspect="1"/>
          </p:cNvPicPr>
          <p:nvPr/>
        </p:nvPicPr>
        <p:blipFill>
          <a:blip r:embed="rId10"/>
          <a:stretch>
            <a:fillRect/>
          </a:stretch>
        </p:blipFill>
        <p:spPr>
          <a:xfrm>
            <a:off x="12893040" y="7973568"/>
            <a:ext cx="292608" cy="292608"/>
          </a:xfrm>
          <a:prstGeom prst="rect">
            <a:avLst/>
          </a:prstGeom>
        </p:spPr>
      </p:pic>
      <p:sp>
        <p:nvSpPr>
          <p:cNvPr id="79" name="TextBox 78"/>
          <p:cNvSpPr txBox="1"/>
          <p:nvPr/>
        </p:nvSpPr>
        <p:spPr>
          <a:xfrm>
            <a:off x="13313664" y="7863840"/>
            <a:ext cx="3749039" cy="548640"/>
          </a:xfrm>
          <a:prstGeom prst="rect">
            <a:avLst/>
          </a:prstGeom>
          <a:noFill/>
        </p:spPr>
        <p:txBody>
          <a:bodyPr wrap="square" lIns="0" tIns="0" rIns="0" bIns="0" anchor="ctr">
            <a:noAutofit/>
          </a:bodyPr>
          <a:lstStyle/>
          <a:p>
            <a:pPr algn="l">
              <a:lnSpc>
                <a:spcPct val="100000"/>
              </a:lnSpc>
            </a:pPr>
            <a:r>
              <a:rPr sz="1700" b="0" i="0">
                <a:solidFill>
                  <a:srgbClr val="172033"/>
                </a:solidFill>
                <a:latin typeface="Roboto Condensed"/>
              </a:rPr>
              <a:t>Rp77.4M first-year revenue (base case)</a:t>
            </a:r>
          </a:p>
        </p:txBody>
      </p:sp>
      <p:sp>
        <p:nvSpPr>
          <p:cNvPr id="80" name="TextBox 79"/>
          <p:cNvSpPr txBox="1"/>
          <p:nvPr/>
        </p:nvSpPr>
        <p:spPr>
          <a:xfrm>
            <a:off x="6492240" y="8924544"/>
            <a:ext cx="10698480" cy="621792"/>
          </a:xfrm>
          <a:prstGeom prst="rect">
            <a:avLst/>
          </a:prstGeom>
          <a:noFill/>
        </p:spPr>
        <p:txBody>
          <a:bodyPr wrap="square" lIns="0" tIns="0" rIns="0" bIns="0" anchor="t">
            <a:noAutofit/>
          </a:bodyPr>
          <a:lstStyle/>
          <a:p>
            <a:pPr algn="l">
              <a:lnSpc>
                <a:spcPct val="105000"/>
              </a:lnSpc>
            </a:pPr>
            <a:r>
              <a:rPr sz="1400" b="0" i="0">
                <a:solidFill>
                  <a:srgbClr val="172033"/>
                </a:solidFill>
                <a:latin typeface="Roboto Condensed"/>
              </a:rPr>
              <a:t>Founders’ 12-month financial model, Sep 2026. Base case assumes family pack Rp49K and managed session Rp1M (up to 30 children): current test assumptions, not yet validated at commercial volume.</a:t>
            </a:r>
          </a:p>
        </p:txBody>
      </p:sp>
      <p:sp>
        <p:nvSpPr>
          <p:cNvPr id="81" name="TextBox 80"/>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APPENDIX · FINANCIAL DETAIL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grpSp>
          <p:nvGrpSpPr>
            <p:cNvPr id="3" name="Group 3"/>
            <p:cNvGrpSpPr/>
            <p:nvPr/>
          </p:nvGrpSpPr>
          <p:grpSpPr>
            <a:xfrm>
              <a:off x="0" y="13052504"/>
              <a:ext cx="24384000" cy="663496"/>
              <a:chOff x="0" y="0"/>
              <a:chExt cx="4816593" cy="131061"/>
            </a:xfrm>
          </p:grpSpPr>
          <p:sp>
            <p:nvSpPr>
              <p:cNvPr id="4" name="Freeform 4"/>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5" name="TextBox 5"/>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0"/>
              <a:ext cx="24384000" cy="663496"/>
              <a:chOff x="0" y="0"/>
              <a:chExt cx="4816593" cy="131061"/>
            </a:xfrm>
          </p:grpSpPr>
          <p:sp>
            <p:nvSpPr>
              <p:cNvPr id="7" name="Freeform 7"/>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7ED957"/>
              </a:solidFill>
            </p:spPr>
            <p:txBody>
              <a:bodyPr/>
              <a:lstStyle/>
              <a:p>
                <a:endParaRPr lang="en-US"/>
              </a:p>
            </p:txBody>
          </p:sp>
          <p:sp>
            <p:nvSpPr>
              <p:cNvPr id="8" name="TextBox 8"/>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0" y="234290"/>
              <a:ext cx="24384000" cy="663496"/>
              <a:chOff x="0" y="0"/>
              <a:chExt cx="4816593" cy="131061"/>
            </a:xfrm>
          </p:grpSpPr>
          <p:sp>
            <p:nvSpPr>
              <p:cNvPr id="10" name="Freeform 10"/>
              <p:cNvSpPr/>
              <p:nvPr/>
            </p:nvSpPr>
            <p:spPr>
              <a:xfrm>
                <a:off x="0" y="0"/>
                <a:ext cx="4816592" cy="131061"/>
              </a:xfrm>
              <a:custGeom>
                <a:avLst/>
                <a:gdLst/>
                <a:ahLst/>
                <a:cxnLst/>
                <a:rect l="l" t="t" r="r" b="b"/>
                <a:pathLst>
                  <a:path w="4816592" h="131061">
                    <a:moveTo>
                      <a:pt x="0" y="0"/>
                    </a:moveTo>
                    <a:lnTo>
                      <a:pt x="4816592" y="0"/>
                    </a:lnTo>
                    <a:lnTo>
                      <a:pt x="4816592" y="131061"/>
                    </a:lnTo>
                    <a:lnTo>
                      <a:pt x="0" y="131061"/>
                    </a:lnTo>
                    <a:close/>
                  </a:path>
                </a:pathLst>
              </a:custGeom>
              <a:solidFill>
                <a:srgbClr val="5271FF"/>
              </a:solidFill>
            </p:spPr>
            <p:txBody>
              <a:bodyPr/>
              <a:lstStyle/>
              <a:p>
                <a:endParaRPr lang="en-US"/>
              </a:p>
            </p:txBody>
          </p:sp>
          <p:sp>
            <p:nvSpPr>
              <p:cNvPr id="11" name="TextBox 11"/>
              <p:cNvSpPr txBox="1"/>
              <p:nvPr/>
            </p:nvSpPr>
            <p:spPr>
              <a:xfrm>
                <a:off x="0" y="-38100"/>
                <a:ext cx="4816593" cy="169161"/>
              </a:xfrm>
              <a:prstGeom prst="rect">
                <a:avLst/>
              </a:prstGeom>
            </p:spPr>
            <p:txBody>
              <a:bodyPr lIns="50800" tIns="50800" rIns="50800" bIns="50800" rtlCol="0" anchor="ctr"/>
              <a:lstStyle/>
              <a:p>
                <a:pPr algn="ctr">
                  <a:lnSpc>
                    <a:spcPts val="2659"/>
                  </a:lnSpc>
                </a:pPr>
                <a:endParaRPr/>
              </a:p>
            </p:txBody>
          </p:sp>
        </p:grpSp>
      </p:grpSp>
      <p:sp>
        <p:nvSpPr>
          <p:cNvPr id="12" name="TextBox 11"/>
          <p:cNvSpPr txBox="1"/>
          <p:nvPr/>
        </p:nvSpPr>
        <p:spPr>
          <a:xfrm>
            <a:off x="1097280" y="768096"/>
            <a:ext cx="13898880" cy="1463040"/>
          </a:xfrm>
          <a:prstGeom prst="rect">
            <a:avLst/>
          </a:prstGeom>
          <a:noFill/>
        </p:spPr>
        <p:txBody>
          <a:bodyPr wrap="square" lIns="0" tIns="0" rIns="0" bIns="0" anchor="t">
            <a:noAutofit/>
          </a:bodyPr>
          <a:lstStyle/>
          <a:p>
            <a:pPr algn="l">
              <a:lnSpc>
                <a:spcPct val="95000"/>
              </a:lnSpc>
            </a:pPr>
            <a:r>
              <a:rPr sz="4000" b="1" i="0">
                <a:solidFill>
                  <a:srgbClr val="172033"/>
                </a:solidFill>
                <a:latin typeface="Roboto Condensed"/>
              </a:rPr>
              <a:t>Exit Strategy: Build a Content &amp; IP Engine</a:t>
            </a:r>
            <a:br/>
            <a:r>
              <a:rPr sz="4000" b="1" i="0">
                <a:solidFill>
                  <a:srgbClr val="172033"/>
                </a:solidFill>
                <a:latin typeface="Roboto Condensed"/>
              </a:rPr>
              <a:t>That Strategic Buyers Want</a:t>
            </a:r>
          </a:p>
        </p:txBody>
      </p:sp>
      <p:sp>
        <p:nvSpPr>
          <p:cNvPr id="13" name="TextBox 12"/>
          <p:cNvSpPr txBox="1"/>
          <p:nvPr/>
        </p:nvSpPr>
        <p:spPr>
          <a:xfrm>
            <a:off x="1097280" y="2194560"/>
            <a:ext cx="16093440" cy="475488"/>
          </a:xfrm>
          <a:prstGeom prst="rect">
            <a:avLst/>
          </a:prstGeom>
          <a:noFill/>
        </p:spPr>
        <p:txBody>
          <a:bodyPr wrap="square" lIns="0" tIns="0" rIns="0" bIns="0" anchor="t">
            <a:noAutofit/>
          </a:bodyPr>
          <a:lstStyle/>
          <a:p>
            <a:pPr algn="l"/>
            <a:r>
              <a:rPr sz="2100" b="0" i="0">
                <a:solidFill>
                  <a:srgbClr val="172033"/>
                </a:solidFill>
                <a:latin typeface="Roboto Condensed"/>
              </a:rPr>
              <a:t>Indicative path, not a commitment: build proven value first, keep exit options open.</a:t>
            </a:r>
          </a:p>
        </p:txBody>
      </p:sp>
      <p:sp>
        <p:nvSpPr>
          <p:cNvPr id="14" name="Rectangle 13"/>
          <p:cNvSpPr/>
          <p:nvPr/>
        </p:nvSpPr>
        <p:spPr>
          <a:xfrm>
            <a:off x="1371600" y="3218688"/>
            <a:ext cx="12070080" cy="54864"/>
          </a:xfrm>
          <a:prstGeom prst="rect">
            <a:avLst/>
          </a:prstGeom>
          <a:solidFill>
            <a:srgbClr val="527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225296" y="3099815"/>
            <a:ext cx="292608" cy="292608"/>
          </a:xfrm>
          <a:prstGeom prst="ellipse">
            <a:avLst/>
          </a:prstGeom>
          <a:solidFill>
            <a:srgbClr val="527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3566160"/>
            <a:ext cx="3749040" cy="329184"/>
          </a:xfrm>
          <a:prstGeom prst="rect">
            <a:avLst/>
          </a:prstGeom>
          <a:noFill/>
        </p:spPr>
        <p:txBody>
          <a:bodyPr wrap="square" lIns="0" tIns="0" rIns="0" bIns="0" anchor="t">
            <a:noAutofit/>
          </a:bodyPr>
          <a:lstStyle/>
          <a:p>
            <a:pPr algn="l"/>
            <a:r>
              <a:rPr sz="1500" b="0" i="0">
                <a:solidFill>
                  <a:srgbClr val="7C3AED"/>
                </a:solidFill>
                <a:latin typeface="Roboto Condensed SemiBold"/>
              </a:rPr>
              <a:t>0–12 MONTHS</a:t>
            </a:r>
          </a:p>
        </p:txBody>
      </p:sp>
      <p:sp>
        <p:nvSpPr>
          <p:cNvPr id="17" name="TextBox 16"/>
          <p:cNvSpPr txBox="1"/>
          <p:nvPr/>
        </p:nvSpPr>
        <p:spPr>
          <a:xfrm>
            <a:off x="1097280" y="3895344"/>
            <a:ext cx="3749040" cy="475488"/>
          </a:xfrm>
          <a:prstGeom prst="rect">
            <a:avLst/>
          </a:prstGeom>
          <a:noFill/>
        </p:spPr>
        <p:txBody>
          <a:bodyPr wrap="square" lIns="0" tIns="0" rIns="0" bIns="0" anchor="t">
            <a:noAutofit/>
          </a:bodyPr>
          <a:lstStyle/>
          <a:p>
            <a:pPr algn="l"/>
            <a:r>
              <a:rPr sz="2300" b="1" i="0">
                <a:solidFill>
                  <a:srgbClr val="172033"/>
                </a:solidFill>
                <a:latin typeface="Roboto Condensed"/>
              </a:rPr>
              <a:t>Prove repeat use</a:t>
            </a:r>
          </a:p>
        </p:txBody>
      </p:sp>
      <p:sp>
        <p:nvSpPr>
          <p:cNvPr id="18" name="TextBox 17"/>
          <p:cNvSpPr txBox="1"/>
          <p:nvPr/>
        </p:nvSpPr>
        <p:spPr>
          <a:xfrm>
            <a:off x="1097280" y="4389120"/>
            <a:ext cx="3657600" cy="658368"/>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48 paid sessions · ≥20% repeat · Rp77.4M base case</a:t>
            </a:r>
          </a:p>
        </p:txBody>
      </p:sp>
      <p:sp>
        <p:nvSpPr>
          <p:cNvPr id="19" name="Oval 18"/>
          <p:cNvSpPr/>
          <p:nvPr/>
        </p:nvSpPr>
        <p:spPr>
          <a:xfrm>
            <a:off x="5248656" y="3099815"/>
            <a:ext cx="292608" cy="292608"/>
          </a:xfrm>
          <a:prstGeom prst="ellipse">
            <a:avLst/>
          </a:prstGeom>
          <a:solidFill>
            <a:srgbClr val="527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120640" y="3566160"/>
            <a:ext cx="3749040" cy="329184"/>
          </a:xfrm>
          <a:prstGeom prst="rect">
            <a:avLst/>
          </a:prstGeom>
          <a:noFill/>
        </p:spPr>
        <p:txBody>
          <a:bodyPr wrap="square" lIns="0" tIns="0" rIns="0" bIns="0" anchor="t">
            <a:noAutofit/>
          </a:bodyPr>
          <a:lstStyle/>
          <a:p>
            <a:pPr algn="l"/>
            <a:r>
              <a:rPr sz="1500" b="0" i="0">
                <a:solidFill>
                  <a:srgbClr val="7C3AED"/>
                </a:solidFill>
                <a:latin typeface="Roboto Condensed SemiBold"/>
              </a:rPr>
              <a:t>YEARS 1–3</a:t>
            </a:r>
          </a:p>
        </p:txBody>
      </p:sp>
      <p:sp>
        <p:nvSpPr>
          <p:cNvPr id="21" name="TextBox 20"/>
          <p:cNvSpPr txBox="1"/>
          <p:nvPr/>
        </p:nvSpPr>
        <p:spPr>
          <a:xfrm>
            <a:off x="5120640" y="3895344"/>
            <a:ext cx="3749040" cy="475488"/>
          </a:xfrm>
          <a:prstGeom prst="rect">
            <a:avLst/>
          </a:prstGeom>
          <a:noFill/>
        </p:spPr>
        <p:txBody>
          <a:bodyPr wrap="square" lIns="0" tIns="0" rIns="0" bIns="0" anchor="t">
            <a:noAutofit/>
          </a:bodyPr>
          <a:lstStyle/>
          <a:p>
            <a:pPr algn="l"/>
            <a:r>
              <a:rPr sz="2300" b="1" i="0">
                <a:solidFill>
                  <a:srgbClr val="172033"/>
                </a:solidFill>
                <a:latin typeface="Roboto Condensed"/>
              </a:rPr>
              <a:t>Scale distribution</a:t>
            </a:r>
          </a:p>
        </p:txBody>
      </p:sp>
      <p:sp>
        <p:nvSpPr>
          <p:cNvPr id="22" name="TextBox 21"/>
          <p:cNvSpPr txBox="1"/>
          <p:nvPr/>
        </p:nvSpPr>
        <p:spPr>
          <a:xfrm>
            <a:off x="5120640" y="4389120"/>
            <a:ext cx="3657600" cy="658368"/>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More worlds, school networks, ASEAN localisation</a:t>
            </a:r>
          </a:p>
        </p:txBody>
      </p:sp>
      <p:sp>
        <p:nvSpPr>
          <p:cNvPr id="23" name="Oval 22"/>
          <p:cNvSpPr/>
          <p:nvPr/>
        </p:nvSpPr>
        <p:spPr>
          <a:xfrm>
            <a:off x="9272016" y="3099815"/>
            <a:ext cx="292608" cy="292608"/>
          </a:xfrm>
          <a:prstGeom prst="ellipse">
            <a:avLst/>
          </a:prstGeom>
          <a:solidFill>
            <a:srgbClr val="527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0" y="3566160"/>
            <a:ext cx="3749040" cy="329184"/>
          </a:xfrm>
          <a:prstGeom prst="rect">
            <a:avLst/>
          </a:prstGeom>
          <a:noFill/>
        </p:spPr>
        <p:txBody>
          <a:bodyPr wrap="square" lIns="0" tIns="0" rIns="0" bIns="0" anchor="t">
            <a:noAutofit/>
          </a:bodyPr>
          <a:lstStyle/>
          <a:p>
            <a:pPr algn="l"/>
            <a:r>
              <a:rPr sz="1500" b="0" i="0">
                <a:solidFill>
                  <a:srgbClr val="7C3AED"/>
                </a:solidFill>
                <a:latin typeface="Roboto Condensed SemiBold"/>
              </a:rPr>
              <a:t>YEARS 3–5</a:t>
            </a:r>
          </a:p>
        </p:txBody>
      </p:sp>
      <p:sp>
        <p:nvSpPr>
          <p:cNvPr id="25" name="TextBox 24"/>
          <p:cNvSpPr txBox="1"/>
          <p:nvPr/>
        </p:nvSpPr>
        <p:spPr>
          <a:xfrm>
            <a:off x="9144000" y="3895344"/>
            <a:ext cx="3749040" cy="475488"/>
          </a:xfrm>
          <a:prstGeom prst="rect">
            <a:avLst/>
          </a:prstGeom>
          <a:noFill/>
        </p:spPr>
        <p:txBody>
          <a:bodyPr wrap="square" lIns="0" tIns="0" rIns="0" bIns="0" anchor="t">
            <a:noAutofit/>
          </a:bodyPr>
          <a:lstStyle/>
          <a:p>
            <a:pPr algn="l"/>
            <a:r>
              <a:rPr sz="2300" b="1" i="0">
                <a:solidFill>
                  <a:srgbClr val="172033"/>
                </a:solidFill>
                <a:latin typeface="Roboto Condensed"/>
              </a:rPr>
              <a:t>Content &amp; IP platform</a:t>
            </a:r>
          </a:p>
        </p:txBody>
      </p:sp>
      <p:sp>
        <p:nvSpPr>
          <p:cNvPr id="26" name="TextBox 25"/>
          <p:cNvSpPr txBox="1"/>
          <p:nvPr/>
        </p:nvSpPr>
        <p:spPr>
          <a:xfrm>
            <a:off x="9144000" y="4389120"/>
            <a:ext cx="3657600" cy="658368"/>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Licensing, partner content, regional institutions</a:t>
            </a:r>
          </a:p>
        </p:txBody>
      </p:sp>
      <p:sp>
        <p:nvSpPr>
          <p:cNvPr id="27" name="Oval 26"/>
          <p:cNvSpPr/>
          <p:nvPr/>
        </p:nvSpPr>
        <p:spPr>
          <a:xfrm>
            <a:off x="13240512" y="3044951"/>
            <a:ext cx="402336" cy="40233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3167360" y="3566160"/>
            <a:ext cx="3749040" cy="329184"/>
          </a:xfrm>
          <a:prstGeom prst="rect">
            <a:avLst/>
          </a:prstGeom>
          <a:noFill/>
        </p:spPr>
        <p:txBody>
          <a:bodyPr wrap="square" lIns="0" tIns="0" rIns="0" bIns="0" anchor="t">
            <a:noAutofit/>
          </a:bodyPr>
          <a:lstStyle/>
          <a:p>
            <a:pPr algn="l"/>
            <a:r>
              <a:rPr sz="1500" b="0" i="0">
                <a:solidFill>
                  <a:srgbClr val="7C3AED"/>
                </a:solidFill>
                <a:latin typeface="Roboto Condensed SemiBold"/>
              </a:rPr>
              <a:t>YEAR 5+</a:t>
            </a:r>
          </a:p>
        </p:txBody>
      </p:sp>
      <p:sp>
        <p:nvSpPr>
          <p:cNvPr id="29" name="TextBox 28"/>
          <p:cNvSpPr txBox="1"/>
          <p:nvPr/>
        </p:nvSpPr>
        <p:spPr>
          <a:xfrm>
            <a:off x="13167360" y="3895344"/>
            <a:ext cx="3749040" cy="475488"/>
          </a:xfrm>
          <a:prstGeom prst="rect">
            <a:avLst/>
          </a:prstGeom>
          <a:noFill/>
        </p:spPr>
        <p:txBody>
          <a:bodyPr wrap="square" lIns="0" tIns="0" rIns="0" bIns="0" anchor="t">
            <a:noAutofit/>
          </a:bodyPr>
          <a:lstStyle/>
          <a:p>
            <a:pPr algn="l"/>
            <a:r>
              <a:rPr sz="2300" b="1" i="0">
                <a:solidFill>
                  <a:srgbClr val="172033"/>
                </a:solidFill>
                <a:latin typeface="Roboto Condensed"/>
              </a:rPr>
              <a:t>Exit window</a:t>
            </a:r>
          </a:p>
        </p:txBody>
      </p:sp>
      <p:sp>
        <p:nvSpPr>
          <p:cNvPr id="30" name="TextBox 29"/>
          <p:cNvSpPr txBox="1"/>
          <p:nvPr/>
        </p:nvSpPr>
        <p:spPr>
          <a:xfrm>
            <a:off x="13167360" y="4389120"/>
            <a:ext cx="3657600" cy="658368"/>
          </a:xfrm>
          <a:prstGeom prst="rect">
            <a:avLst/>
          </a:prstGeom>
          <a:noFill/>
        </p:spPr>
        <p:txBody>
          <a:bodyPr wrap="square" lIns="0" tIns="0" rIns="0" bIns="0" anchor="t">
            <a:noAutofit/>
          </a:bodyPr>
          <a:lstStyle/>
          <a:p>
            <a:pPr algn="l">
              <a:lnSpc>
                <a:spcPct val="100000"/>
              </a:lnSpc>
            </a:pPr>
            <a:r>
              <a:rPr sz="1600" b="0" i="0">
                <a:solidFill>
                  <a:srgbClr val="172033"/>
                </a:solidFill>
                <a:latin typeface="Roboto Condensed"/>
              </a:rPr>
              <a:t>Strategic acquisition or later-stage buyout</a:t>
            </a:r>
          </a:p>
        </p:txBody>
      </p:sp>
      <p:sp>
        <p:nvSpPr>
          <p:cNvPr id="31" name="Rounded Rectangle 30"/>
          <p:cNvSpPr/>
          <p:nvPr/>
        </p:nvSpPr>
        <p:spPr>
          <a:xfrm>
            <a:off x="1097280" y="5394960"/>
            <a:ext cx="3803904" cy="3255264"/>
          </a:xfrm>
          <a:prstGeom prst="roundRect">
            <a:avLst>
              <a:gd name="adj" fmla="val 8988"/>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1389888" y="5669280"/>
            <a:ext cx="1504696" cy="43891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400" b="0" i="0">
                <a:solidFill>
                  <a:srgbClr val="5B21B6"/>
                </a:solidFill>
                <a:latin typeface="Roboto Condensed SemiBold"/>
              </a:rPr>
              <a:t>PRIMARY</a:t>
            </a:r>
          </a:p>
        </p:txBody>
      </p:sp>
      <p:sp>
        <p:nvSpPr>
          <p:cNvPr id="33" name="TextBox 32"/>
          <p:cNvSpPr txBox="1"/>
          <p:nvPr/>
        </p:nvSpPr>
        <p:spPr>
          <a:xfrm>
            <a:off x="1389888" y="6309360"/>
            <a:ext cx="3218688" cy="548640"/>
          </a:xfrm>
          <a:prstGeom prst="rect">
            <a:avLst/>
          </a:prstGeom>
          <a:noFill/>
        </p:spPr>
        <p:txBody>
          <a:bodyPr wrap="square" lIns="0" tIns="0" rIns="0" bIns="0" anchor="t">
            <a:noAutofit/>
          </a:bodyPr>
          <a:lstStyle/>
          <a:p>
            <a:pPr algn="l"/>
            <a:r>
              <a:rPr sz="2400" b="1" i="0">
                <a:solidFill>
                  <a:srgbClr val="FFFFFF"/>
                </a:solidFill>
                <a:latin typeface="Roboto Condensed"/>
              </a:rPr>
              <a:t>Strategic acquisition</a:t>
            </a:r>
          </a:p>
        </p:txBody>
      </p:sp>
      <p:sp>
        <p:nvSpPr>
          <p:cNvPr id="34" name="TextBox 33"/>
          <p:cNvSpPr txBox="1"/>
          <p:nvPr/>
        </p:nvSpPr>
        <p:spPr>
          <a:xfrm>
            <a:off x="1389888" y="6931152"/>
            <a:ext cx="3218688" cy="1645920"/>
          </a:xfrm>
          <a:prstGeom prst="rect">
            <a:avLst/>
          </a:prstGeom>
          <a:noFill/>
        </p:spPr>
        <p:txBody>
          <a:bodyPr wrap="square" lIns="0" tIns="0" rIns="0" bIns="0" anchor="t">
            <a:noAutofit/>
          </a:bodyPr>
          <a:lstStyle/>
          <a:p>
            <a:pPr algn="l">
              <a:lnSpc>
                <a:spcPct val="108000"/>
              </a:lnSpc>
            </a:pPr>
            <a:r>
              <a:rPr sz="1700" b="0" i="0">
                <a:solidFill>
                  <a:srgbClr val="EDE9FE"/>
                </a:solidFill>
                <a:latin typeface="Roboto Condensed"/>
              </a:rPr>
              <a:t>Edtech platforms, children’s publishers, stationery and toy brands, or media / IP companies gain a ready engine, a content library, and school distribution.</a:t>
            </a:r>
          </a:p>
        </p:txBody>
      </p:sp>
      <p:sp>
        <p:nvSpPr>
          <p:cNvPr id="35" name="Rounded Rectangle 34"/>
          <p:cNvSpPr/>
          <p:nvPr/>
        </p:nvSpPr>
        <p:spPr>
          <a:xfrm>
            <a:off x="5193792" y="5394960"/>
            <a:ext cx="3803904" cy="3255264"/>
          </a:xfrm>
          <a:prstGeom prst="roundRect">
            <a:avLst>
              <a:gd name="adj" fmla="val 8988"/>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5486400" y="5669280"/>
            <a:ext cx="1383792" cy="438912"/>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400" b="0" i="0">
                <a:solidFill>
                  <a:srgbClr val="5B21B6"/>
                </a:solidFill>
                <a:latin typeface="Roboto Condensed SemiBold"/>
              </a:rPr>
              <a:t>BRIDGE</a:t>
            </a:r>
          </a:p>
        </p:txBody>
      </p:sp>
      <p:sp>
        <p:nvSpPr>
          <p:cNvPr id="37" name="TextBox 36"/>
          <p:cNvSpPr txBox="1"/>
          <p:nvPr/>
        </p:nvSpPr>
        <p:spPr>
          <a:xfrm>
            <a:off x="5486400" y="6309360"/>
            <a:ext cx="3218688" cy="548640"/>
          </a:xfrm>
          <a:prstGeom prst="rect">
            <a:avLst/>
          </a:prstGeom>
          <a:noFill/>
        </p:spPr>
        <p:txBody>
          <a:bodyPr wrap="square" lIns="0" tIns="0" rIns="0" bIns="0" anchor="t">
            <a:noAutofit/>
          </a:bodyPr>
          <a:lstStyle/>
          <a:p>
            <a:pPr algn="l"/>
            <a:r>
              <a:rPr sz="2400" b="1" i="0">
                <a:solidFill>
                  <a:srgbClr val="172033"/>
                </a:solidFill>
                <a:latin typeface="Roboto Condensed"/>
              </a:rPr>
              <a:t>Licensing &amp; partnerships</a:t>
            </a:r>
          </a:p>
        </p:txBody>
      </p:sp>
      <p:sp>
        <p:nvSpPr>
          <p:cNvPr id="38" name="TextBox 37"/>
          <p:cNvSpPr txBox="1"/>
          <p:nvPr/>
        </p:nvSpPr>
        <p:spPr>
          <a:xfrm>
            <a:off x="5486400" y="6931152"/>
            <a:ext cx="3218688" cy="1645920"/>
          </a:xfrm>
          <a:prstGeom prst="rect">
            <a:avLst/>
          </a:prstGeom>
          <a:noFill/>
        </p:spPr>
        <p:txBody>
          <a:bodyPr wrap="square" lIns="0" tIns="0" rIns="0" bIns="0" anchor="t">
            <a:noAutofit/>
          </a:bodyPr>
          <a:lstStyle/>
          <a:p>
            <a:pPr algn="l">
              <a:lnSpc>
                <a:spcPct val="108000"/>
              </a:lnSpc>
            </a:pPr>
            <a:r>
              <a:rPr sz="1700" b="0" i="0">
                <a:solidFill>
                  <a:srgbClr val="172033"/>
                </a:solidFill>
                <a:latin typeface="Roboto Condensed"/>
              </a:rPr>
              <a:t>License the engine and worlds to brands and publishers: revenue now, acquirer relationships later.</a:t>
            </a:r>
          </a:p>
        </p:txBody>
      </p:sp>
      <p:sp>
        <p:nvSpPr>
          <p:cNvPr id="39" name="Rounded Rectangle 38"/>
          <p:cNvSpPr/>
          <p:nvPr/>
        </p:nvSpPr>
        <p:spPr>
          <a:xfrm>
            <a:off x="9290304" y="5394960"/>
            <a:ext cx="3803904" cy="3255264"/>
          </a:xfrm>
          <a:prstGeom prst="roundRect">
            <a:avLst>
              <a:gd name="adj" fmla="val 8988"/>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9582912" y="5669280"/>
            <a:ext cx="1988312" cy="438912"/>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400" b="0" i="0">
                <a:solidFill>
                  <a:srgbClr val="5B21B6"/>
                </a:solidFill>
                <a:latin typeface="Roboto Condensed SemiBold"/>
              </a:rPr>
              <a:t>ALTERNATIVE</a:t>
            </a:r>
          </a:p>
        </p:txBody>
      </p:sp>
      <p:sp>
        <p:nvSpPr>
          <p:cNvPr id="41" name="TextBox 40"/>
          <p:cNvSpPr txBox="1"/>
          <p:nvPr/>
        </p:nvSpPr>
        <p:spPr>
          <a:xfrm>
            <a:off x="9582912" y="6309360"/>
            <a:ext cx="3218688" cy="548640"/>
          </a:xfrm>
          <a:prstGeom prst="rect">
            <a:avLst/>
          </a:prstGeom>
          <a:noFill/>
        </p:spPr>
        <p:txBody>
          <a:bodyPr wrap="square" lIns="0" tIns="0" rIns="0" bIns="0" anchor="t">
            <a:noAutofit/>
          </a:bodyPr>
          <a:lstStyle/>
          <a:p>
            <a:pPr algn="l"/>
            <a:r>
              <a:rPr sz="2400" b="1" i="0">
                <a:solidFill>
                  <a:srgbClr val="172033"/>
                </a:solidFill>
                <a:latin typeface="Roboto Condensed"/>
              </a:rPr>
              <a:t>Secondary sale</a:t>
            </a:r>
          </a:p>
        </p:txBody>
      </p:sp>
      <p:sp>
        <p:nvSpPr>
          <p:cNvPr id="42" name="TextBox 41"/>
          <p:cNvSpPr txBox="1"/>
          <p:nvPr/>
        </p:nvSpPr>
        <p:spPr>
          <a:xfrm>
            <a:off x="9582912" y="6931152"/>
            <a:ext cx="3218688" cy="1645920"/>
          </a:xfrm>
          <a:prstGeom prst="rect">
            <a:avLst/>
          </a:prstGeom>
          <a:noFill/>
        </p:spPr>
        <p:txBody>
          <a:bodyPr wrap="square" lIns="0" tIns="0" rIns="0" bIns="0" anchor="t">
            <a:noAutofit/>
          </a:bodyPr>
          <a:lstStyle/>
          <a:p>
            <a:pPr algn="l">
              <a:lnSpc>
                <a:spcPct val="108000"/>
              </a:lnSpc>
            </a:pPr>
            <a:r>
              <a:rPr sz="1700" b="0" i="0">
                <a:solidFill>
                  <a:srgbClr val="172033"/>
                </a:solidFill>
                <a:latin typeface="Roboto Condensed"/>
              </a:rPr>
              <a:t>Later-stage investors buy early shareholders out as Scanvas scales across ASEAN.</a:t>
            </a:r>
          </a:p>
        </p:txBody>
      </p:sp>
      <p:sp>
        <p:nvSpPr>
          <p:cNvPr id="43" name="Rounded Rectangle 42"/>
          <p:cNvSpPr/>
          <p:nvPr/>
        </p:nvSpPr>
        <p:spPr>
          <a:xfrm>
            <a:off x="13386816" y="5394960"/>
            <a:ext cx="3803904" cy="3255264"/>
          </a:xfrm>
          <a:prstGeom prst="roundRect">
            <a:avLst>
              <a:gd name="adj" fmla="val 8988"/>
            </a:avLst>
          </a:prstGeom>
          <a:solidFill>
            <a:srgbClr val="FFFFFF"/>
          </a:solidFill>
          <a:ln w="19050">
            <a:solidFill>
              <a:srgbClr val="D9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13679424" y="5669280"/>
            <a:ext cx="1746504" cy="438912"/>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wrap="square" lIns="219456" tIns="0" rIns="182880" bIns="0" rtlCol="0" anchor="ctr">
            <a:noAutofit/>
          </a:bodyPr>
          <a:lstStyle/>
          <a:p>
            <a:pPr algn="ctr"/>
            <a:r>
              <a:rPr sz="1400" b="0" i="0">
                <a:solidFill>
                  <a:srgbClr val="5B21B6"/>
                </a:solidFill>
                <a:latin typeface="Roboto Condensed SemiBold"/>
              </a:rPr>
              <a:t>LONG-TERM</a:t>
            </a:r>
          </a:p>
        </p:txBody>
      </p:sp>
      <p:sp>
        <p:nvSpPr>
          <p:cNvPr id="45" name="TextBox 44"/>
          <p:cNvSpPr txBox="1"/>
          <p:nvPr/>
        </p:nvSpPr>
        <p:spPr>
          <a:xfrm>
            <a:off x="13679424" y="6309360"/>
            <a:ext cx="3218688" cy="548640"/>
          </a:xfrm>
          <a:prstGeom prst="rect">
            <a:avLst/>
          </a:prstGeom>
          <a:noFill/>
        </p:spPr>
        <p:txBody>
          <a:bodyPr wrap="square" lIns="0" tIns="0" rIns="0" bIns="0" anchor="t">
            <a:noAutofit/>
          </a:bodyPr>
          <a:lstStyle/>
          <a:p>
            <a:pPr algn="l"/>
            <a:r>
              <a:rPr sz="2400" b="1" i="0">
                <a:solidFill>
                  <a:srgbClr val="172033"/>
                </a:solidFill>
                <a:latin typeface="Roboto Condensed"/>
              </a:rPr>
              <a:t>IPO</a:t>
            </a:r>
          </a:p>
        </p:txBody>
      </p:sp>
      <p:sp>
        <p:nvSpPr>
          <p:cNvPr id="46" name="TextBox 45"/>
          <p:cNvSpPr txBox="1"/>
          <p:nvPr/>
        </p:nvSpPr>
        <p:spPr>
          <a:xfrm>
            <a:off x="13679424" y="6931152"/>
            <a:ext cx="3218688" cy="1645920"/>
          </a:xfrm>
          <a:prstGeom prst="rect">
            <a:avLst/>
          </a:prstGeom>
          <a:noFill/>
        </p:spPr>
        <p:txBody>
          <a:bodyPr wrap="square" lIns="0" tIns="0" rIns="0" bIns="0" anchor="t">
            <a:noAutofit/>
          </a:bodyPr>
          <a:lstStyle/>
          <a:p>
            <a:pPr algn="l">
              <a:lnSpc>
                <a:spcPct val="108000"/>
              </a:lnSpc>
            </a:pPr>
            <a:r>
              <a:rPr sz="1700" b="0" i="0">
                <a:solidFill>
                  <a:srgbClr val="172033"/>
                </a:solidFill>
                <a:latin typeface="Roboto Condensed"/>
              </a:rPr>
              <a:t>Only at regional scale; not part of the near-term plan.</a:t>
            </a:r>
          </a:p>
        </p:txBody>
      </p:sp>
      <p:sp>
        <p:nvSpPr>
          <p:cNvPr id="47" name="Rounded Rectangle 46"/>
          <p:cNvSpPr/>
          <p:nvPr/>
        </p:nvSpPr>
        <p:spPr>
          <a:xfrm>
            <a:off x="1097280" y="8887968"/>
            <a:ext cx="16093440" cy="658368"/>
          </a:xfrm>
          <a:prstGeom prst="roundRect">
            <a:avLst>
              <a:gd name="adj" fmla="val 50000"/>
            </a:avLst>
          </a:prstGeom>
          <a:solidFill>
            <a:srgbClr val="EDE9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371600" y="8887968"/>
            <a:ext cx="15544800" cy="658368"/>
          </a:xfrm>
          <a:prstGeom prst="rect">
            <a:avLst/>
          </a:prstGeom>
          <a:noFill/>
        </p:spPr>
        <p:txBody>
          <a:bodyPr wrap="square" lIns="0" tIns="0" rIns="0" bIns="0" anchor="ctr">
            <a:noAutofit/>
          </a:bodyPr>
          <a:lstStyle/>
          <a:p>
            <a:pPr algn="ctr"/>
            <a:r>
              <a:rPr sz="1800" b="0" i="0">
                <a:solidFill>
                  <a:srgbClr val="5B21B6"/>
                </a:solidFill>
                <a:latin typeface="Roboto Condensed SemiBold"/>
              </a:rPr>
              <a:t>What makes Scanvas acquirable: reusable world engine · child-generated content format · institutional distribution · privacy-by-design child data</a:t>
            </a:r>
          </a:p>
        </p:txBody>
      </p:sp>
      <p:sp>
        <p:nvSpPr>
          <p:cNvPr id="49" name="TextBox 48"/>
          <p:cNvSpPr txBox="1"/>
          <p:nvPr/>
        </p:nvSpPr>
        <p:spPr>
          <a:xfrm>
            <a:off x="10241280" y="603504"/>
            <a:ext cx="6949440" cy="365760"/>
          </a:xfrm>
          <a:prstGeom prst="rect">
            <a:avLst/>
          </a:prstGeom>
          <a:noFill/>
        </p:spPr>
        <p:txBody>
          <a:bodyPr wrap="square" lIns="0" tIns="0" rIns="0" bIns="0" anchor="ctr">
            <a:noAutofit/>
          </a:bodyPr>
          <a:lstStyle/>
          <a:p>
            <a:pPr algn="r"/>
            <a:r>
              <a:rPr sz="1500" b="0" i="0">
                <a:solidFill>
                  <a:srgbClr val="5271FF"/>
                </a:solidFill>
                <a:latin typeface="Roboto Condensed SemiBold"/>
              </a:rPr>
              <a:t>APPENDIX · EXIT STRATEGY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3059</Words>
  <Application>Microsoft Office PowerPoint</Application>
  <PresentationFormat>Custom</PresentationFormat>
  <Paragraphs>430</Paragraphs>
  <Slides>19</Slides>
  <Notes>18</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Roboto Condensed SemiBold</vt:lpstr>
      <vt:lpstr>Calibri</vt:lpstr>
      <vt:lpstr>Arial</vt:lpstr>
      <vt:lpstr>Roboto Condensed</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ITEC PITCH DECK</dc:title>
  <cp:lastModifiedBy>Haikal Hilmi</cp:lastModifiedBy>
  <cp:revision>2</cp:revision>
  <dcterms:created xsi:type="dcterms:W3CDTF">2006-08-16T00:00:00Z</dcterms:created>
  <dcterms:modified xsi:type="dcterms:W3CDTF">2026-10-05T14:11:29Z</dcterms:modified>
  <dc:identifier>DAFt2xZYbnU</dc:identifier>
</cp:coreProperties>
</file>