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Roboto Condensed" panose="02000000000000000000" pitchFamily="2" charset="0"/>
      <p:regular r:id="rId22"/>
      <p:bold r:id="rId23"/>
    </p:embeddedFont>
    <p:embeddedFont>
      <p:font typeface="Roboto Condensed SemiBold" panose="02000000000000000000" pitchFamily="2" charset="0"/>
      <p:bold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38" autoAdjust="0"/>
  </p:normalViewPr>
  <p:slideViewPr>
    <p:cSldViewPr>
      <p:cViewPr varScale="1">
        <p:scale>
          <a:sx n="78" d="100"/>
          <a:sy n="78" d="100"/>
        </p:scale>
        <p:origin x="5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08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0:15 · Scanvas: where children’s creativity comes alive. I am Salsabila, co-founder and CMO; with me is Haikal, our CEO.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0:35 · Physical creativity ends with the page; screens are passive; learning and creating stay separate. What if the child’s own creation became the starting point? (No learning-outcome claims.)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0:25 · Color, scan, come alive, explore and learn. The child creates first; technology extends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0:55 incl. video · Say before playing: "This video shows our digital trial. Our physical packs use the same animation experience after children photograph their paper artwork." Backup: the MP4 file assets/video/trial_digital_itec.mp4.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 · 30 children, one TPA pilot, two worlds live, five priorities from feedback: two shipped, three building. Proved: children complete the experience in a real setting. Next: paid demand and repeat use. Pre-revenue.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 · TAM 420,886 PAUD and primary schools in Indonesia; SAM 62,797 in Central Java and DIY; our beachhead is DIY with 7,123, where we already piloted. Buyers: principals, teachers, coordinators; users: children 3–10. Year-1 target: 48 paid sessions, a transaction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0:25 · Faber-Castell, Quiver, WAGZAK need an app; teamLab is a venue. They validate the category. Scanvas combines the child’s artwork, browser access, shared worlds, and a reusable engine. Our question: does this combination create paid, repeat use?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 · B2B first: a managed session for up to 30 children at a test price of Rp1M; we validate paid booking, delivery cost, rebooking. B2C alongside: a family pack at Rp49K via short video, free trial, WhatsApp order. Both prices are test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0:35 · Haikal, CEO with 60%, leads product, strategy, and technology; Salsabila, CMO with 40%, leads brand, customers, and go-to-market. Together: live product, two worlds, first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 · Months 1–3 prove paid demand; months 4–6 prove repeat use; months 7–12 scale what works: 48 sessions, 600 packs, four worlds, Studio, a partner-led localization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0:40 · Test economics: pack Rp49K, direct cost Rp20K, 59%; session Rp1M, direct cost Rp250K, 75%. Base case: 600 packs and 48 sessions, Rp77.4M revenue, Rp53.4M contribution. We need Rp200M for 12 months; half is founder time. CAC and LTV are what this period measures. Full projection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0:40 · Through ITEC: institutional pilot partners, content and localization partners, and a small partner-led Chaoyang pilot: one partner, Mandarin interface and one adapted theme, 20–30 children, then measure and decide. Funded from our GTM and content budget; no broader China rollout before evidence. (No partner or commitment exists yet.)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Initial buyer is the PAUD/TK/TPA owner or organizer; the loop is demo, pilot, paid session, repeat. School counts are the beachhead, not the whole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 Child data is minimised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for 18 months: months 13–18 are not projected yet; the plan is to re-forecast from real conversion, rebooking, and delivery cost after the first six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proposal, not a commitment: no partner exists yet. Funded from the GTM and content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www.scanvas.id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hyperlink" Target="https://www.scanvas.id/trial" TargetMode="External"/><Relationship Id="rId4" Type="http://schemas.openxmlformats.org/officeDocument/2006/relationships/hyperlink" Target="https://www.scanvas.id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97622"/>
            <a:chOff x="0" y="0"/>
            <a:chExt cx="4816593" cy="1310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1061"/>
            </a:xfrm>
            <a:custGeom>
              <a:avLst/>
              <a:gdLst/>
              <a:ahLst/>
              <a:cxnLst/>
              <a:rect l="l" t="t" r="r" b="b"/>
              <a:pathLst>
                <a:path w="4816592" h="131061">
                  <a:moveTo>
                    <a:pt x="0" y="0"/>
                  </a:moveTo>
                  <a:lnTo>
                    <a:pt x="4816592" y="0"/>
                  </a:lnTo>
                  <a:lnTo>
                    <a:pt x="4816592" y="131061"/>
                  </a:lnTo>
                  <a:lnTo>
                    <a:pt x="0" y="131061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69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862471"/>
            <a:ext cx="18288000" cy="673340"/>
            <a:chOff x="0" y="0"/>
            <a:chExt cx="24384000" cy="89778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304520" y="1508760"/>
            <a:ext cx="3977640" cy="2861158"/>
            <a:chOff x="0" y="0"/>
            <a:chExt cx="5303520" cy="3814877"/>
          </a:xfrm>
        </p:grpSpPr>
        <p:sp>
          <p:nvSpPr>
            <p:cNvPr id="17" name="Freeform 17" descr="assets/itec_logo.png"/>
            <p:cNvSpPr/>
            <p:nvPr/>
          </p:nvSpPr>
          <p:spPr>
            <a:xfrm>
              <a:off x="0" y="0"/>
              <a:ext cx="5303520" cy="3814826"/>
            </a:xfrm>
            <a:custGeom>
              <a:avLst/>
              <a:gdLst/>
              <a:ahLst/>
              <a:cxnLst/>
              <a:rect l="l" t="t" r="r" b="b"/>
              <a:pathLst>
                <a:path w="5303520" h="3814826">
                  <a:moveTo>
                    <a:pt x="0" y="0"/>
                  </a:moveTo>
                  <a:lnTo>
                    <a:pt x="5303520" y="0"/>
                  </a:lnTo>
                  <a:lnTo>
                    <a:pt x="5303520" y="3814826"/>
                  </a:lnTo>
                  <a:lnTo>
                    <a:pt x="0" y="3814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" b="-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 descr="Scanva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097280"/>
            <a:ext cx="905307" cy="914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6736" y="2267712"/>
            <a:ext cx="73152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5271FF"/>
                </a:solidFill>
                <a:latin typeface="Roboto Condensed SemiBold"/>
              </a:rPr>
              <a:t>PITCH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43200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200" b="1" i="0">
                <a:solidFill>
                  <a:srgbClr val="172033"/>
                </a:solidFill>
                <a:latin typeface="Roboto Condensed"/>
              </a:rPr>
              <a:t>SCANVAS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51376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7C3AED"/>
                </a:solidFill>
                <a:latin typeface="Roboto Condensed"/>
              </a:rPr>
              <a:t>Where Children’s Creativity</a:t>
            </a:r>
            <a:br/>
            <a:r>
              <a:rPr sz="3600" b="1" i="0">
                <a:solidFill>
                  <a:srgbClr val="7C3AED"/>
                </a:solidFill>
                <a:latin typeface="Roboto Condensed"/>
              </a:rPr>
              <a:t>Comes Alive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5394960"/>
            <a:ext cx="6858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400" b="0" i="0">
                <a:solidFill>
                  <a:srgbClr val="172033"/>
                </a:solidFill>
                <a:latin typeface="Roboto Condensed"/>
              </a:rPr>
              <a:t>Children turn their paper artwork into interactive characters and learning experiences, directly in the browser.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7059168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Haikal Hilmi</a:t>
            </a:r>
            <a:r>
              <a:rPr sz="1800" b="0" i="0">
                <a:solidFill>
                  <a:srgbClr val="172033"/>
                </a:solidFill>
                <a:latin typeface="Roboto Condensed"/>
              </a:rPr>
              <a:t>  —  CEO &amp; Co-Founder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7552944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 SemiBold"/>
              </a:rPr>
              <a:t>Salsabila Khoirunnisa</a:t>
            </a:r>
            <a:r>
              <a:rPr sz="1800" b="0" i="0">
                <a:solidFill>
                  <a:srgbClr val="172033"/>
                </a:solidFill>
                <a:latin typeface="Roboto Condensed"/>
              </a:rPr>
              <a:t>  —  CMO &amp; Co-Founder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8193024"/>
            <a:ext cx="71323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5271FF"/>
                </a:solidFill>
                <a:latin typeface="Roboto Condensed SemiBold"/>
              </a:rPr>
              <a:t>ITEC SEA 2026 · Digital Culture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8668512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Roboto Condensed"/>
                <a:hlinkClick r:id="rId5"/>
              </a:rPr>
              <a:t>scanvas.id</a:t>
            </a:r>
          </a:p>
        </p:txBody>
      </p:sp>
      <p:pic>
        <p:nvPicPr>
          <p:cNvPr id="27" name="Picture 26" descr="A child-colored Scanvas whale she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920240"/>
            <a:ext cx="4663440" cy="4582637"/>
          </a:xfrm>
          <a:prstGeom prst="rect">
            <a:avLst/>
          </a:prstGeom>
        </p:spPr>
      </p:pic>
      <p:sp>
        <p:nvSpPr>
          <p:cNvPr id="28" name="Chevron 27"/>
          <p:cNvSpPr/>
          <p:nvPr/>
        </p:nvSpPr>
        <p:spPr>
          <a:xfrm>
            <a:off x="12947904" y="5760720"/>
            <a:ext cx="292608" cy="6217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258800" y="5029200"/>
            <a:ext cx="4023360" cy="402336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The same whale swimming in the Scanvas ocean wor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35456" y="4480560"/>
            <a:ext cx="264848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200" b="1" i="0">
                <a:solidFill>
                  <a:srgbClr val="172033"/>
                </a:solidFill>
                <a:latin typeface="Roboto Condensed"/>
              </a:rPr>
              <a:t>Creativity Starts With the Child, But Often Stops at the Page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231136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1945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PHYSICAL CREATIVITY 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560320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Children draw, color, and imagine, but once the page is finished, the experience often ends.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65760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2102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DIGITAL EXPERIENCES ARE OFTEN PASSIVE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86784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Many digital activities give children ready-made characters to watch, swipe, and consume.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084064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4748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LEARNING AND CREATING STAY SEPARATE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413248"/>
            <a:ext cx="7040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Animals, nature, and other topics are often learned through worksheets or content created by someone else.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6583680"/>
            <a:ext cx="7955279" cy="1792224"/>
          </a:xfrm>
          <a:prstGeom prst="roundRect">
            <a:avLst>
              <a:gd name="adj" fmla="val 1632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parkl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6876288"/>
            <a:ext cx="512064" cy="512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94560" y="6583680"/>
            <a:ext cx="6583680" cy="17922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Roboto Condensed"/>
              </a:rPr>
              <a:t>What if the child’s own creation became the starting point of play and learning?</a:t>
            </a:r>
          </a:p>
        </p:txBody>
      </p:sp>
      <p:pic>
        <p:nvPicPr>
          <p:cNvPr id="25" name="Picture 24" descr="flask-conical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8668512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72768" y="8558784"/>
            <a:ext cx="7498079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21B6"/>
                </a:solidFill>
                <a:latin typeface="Roboto Condensed SemiBold"/>
              </a:rPr>
              <a:t>Tested with 30 children in our first real-world TPA pilot in D.I. Yogyakarta.</a:t>
            </a:r>
          </a:p>
        </p:txBody>
      </p:sp>
      <p:pic>
        <p:nvPicPr>
          <p:cNvPr id="27" name="Picture 26" descr="A child coloring a Scanvas fish sheet in the pil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286000"/>
            <a:ext cx="7680960" cy="4320540"/>
          </a:xfrm>
          <a:prstGeom prst="rect">
            <a:avLst/>
          </a:prstGeom>
        </p:spPr>
      </p:pic>
      <p:pic>
        <p:nvPicPr>
          <p:cNvPr id="28" name="Picture 27" descr="Artwork colored by a child in the pil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6766560"/>
            <a:ext cx="1755648" cy="1755648"/>
          </a:xfrm>
          <a:prstGeom prst="rect">
            <a:avLst/>
          </a:prstGeom>
        </p:spPr>
      </p:pic>
      <p:pic>
        <p:nvPicPr>
          <p:cNvPr id="29" name="Picture 28" descr="Artwork colored by a child in the pil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4864" y="6766560"/>
            <a:ext cx="1755648" cy="1755648"/>
          </a:xfrm>
          <a:prstGeom prst="rect">
            <a:avLst/>
          </a:prstGeom>
        </p:spPr>
      </p:pic>
      <p:pic>
        <p:nvPicPr>
          <p:cNvPr id="30" name="Picture 29" descr="Artwork colored by a child in the pil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59968" y="6766560"/>
            <a:ext cx="1755648" cy="1755648"/>
          </a:xfrm>
          <a:prstGeom prst="rect">
            <a:avLst/>
          </a:prstGeom>
        </p:spPr>
      </p:pic>
      <p:pic>
        <p:nvPicPr>
          <p:cNvPr id="31" name="Picture 30" descr="Artwork colored by a child in the pilo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35072" y="6766560"/>
            <a:ext cx="1755648" cy="17556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60" y="8631936"/>
            <a:ext cx="76809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From our pilot at a TPA in D.I. Yogyakarta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172033"/>
                </a:solidFill>
                <a:latin typeface="Roboto Condensed"/>
              </a:rPr>
              <a:t>Their Artwork Becomes the Character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3621024" cy="3749039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627653"/>
            <a:ext cx="3511296" cy="3431493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950976" y="2249424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473952"/>
            <a:ext cx="36210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5B21B6"/>
                </a:solidFill>
                <a:latin typeface="Roboto Condensed"/>
              </a:rPr>
              <a:t>COLOR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7059168"/>
            <a:ext cx="36210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Create on a printed Scanvas sheet.</a:t>
            </a:r>
          </a:p>
        </p:txBody>
      </p:sp>
      <p:sp>
        <p:nvSpPr>
          <p:cNvPr id="18" name="Chevron 17"/>
          <p:cNvSpPr/>
          <p:nvPr/>
        </p:nvSpPr>
        <p:spPr>
          <a:xfrm>
            <a:off x="4882896" y="4087368"/>
            <a:ext cx="219456" cy="51206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48656" y="2468880"/>
            <a:ext cx="3621024" cy="3749039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07" y="2560320"/>
            <a:ext cx="1812120" cy="3566159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5102352" y="2249424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6473952"/>
            <a:ext cx="36210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5B21B6"/>
                </a:solidFill>
                <a:latin typeface="Roboto Condensed"/>
              </a:rPr>
              <a:t>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7059168"/>
            <a:ext cx="36210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Photograph or upload the artwork in the browser.</a:t>
            </a:r>
          </a:p>
        </p:txBody>
      </p:sp>
      <p:sp>
        <p:nvSpPr>
          <p:cNvPr id="24" name="Chevron 23"/>
          <p:cNvSpPr/>
          <p:nvPr/>
        </p:nvSpPr>
        <p:spPr>
          <a:xfrm>
            <a:off x="9034272" y="4087368"/>
            <a:ext cx="219456" cy="51206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00032" y="2468880"/>
            <a:ext cx="3621024" cy="3749039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3342680"/>
            <a:ext cx="3511296" cy="2001438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9253728" y="2249424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6473952"/>
            <a:ext cx="36210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5B21B6"/>
                </a:solidFill>
                <a:latin typeface="Roboto Condensed"/>
              </a:rPr>
              <a:t>COME ALIVE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7059168"/>
            <a:ext cx="36210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The child’s own artwork is extracted and animated.</a:t>
            </a:r>
          </a:p>
        </p:txBody>
      </p:sp>
      <p:sp>
        <p:nvSpPr>
          <p:cNvPr id="30" name="Chevron 29"/>
          <p:cNvSpPr/>
          <p:nvPr/>
        </p:nvSpPr>
        <p:spPr>
          <a:xfrm>
            <a:off x="13185647" y="4087368"/>
            <a:ext cx="219456" cy="51206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3551408" y="2468880"/>
            <a:ext cx="3621024" cy="3749039"/>
          </a:xfrm>
          <a:prstGeom prst="roundRect">
            <a:avLst>
              <a:gd name="adj" fmla="val 80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EXPLORE &amp; LEARN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6272" y="3266070"/>
            <a:ext cx="3511296" cy="2154658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13405104" y="2249424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51408" y="6473952"/>
            <a:ext cx="362102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5B21B6"/>
                </a:solidFill>
                <a:latin typeface="Roboto Condensed"/>
              </a:rPr>
              <a:t>EXPLORE &amp; 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51408" y="7059168"/>
            <a:ext cx="36210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2100" b="0" i="0">
                <a:solidFill>
                  <a:srgbClr val="172033"/>
                </a:solidFill>
                <a:latin typeface="Roboto Condensed"/>
              </a:rPr>
              <a:t>It enters an interactive world with movement, sound, stories, and facts.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8522208"/>
            <a:ext cx="16093440" cy="87782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54480" y="8522208"/>
            <a:ext cx="1078992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500" b="1" i="0">
                <a:solidFill>
                  <a:srgbClr val="5B21B6"/>
                </a:solidFill>
                <a:latin typeface="Roboto Condensed"/>
              </a:rPr>
              <a:t>The child creates first. Technology extends what they created.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737644" y="8705088"/>
            <a:ext cx="5178755" cy="51206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8865" tIns="0" rIns="182880" bIns="0" rtlCol="0" anchor="ctr">
            <a:no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Roboto Condensed SemiBold"/>
              </a:rPr>
              <a:t>No app installation required</a:t>
            </a:r>
          </a:p>
        </p:txBody>
      </p:sp>
      <p:pic>
        <p:nvPicPr>
          <p:cNvPr id="39" name="Picture 38" descr="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7100" y="8802380"/>
            <a:ext cx="317479" cy="3174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Rounded Rectangle 11"/>
          <p:cNvSpPr/>
          <p:nvPr/>
        </p:nvSpPr>
        <p:spPr>
          <a:xfrm>
            <a:off x="1097280" y="914400"/>
            <a:ext cx="4107891" cy="51206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8865" tIns="0" rIns="182880" bIns="0" rtlCol="0" anchor="ctr">
            <a:noAutofit/>
          </a:bodyPr>
          <a:lstStyle/>
          <a:p>
            <a:pPr algn="l"/>
            <a:r>
              <a:rPr sz="1600" b="0" i="0">
                <a:solidFill>
                  <a:srgbClr val="15803D"/>
                </a:solidFill>
                <a:latin typeface="Roboto Condensed SemiBold"/>
              </a:rPr>
              <a:t>LIVE DEMO · 37 SECONDS</a:t>
            </a:r>
          </a:p>
        </p:txBody>
      </p:sp>
      <p:pic>
        <p:nvPicPr>
          <p:cNvPr id="13" name="Picture 12" descr="play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736" y="1011692"/>
            <a:ext cx="317479" cy="3174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16459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See Scanvas</a:t>
            </a:r>
            <a:br/>
            <a:r>
              <a:rPr sz="4800" b="1" i="0">
                <a:solidFill>
                  <a:srgbClr val="172033"/>
                </a:solidFill>
                <a:latin typeface="Roboto Condensed"/>
              </a:rPr>
              <a:t>in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28416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Our free digital trial lets families experience the core Scanvas moment before purchasing a physical pack.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9145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LIVE TODAY</a:t>
            </a:r>
          </a:p>
        </p:txBody>
      </p:sp>
      <p:pic>
        <p:nvPicPr>
          <p:cNvPr id="17" name="Picture 16" descr="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5321807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36192" y="5230368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Ocean World</a:t>
            </a:r>
          </a:p>
        </p:txBody>
      </p:sp>
      <p:pic>
        <p:nvPicPr>
          <p:cNvPr id="19" name="Picture 18" descr="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5907023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36192" y="5815583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Vehicle World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6492240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36192" y="6400800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Paper artwork scanning</a:t>
            </a:r>
          </a:p>
        </p:txBody>
      </p:sp>
      <p:pic>
        <p:nvPicPr>
          <p:cNvPr id="23" name="Picture 22" descr="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7077455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36192" y="6986016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Digital coloring trial</a:t>
            </a:r>
          </a:p>
        </p:txBody>
      </p:sp>
      <p:pic>
        <p:nvPicPr>
          <p:cNvPr id="25" name="Picture 24" descr="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7662671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36192" y="7571231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Personalized animation</a:t>
            </a:r>
          </a:p>
        </p:txBody>
      </p:sp>
      <p:pic>
        <p:nvPicPr>
          <p:cNvPr id="27" name="Picture 26" descr="check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8247888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36192" y="8156448"/>
            <a:ext cx="438912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Character sounds and facts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1005839"/>
            <a:ext cx="11338559" cy="6457950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Scanvas digital trial 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35040" y="1097280"/>
            <a:ext cx="11155680" cy="627507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680960" y="7664958"/>
            <a:ext cx="7863840" cy="7315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7664958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1" i="0">
                <a:solidFill>
                  <a:srgbClr val="5B21B6"/>
                </a:solidFill>
                <a:latin typeface="Roboto Condensed"/>
              </a:rPr>
              <a:t>COLOR </a:t>
            </a:r>
            <a:r>
              <a:rPr sz="220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2200" b="1" i="0">
                <a:solidFill>
                  <a:srgbClr val="5B21B6"/>
                </a:solidFill>
                <a:latin typeface="Roboto Condensed"/>
              </a:rPr>
              <a:t> SCAN </a:t>
            </a:r>
            <a:r>
              <a:rPr sz="220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2200" b="1" i="0">
                <a:solidFill>
                  <a:srgbClr val="5B21B6"/>
                </a:solidFill>
                <a:latin typeface="Roboto Condensed"/>
              </a:rPr>
              <a:t> COME ALIVE </a:t>
            </a:r>
            <a:r>
              <a:rPr sz="220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2200" b="1" i="0">
                <a:solidFill>
                  <a:srgbClr val="5B21B6"/>
                </a:solidFill>
                <a:latin typeface="Roboto Condensed"/>
              </a:rPr>
              <a:t> EXPLORE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PRODUCT OR SERVICE · LIVE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Our First Pilot Already Changed the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94560"/>
            <a:ext cx="192024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267712"/>
            <a:ext cx="192024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3145536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children in first real-world 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194560"/>
            <a:ext cx="192024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267712"/>
            <a:ext cx="192024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145536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TPA pilot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194560"/>
            <a:ext cx="192024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267712"/>
            <a:ext cx="192024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3145536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interactive worlds live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2194560"/>
            <a:ext cx="192024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2267712"/>
            <a:ext cx="192024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200" b="1" i="0">
                <a:solidFill>
                  <a:srgbClr val="5B21B6"/>
                </a:solidFill>
                <a:latin typeface="Roboto Condense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7" y="3145536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 SemiBold"/>
              </a:rPr>
              <a:t>product priorities from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352544"/>
            <a:ext cx="822960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426464" y="4590288"/>
            <a:ext cx="156514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SHIPPED</a:t>
            </a:r>
          </a:p>
        </p:txBody>
      </p:sp>
      <p:pic>
        <p:nvPicPr>
          <p:cNvPr id="27" name="Picture 26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5376672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28800" y="528523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Larger interactive world</a:t>
            </a:r>
          </a:p>
        </p:txBody>
      </p:sp>
      <p:pic>
        <p:nvPicPr>
          <p:cNvPr id="29" name="Picture 28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5888736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28800" y="5797296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Digital trial before purchase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9824" y="4590288"/>
            <a:ext cx="169468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BUILDING</a:t>
            </a:r>
          </a:p>
        </p:txBody>
      </p:sp>
      <p:pic>
        <p:nvPicPr>
          <p:cNvPr id="32" name="Picture 3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5376672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52160" y="5285232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Bulk drawing processing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5888736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52160" y="5797296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Story and learning space</a:t>
            </a:r>
          </a:p>
        </p:txBody>
      </p:sp>
      <p:pic>
        <p:nvPicPr>
          <p:cNvPr id="36" name="Picture 3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824" y="6400800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52160" y="630936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Additional worlds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7132320"/>
            <a:ext cx="4023360" cy="164592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53312" y="7242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WHAT WE PROVED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7644383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 SemiBold"/>
              </a:rPr>
              <a:t>Children can complete the Scanvas experience in a real setting.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7132320"/>
            <a:ext cx="4023360" cy="16459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9552" y="7242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92400E"/>
                </a:solidFill>
                <a:latin typeface="Roboto Condensed SemiBold"/>
              </a:rPr>
              <a:t>WHAT WE MUST PROVE 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9552" y="7644383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 SemiBold"/>
              </a:rPr>
              <a:t>Paid demand and repeat use.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8997696"/>
            <a:ext cx="208330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PRE-REVENUE</a:t>
            </a:r>
          </a:p>
        </p:txBody>
      </p:sp>
      <p:pic>
        <p:nvPicPr>
          <p:cNvPr id="45" name="Picture 44" descr="Scanvas demo with children during the TPA pil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194560"/>
            <a:ext cx="7498079" cy="4217670"/>
          </a:xfrm>
          <a:prstGeom prst="rect">
            <a:avLst/>
          </a:prstGeom>
        </p:spPr>
      </p:pic>
      <p:pic>
        <p:nvPicPr>
          <p:cNvPr id="46" name="Picture 45" descr="Children coloring Scanvas sheets in the pil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6583680"/>
            <a:ext cx="3657599" cy="2057399"/>
          </a:xfrm>
          <a:prstGeom prst="rect">
            <a:avLst/>
          </a:prstGeom>
        </p:spPr>
      </p:pic>
      <p:pic>
        <p:nvPicPr>
          <p:cNvPr id="47" name="Picture 46" descr="Children coloring Scanvas sheets in the pil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3119" y="6583680"/>
            <a:ext cx="3657599" cy="205739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92640" y="8814816"/>
            <a:ext cx="7498079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7C3AED"/>
                </a:solidFill>
                <a:latin typeface="Roboto Condensed SemiBold"/>
              </a:rPr>
              <a:t>First real-world pilot · TPA, D.I. Yogyakarta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Start With a Reachable Beachhead, Then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03120"/>
            <a:ext cx="9692640" cy="1645920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26464" y="235915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907791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00" b="1" i="0">
                <a:solidFill>
                  <a:srgbClr val="5B21B6"/>
                </a:solidFill>
                <a:latin typeface="Roboto Condensed"/>
              </a:rPr>
              <a:t>420,886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59152"/>
            <a:ext cx="603504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72033"/>
                </a:solidFill>
                <a:latin typeface="Roboto Condensed SemiBold"/>
              </a:rPr>
              <a:t>Indonesia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PAUD + primary schools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799" y="3931920"/>
            <a:ext cx="8229600" cy="1645920"/>
          </a:xfrm>
          <a:prstGeom prst="roundRect">
            <a:avLst>
              <a:gd name="adj" fmla="val 17777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157984" y="4187952"/>
            <a:ext cx="1046988" cy="475488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984" y="473659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00" b="1" i="0">
                <a:solidFill>
                  <a:srgbClr val="5B21B6"/>
                </a:solidFill>
                <a:latin typeface="Roboto Condensed"/>
              </a:rPr>
              <a:t>62,797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87952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72033"/>
                </a:solidFill>
                <a:latin typeface="Roboto Condensed SemiBold"/>
              </a:rPr>
              <a:t>Central Java + D.I. Yogyakarta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PAUD + primary schools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5760720"/>
            <a:ext cx="6766560" cy="1645920"/>
          </a:xfrm>
          <a:prstGeom prst="roundRect">
            <a:avLst>
              <a:gd name="adj" fmla="val 17777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89503" y="6016752"/>
            <a:ext cx="26014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SOM · BEACHHEAD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3" y="656539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boto Condensed"/>
              </a:rPr>
              <a:t>7,123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016752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FFFFFF"/>
                </a:solidFill>
                <a:latin typeface="Roboto Condensed SemiBold"/>
              </a:rPr>
              <a:t>D.I. Yogyakarta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FFFFFF"/>
                </a:solidFill>
                <a:latin typeface="Roboto Condensed"/>
              </a:rPr>
              <a:t>PAUD + primary schools</a:t>
            </a:r>
          </a:p>
        </p:txBody>
      </p:sp>
      <p:pic>
        <p:nvPicPr>
          <p:cNvPr id="25" name="Picture 24" descr="map-pin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626096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72768" y="7498079"/>
            <a:ext cx="91440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5B21B6"/>
                </a:solidFill>
                <a:latin typeface="Roboto Condensed SemiBold"/>
              </a:rPr>
              <a:t>Why here: our first real-world pilot was already conducted in D.I. Yogyakarta.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0" y="2103120"/>
            <a:ext cx="6035040" cy="155448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84864" y="2286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BUYER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84864" y="2688336"/>
            <a:ext cx="5486400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2033"/>
                </a:solidFill>
                <a:latin typeface="Roboto Condensed"/>
              </a:rPr>
              <a:t>Principals · teachers · activity coordinators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55680" y="3840479"/>
            <a:ext cx="6035040" cy="155448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84864" y="402335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84864" y="4425695"/>
            <a:ext cx="5486400" cy="877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72033"/>
                </a:solidFill>
                <a:latin typeface="Roboto Condensed"/>
              </a:rPr>
              <a:t>Children aged 3–10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55680" y="5577840"/>
            <a:ext cx="6035040" cy="2542032"/>
          </a:xfrm>
          <a:prstGeom prst="roundRect">
            <a:avLst>
              <a:gd name="adj" fmla="val 1151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84864" y="577900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2400E"/>
                </a:solidFill>
                <a:latin typeface="Roboto Condensed SemiBold"/>
              </a:rPr>
              <a:t>YEAR-1 COMMERCIAL 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84864" y="6181344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00" b="1" i="0">
                <a:solidFill>
                  <a:srgbClr val="172033"/>
                </a:solidFill>
                <a:latin typeface="Roboto Condensed"/>
              </a:rPr>
              <a:t>48 paid 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84864" y="7168896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2400E"/>
                </a:solidFill>
                <a:latin typeface="Roboto Condensed"/>
              </a:rPr>
              <a:t>Transaction target, not 48 unique institutions.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8449056"/>
            <a:ext cx="160934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72033"/>
                </a:solidFill>
                <a:latin typeface="Roboto Condensed"/>
              </a:rPr>
              <a:t>Source: Kemendikdasmen education reference data (public and private units), accessed September 2026. Institution counts describe market coverage, not confirmed demand. Breakdown in the appendix.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TARGET MARKET · MARKET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A Proven Category, With a Different Access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0312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Paper-to-digital coloring already has established alternatives, including: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145536"/>
            <a:ext cx="548640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145536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72033"/>
                </a:solidFill>
                <a:latin typeface="Roboto Condensed SemiBold"/>
              </a:rPr>
              <a:t>Faber-Castell ARt Alive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6816" y="3383280"/>
            <a:ext cx="1867408" cy="43891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172033"/>
                </a:solidFill>
                <a:latin typeface="Roboto Condensed SemiBold"/>
              </a:rPr>
              <a:t>Mobile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42816"/>
            <a:ext cx="548640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242816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72033"/>
                </a:solidFill>
                <a:latin typeface="Roboto Condensed SemiBold"/>
              </a:rPr>
              <a:t>Quiver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6816" y="4480559"/>
            <a:ext cx="1867408" cy="43891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172033"/>
                </a:solidFill>
                <a:latin typeface="Roboto Condensed SemiBold"/>
              </a:rPr>
              <a:t>Mobile 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40096"/>
            <a:ext cx="548640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340096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72033"/>
                </a:solidFill>
                <a:latin typeface="Roboto Condensed SemiBold"/>
              </a:rPr>
              <a:t>WAGZAK JUMP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6816" y="5577840"/>
            <a:ext cx="1867408" cy="43891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172033"/>
                </a:solidFill>
                <a:latin typeface="Roboto Condensed SemiBold"/>
              </a:rPr>
              <a:t>Mobile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437375"/>
            <a:ext cx="548640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6437375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72033"/>
                </a:solidFill>
                <a:latin typeface="Roboto Condensed SemiBold"/>
              </a:rPr>
              <a:t>teamLab Sketch Aquarium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5912" y="6675119"/>
            <a:ext cx="1988312" cy="43891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400" b="0" i="0">
                <a:solidFill>
                  <a:srgbClr val="172033"/>
                </a:solidFill>
                <a:latin typeface="Roboto Condensed SemiBold"/>
              </a:rPr>
              <a:t>Venue-based</a:t>
            </a:r>
          </a:p>
        </p:txBody>
      </p:sp>
      <p:sp>
        <p:nvSpPr>
          <p:cNvPr id="26" name="Oval 25"/>
          <p:cNvSpPr/>
          <p:nvPr/>
        </p:nvSpPr>
        <p:spPr>
          <a:xfrm>
            <a:off x="7406640" y="2834640"/>
            <a:ext cx="4206240" cy="42062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A child’s whale in the shared Scanvas ocean, in the brow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03120"/>
            <a:ext cx="2973736" cy="585216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040880" y="2286000"/>
            <a:ext cx="480364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Child’s artwork is the character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4663440"/>
            <a:ext cx="311962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Runs in the browser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7040880"/>
            <a:ext cx="299008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Shared ocean world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0" y="2103120"/>
            <a:ext cx="4846320" cy="6035040"/>
          </a:xfrm>
          <a:prstGeom prst="roundRect">
            <a:avLst>
              <a:gd name="adj" fmla="val 603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655296" y="2322576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SCANVAS COMBINES</a:t>
            </a:r>
          </a:p>
        </p:txBody>
      </p:sp>
      <p:pic>
        <p:nvPicPr>
          <p:cNvPr id="33" name="Picture 32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5296" y="2907792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094208" y="2834640"/>
            <a:ext cx="3931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Child-generated artwork as the character</a:t>
            </a:r>
          </a:p>
        </p:txBody>
      </p:sp>
      <p:pic>
        <p:nvPicPr>
          <p:cNvPr id="35" name="Picture 34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5296" y="3950208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094208" y="3877056"/>
            <a:ext cx="3931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Browser-based: no app installation</a:t>
            </a:r>
          </a:p>
        </p:txBody>
      </p:sp>
      <p:pic>
        <p:nvPicPr>
          <p:cNvPr id="37" name="Picture 36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5296" y="4992624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094208" y="4919472"/>
            <a:ext cx="3931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Shared interactive worlds</a:t>
            </a:r>
          </a:p>
        </p:txBody>
      </p:sp>
      <p:pic>
        <p:nvPicPr>
          <p:cNvPr id="39" name="Picture 38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5296" y="6035040"/>
            <a:ext cx="329184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094208" y="5961888"/>
            <a:ext cx="3931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Reusable engine for new themes</a:t>
            </a:r>
          </a:p>
        </p:txBody>
      </p:sp>
      <p:pic>
        <p:nvPicPr>
          <p:cNvPr id="41" name="Picture 40" descr="che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5296" y="7077456"/>
            <a:ext cx="329184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094208" y="7004304"/>
            <a:ext cx="3931920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72033"/>
                </a:solidFill>
                <a:latin typeface="Roboto Condensed"/>
              </a:rPr>
              <a:t>Designed toward repeat institutional 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8412480"/>
            <a:ext cx="16093440" cy="95097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63040" y="8412480"/>
            <a:ext cx="15361920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300" b="1" i="0">
                <a:solidFill>
                  <a:srgbClr val="92400E"/>
                </a:solidFill>
                <a:latin typeface="Roboto Condensed"/>
              </a:rPr>
              <a:t>Competitors validate the category. Our question is whether this combination creates paid, repeat use.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COMPETITORS · UNIQUE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Paid Sessions First. Family Packs Alongside.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03120"/>
            <a:ext cx="7863840" cy="62179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381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3040" y="2432303"/>
            <a:ext cx="376732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Roboto Condensed SemiBold"/>
              </a:rPr>
              <a:t>B2B · PRIMARY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2724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Managed School / Event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Up to 30 children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34256"/>
            <a:ext cx="7315200" cy="1133856"/>
          </a:xfrm>
          <a:prstGeom prst="roundRect">
            <a:avLst>
              <a:gd name="adj" fmla="val 19354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19" y="4407408"/>
            <a:ext cx="676655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TEST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736592"/>
            <a:ext cx="6766559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5B21B6"/>
                </a:solidFill>
                <a:latin typeface="Roboto Condensed"/>
              </a:rPr>
              <a:t>Rp1,000,000 /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724144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ACQUISITION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089904"/>
            <a:ext cx="7315200" cy="54864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60899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DIRECT OUTREACH </a:t>
            </a:r>
            <a:r>
              <a:rPr sz="15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500" b="0" i="0">
                <a:solidFill>
                  <a:srgbClr val="5B21B6"/>
                </a:solidFill>
                <a:latin typeface="Roboto Condensed SemiBold"/>
              </a:rPr>
              <a:t> DEMO </a:t>
            </a:r>
            <a:r>
              <a:rPr sz="15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500" b="0" i="0">
                <a:solidFill>
                  <a:srgbClr val="5B21B6"/>
                </a:solidFill>
                <a:latin typeface="Roboto Condensed SemiBold"/>
              </a:rPr>
              <a:t> PAID SESSION </a:t>
            </a:r>
            <a:r>
              <a:rPr sz="15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500" b="0" i="0">
                <a:solidFill>
                  <a:srgbClr val="5B21B6"/>
                </a:solidFill>
                <a:latin typeface="Roboto Condensed SemiBold"/>
              </a:rPr>
              <a:t> REBOOKING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858000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7223759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72033"/>
                </a:solidFill>
                <a:latin typeface="Roboto Condensed SemiBold"/>
              </a:rPr>
              <a:t>Paid booking · delivery cost · rebooking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103120"/>
            <a:ext cx="7863840" cy="621792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92640" y="2432303"/>
            <a:ext cx="2601468" cy="4754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B2C · ALONGSIDE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127248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Roboto Condensed"/>
              </a:rPr>
              <a:t>Family Creative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749039"/>
            <a:ext cx="71323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For use at home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334256"/>
            <a:ext cx="7315200" cy="1133856"/>
          </a:xfrm>
          <a:prstGeom prst="roundRect">
            <a:avLst>
              <a:gd name="adj" fmla="val 19354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4407408"/>
            <a:ext cx="676655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TEST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4736592"/>
            <a:ext cx="6766559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400" b="1" i="0">
                <a:solidFill>
                  <a:srgbClr val="5B21B6"/>
                </a:solidFill>
                <a:latin typeface="Roboto Condensed"/>
              </a:rPr>
              <a:t>Rp49,000 / pack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724144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ACQUISITION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6089904"/>
            <a:ext cx="7315200" cy="54864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0" y="60899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SHORT VIDEO </a:t>
            </a:r>
            <a:r>
              <a:rPr sz="15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500" b="0" i="0">
                <a:solidFill>
                  <a:srgbClr val="5B21B6"/>
                </a:solidFill>
                <a:latin typeface="Roboto Condensed SemiBold"/>
              </a:rPr>
              <a:t> FREE TRIAL </a:t>
            </a:r>
            <a:r>
              <a:rPr sz="15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500" b="0" i="0">
                <a:solidFill>
                  <a:srgbClr val="5B21B6"/>
                </a:solidFill>
                <a:latin typeface="Roboto Condensed SemiBold"/>
              </a:rPr>
              <a:t> WHATSAPP ORDER </a:t>
            </a:r>
            <a:r>
              <a:rPr sz="15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1500" b="0" i="0">
                <a:solidFill>
                  <a:srgbClr val="5B21B6"/>
                </a:solidFill>
                <a:latin typeface="Roboto Condensed SemiBold"/>
              </a:rPr>
              <a:t> REPEAT PURCHASE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858000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7C3AED"/>
                </a:solidFill>
                <a:latin typeface="Roboto Condensed SemiBold"/>
              </a:rPr>
              <a:t>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7223759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72033"/>
                </a:solidFill>
                <a:latin typeface="Roboto Condensed SemiBold"/>
              </a:rPr>
              <a:t>Conversion · contribution margin · repeat purchase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8558784"/>
            <a:ext cx="16093440" cy="80467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lask-conical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8759952"/>
            <a:ext cx="402336" cy="4023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474720" y="8558784"/>
            <a:ext cx="1316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92400E"/>
                </a:solidFill>
                <a:latin typeface="Roboto Condensed"/>
              </a:rPr>
              <a:t>Both prices are commercial-testing assumptions and are not yet validated at scale.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BUSINESS OR REVENUE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2435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Two Founders Cover Product and Go-to-Market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41680" y="1097280"/>
            <a:ext cx="3749039" cy="51206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18865" tIns="0" rIns="182880" bIns="0" rtlCol="0" anchor="ctr">
            <a:noAutofit/>
          </a:bodyPr>
          <a:lstStyle/>
          <a:p>
            <a:pPr algn="l"/>
            <a:r>
              <a:rPr sz="1600" b="0" i="0">
                <a:solidFill>
                  <a:srgbClr val="5B21B6"/>
                </a:solidFill>
                <a:latin typeface="Roboto Condensed SemiBold"/>
              </a:rPr>
              <a:t>Equity: Haikal 60% · Salsabila 40%</a:t>
            </a:r>
          </a:p>
        </p:txBody>
      </p:sp>
      <p:pic>
        <p:nvPicPr>
          <p:cNvPr id="14" name="Picture 13" descr="user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1136" y="1194572"/>
            <a:ext cx="317479" cy="3174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97280" y="2103120"/>
            <a:ext cx="7863840" cy="4974336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aikal Hilm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2798063"/>
            <a:ext cx="3344659" cy="3566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0" y="2432303"/>
            <a:ext cx="34747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Roboto Condensed"/>
              </a:rPr>
              <a:t>Haikal Hilmi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3529584"/>
            <a:ext cx="273100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CEO &amp; Co-Founder</a:t>
            </a:r>
          </a:p>
        </p:txBody>
      </p:sp>
      <p:pic>
        <p:nvPicPr>
          <p:cNvPr id="19" name="Picture 18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29768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05856" y="4187952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Product and company strategy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4828032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05856" y="4718304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Product and engineering</a:t>
            </a:r>
          </a:p>
        </p:txBody>
      </p:sp>
      <p:pic>
        <p:nvPicPr>
          <p:cNvPr id="23" name="Picture 22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535838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05856" y="5248656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Computer-vision scanning</a:t>
            </a:r>
          </a:p>
        </p:txBody>
      </p:sp>
      <p:pic>
        <p:nvPicPr>
          <p:cNvPr id="25" name="Picture 24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5888736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05856" y="5779008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Interactive web platform</a:t>
            </a:r>
          </a:p>
        </p:txBody>
      </p:sp>
      <p:pic>
        <p:nvPicPr>
          <p:cNvPr id="27" name="Picture 26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6419088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05856" y="6309360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Partnership strategy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103120"/>
            <a:ext cx="7863840" cy="4974336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alsabila Khoirunnis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9215" y="2798063"/>
            <a:ext cx="3159833" cy="35661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533119" y="2432303"/>
            <a:ext cx="34747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Roboto Condensed"/>
              </a:rPr>
              <a:t>Salsabila Khoirunnisa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533119" y="3529584"/>
            <a:ext cx="273100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CMO &amp; Co-Founder</a:t>
            </a:r>
          </a:p>
        </p:txBody>
      </p:sp>
      <p:pic>
        <p:nvPicPr>
          <p:cNvPr id="33" name="Picture 32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19" y="4297680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935455" y="4187952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Brand and marketing</a:t>
            </a:r>
          </a:p>
        </p:txBody>
      </p:sp>
      <p:pic>
        <p:nvPicPr>
          <p:cNvPr id="35" name="Picture 34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19" y="4828032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935455" y="4718304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Customer discovery</a:t>
            </a:r>
          </a:p>
        </p:txBody>
      </p:sp>
      <p:pic>
        <p:nvPicPr>
          <p:cNvPr id="37" name="Picture 36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19" y="5358384"/>
            <a:ext cx="27432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935455" y="5248656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Institutional outreach</a:t>
            </a:r>
          </a:p>
        </p:txBody>
      </p:sp>
      <p:pic>
        <p:nvPicPr>
          <p:cNvPr id="39" name="Picture 38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19" y="5888736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3935455" y="5779008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Community</a:t>
            </a:r>
          </a:p>
        </p:txBody>
      </p:sp>
      <p:pic>
        <p:nvPicPr>
          <p:cNvPr id="41" name="Picture 40" descr="check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19" y="6419088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935455" y="6309360"/>
            <a:ext cx="32004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Go-to-market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7351775"/>
            <a:ext cx="7863840" cy="204825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63040" y="7534656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EXECUTION TO 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7936992"/>
            <a:ext cx="7132320" cy="1316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72033"/>
                </a:solidFill>
                <a:latin typeface="Roboto Condensed"/>
              </a:rPr>
              <a:t>Live product · 2 interactive worlds · first 30-child pilot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7351775"/>
            <a:ext cx="7863840" cy="2048256"/>
          </a:xfrm>
          <a:prstGeom prst="roundRect">
            <a:avLst>
              <a:gd name="adj" fmla="val 1428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92640" y="7534656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NEXT CAPABILITY TO STRENGTHEN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7936992"/>
            <a:ext cx="7132320" cy="1316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72033"/>
                </a:solidFill>
                <a:latin typeface="Roboto Condensed"/>
              </a:rPr>
              <a:t>Institutional sales and repeatable session delivery.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MEET OUR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72033"/>
                </a:solidFill>
                <a:latin typeface="Roboto Condensed"/>
              </a:rPr>
              <a:t>Prove Paid Demand </a:t>
            </a:r>
            <a:r>
              <a:rPr sz="44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4400" b="1" i="0">
                <a:solidFill>
                  <a:srgbClr val="172033"/>
                </a:solidFill>
                <a:latin typeface="Roboto Condensed"/>
              </a:rPr>
              <a:t> Prove Repeat Use </a:t>
            </a:r>
            <a:r>
              <a:rPr sz="44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4400" b="1" i="0">
                <a:solidFill>
                  <a:srgbClr val="172033"/>
                </a:solidFill>
                <a:latin typeface="Roboto Condensed"/>
              </a:rPr>
              <a:t> Expand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03120"/>
            <a:ext cx="3803904" cy="6217920"/>
          </a:xfrm>
          <a:prstGeom prst="roundRect">
            <a:avLst>
              <a:gd name="adj" fmla="val 7692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2377439"/>
            <a:ext cx="18242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25526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 Condensed"/>
              </a:rPr>
              <a:t>Built &amp; tested</a:t>
            </a:r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931919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2224" y="384047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Roboto Condensed"/>
              </a:rPr>
              <a:t>Live product</a:t>
            </a:r>
          </a:p>
        </p:txBody>
      </p:sp>
      <p:pic>
        <p:nvPicPr>
          <p:cNvPr id="18" name="Picture 1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663439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92224" y="457199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Roboto Condensed"/>
              </a:rPr>
              <a:t>Ocean + Vehicle worlds</a:t>
            </a:r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394959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92224" y="530351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Roboto Condensed"/>
              </a:rPr>
              <a:t>First 30-child pilot</a:t>
            </a:r>
          </a:p>
        </p:txBody>
      </p:sp>
      <p:pic>
        <p:nvPicPr>
          <p:cNvPr id="22" name="Picture 2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126479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92224" y="603503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FFFFF"/>
                </a:solidFill>
                <a:latin typeface="Roboto Condensed"/>
              </a:rPr>
              <a:t>Digital trial</a:t>
            </a:r>
          </a:p>
        </p:txBody>
      </p:sp>
      <p:sp>
        <p:nvSpPr>
          <p:cNvPr id="24" name="Chevron 23"/>
          <p:cNvSpPr/>
          <p:nvPr/>
        </p:nvSpPr>
        <p:spPr>
          <a:xfrm>
            <a:off x="4956048" y="4974336"/>
            <a:ext cx="182880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93792" y="2103120"/>
            <a:ext cx="3803904" cy="621792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68112" y="2377439"/>
            <a:ext cx="19537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MONTHS 1–3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3017520"/>
            <a:ext cx="325526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Prove paid demand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931919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8736" y="384047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Test B2B session pricing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4663439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57199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Test B2C pack pricing</a:t>
            </a:r>
          </a:p>
        </p:txBody>
      </p:sp>
      <p:pic>
        <p:nvPicPr>
          <p:cNvPr id="32" name="Picture 3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5394959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88736" y="530351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Measure delivery cost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6126479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88736" y="603503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Begin paid sessions</a:t>
            </a:r>
          </a:p>
        </p:txBody>
      </p:sp>
      <p:pic>
        <p:nvPicPr>
          <p:cNvPr id="36" name="Picture 3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6857999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8736" y="676655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Measure scan reliability</a:t>
            </a:r>
          </a:p>
        </p:txBody>
      </p:sp>
      <p:sp>
        <p:nvSpPr>
          <p:cNvPr id="38" name="Chevron 37"/>
          <p:cNvSpPr/>
          <p:nvPr/>
        </p:nvSpPr>
        <p:spPr>
          <a:xfrm>
            <a:off x="9052560" y="4974336"/>
            <a:ext cx="182880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290304" y="2103120"/>
            <a:ext cx="3803904" cy="62179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564624" y="2377439"/>
            <a:ext cx="195376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MONTHS 4–6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4624" y="3017520"/>
            <a:ext cx="325526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Prove repeat use</a:t>
            </a:r>
          </a:p>
        </p:txBody>
      </p:sp>
      <p:pic>
        <p:nvPicPr>
          <p:cNvPr id="42" name="Picture 4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3931919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985248" y="384047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Pilot Scanvas Studio</a:t>
            </a:r>
          </a:p>
        </p:txBody>
      </p:sp>
      <p:pic>
        <p:nvPicPr>
          <p:cNvPr id="44" name="Picture 4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4663439"/>
            <a:ext cx="274320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85248" y="4571999"/>
            <a:ext cx="2889504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Run a 3-lesson creative pilot</a:t>
            </a:r>
          </a:p>
        </p:txBody>
      </p:sp>
      <p:pic>
        <p:nvPicPr>
          <p:cNvPr id="46" name="Picture 4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5760719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85248" y="5669279"/>
            <a:ext cx="2889504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Measure institutional rebooking</a:t>
            </a:r>
          </a:p>
        </p:txBody>
      </p:sp>
      <p:pic>
        <p:nvPicPr>
          <p:cNvPr id="48" name="Picture 4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6857999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85248" y="6766559"/>
            <a:ext cx="2889504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Measure family repeat purchase</a:t>
            </a:r>
          </a:p>
        </p:txBody>
      </p:sp>
      <p:pic>
        <p:nvPicPr>
          <p:cNvPr id="50" name="Picture 4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7955279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985248" y="7863840"/>
            <a:ext cx="2889504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Measure 3-lesson progression</a:t>
            </a:r>
          </a:p>
        </p:txBody>
      </p:sp>
      <p:sp>
        <p:nvSpPr>
          <p:cNvPr id="52" name="Chevron 51"/>
          <p:cNvSpPr/>
          <p:nvPr/>
        </p:nvSpPr>
        <p:spPr>
          <a:xfrm>
            <a:off x="13149072" y="4974336"/>
            <a:ext cx="182880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3386816" y="2103120"/>
            <a:ext cx="3803904" cy="62179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3661136" y="2377439"/>
            <a:ext cx="208330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MONTHS 7–12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661136" y="3017520"/>
            <a:ext cx="325526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172033"/>
                </a:solidFill>
                <a:latin typeface="Roboto Condensed"/>
              </a:rPr>
              <a:t>Scale what works</a:t>
            </a:r>
          </a:p>
        </p:txBody>
      </p:sp>
      <p:pic>
        <p:nvPicPr>
          <p:cNvPr id="56" name="Picture 5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1136" y="3931919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4081760" y="3840479"/>
            <a:ext cx="2889504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48 cumulative paid sessions</a:t>
            </a:r>
          </a:p>
        </p:txBody>
      </p:sp>
      <p:pic>
        <p:nvPicPr>
          <p:cNvPr id="58" name="Picture 5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1136" y="5029199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4081760" y="493775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600 family packs</a:t>
            </a:r>
          </a:p>
        </p:txBody>
      </p:sp>
      <p:pic>
        <p:nvPicPr>
          <p:cNvPr id="60" name="Picture 5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1136" y="5760719"/>
            <a:ext cx="274320" cy="27432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4081760" y="566927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2 </a:t>
            </a:r>
            <a:r>
              <a:rPr sz="19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900" b="0" i="0">
                <a:solidFill>
                  <a:srgbClr val="172033"/>
                </a:solidFill>
                <a:latin typeface="Roboto Condensed"/>
              </a:rPr>
              <a:t> 4 worlds</a:t>
            </a:r>
          </a:p>
        </p:txBody>
      </p:sp>
      <p:pic>
        <p:nvPicPr>
          <p:cNvPr id="62" name="Picture 6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1136" y="6492239"/>
            <a:ext cx="274320" cy="27432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4081760" y="6400799"/>
            <a:ext cx="288950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Scanvas Studio operational</a:t>
            </a:r>
          </a:p>
        </p:txBody>
      </p:sp>
      <p:pic>
        <p:nvPicPr>
          <p:cNvPr id="64" name="Picture 6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1136" y="7223759"/>
            <a:ext cx="274320" cy="27432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4081760" y="7132319"/>
            <a:ext cx="2889504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172033"/>
                </a:solidFill>
                <a:latin typeface="Roboto Condensed"/>
              </a:rPr>
              <a:t>Partner-led localization pilot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97280" y="8558784"/>
            <a:ext cx="16093440" cy="8046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97280" y="8558784"/>
            <a:ext cx="1609344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Roboto Condensed"/>
              </a:rPr>
              <a:t>Expansion happens only after evidence of paid demand and repeat use.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Rp200M to Prove Repeatable Economics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03120"/>
            <a:ext cx="5212080" cy="2962656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89888" y="22860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B2C PACK · TEST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761487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61487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200" b="1" i="0">
                <a:solidFill>
                  <a:srgbClr val="172033"/>
                </a:solidFill>
                <a:latin typeface="Roboto Condensed"/>
              </a:rPr>
              <a:t>Rp49K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310127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Direct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10127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200" b="1" i="0">
                <a:solidFill>
                  <a:srgbClr val="172033"/>
                </a:solidFill>
                <a:latin typeface="Roboto Condensed"/>
              </a:rPr>
              <a:t>Rp20K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858768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58768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400" b="1" i="0">
                <a:solidFill>
                  <a:srgbClr val="5B21B6"/>
                </a:solidFill>
                <a:latin typeface="Roboto Condensed"/>
              </a:rPr>
              <a:t>Rp29K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89888" y="4480560"/>
            <a:ext cx="3637788" cy="43891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59% contribution margin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248656"/>
            <a:ext cx="5212080" cy="2962656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89888" y="543153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MANAGED SESSION · TEST 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907024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90702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200" b="1" i="0">
                <a:solidFill>
                  <a:srgbClr val="172033"/>
                </a:solidFill>
                <a:latin typeface="Roboto Condensed"/>
              </a:rPr>
              <a:t>Rp1M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6455664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Direct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45566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200" b="1" i="0">
                <a:solidFill>
                  <a:srgbClr val="172033"/>
                </a:solidFill>
                <a:latin typeface="Roboto Condensed"/>
              </a:rPr>
              <a:t>Rp250K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004304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"/>
              </a:rPr>
              <a:t>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7004304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400" b="1" i="0">
                <a:solidFill>
                  <a:srgbClr val="5B21B6"/>
                </a:solidFill>
                <a:latin typeface="Roboto Condensed"/>
              </a:rPr>
              <a:t>Rp750K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89888" y="7626096"/>
            <a:ext cx="3637788" cy="43891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75% contribution margin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103120"/>
            <a:ext cx="5029200" cy="6108192"/>
          </a:xfrm>
          <a:prstGeom prst="roundRect">
            <a:avLst>
              <a:gd name="adj" fmla="val 509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12864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12-MONTH BASE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2688336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600 packs · 48 paid sessions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34015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 SemiBold"/>
              </a:rPr>
              <a:t>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3767328"/>
            <a:ext cx="438912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5B21B6"/>
                </a:solidFill>
                <a:latin typeface="Roboto Condensed"/>
              </a:rPr>
              <a:t>Rp77.4M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2864" y="4535424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 SemiBold"/>
              </a:rPr>
              <a:t>DIRECT COSTS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2864" y="4901184"/>
            <a:ext cx="438912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172033"/>
                </a:solidFill>
                <a:latin typeface="Roboto Condensed"/>
              </a:rPr>
              <a:t>Rp24.0M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864" y="56692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0">
                <a:solidFill>
                  <a:srgbClr val="172033"/>
                </a:solidFill>
                <a:latin typeface="Roboto Condensed SemiBold"/>
              </a:rPr>
              <a:t>GROSS CONTRIBUTION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6035040"/>
            <a:ext cx="4389120" cy="6949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00" b="1" i="0">
                <a:solidFill>
                  <a:srgbClr val="5B21B6"/>
                </a:solidFill>
                <a:latin typeface="Roboto Condensed"/>
              </a:rPr>
              <a:t>Rp53.4M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12864" y="6986016"/>
            <a:ext cx="3637788" cy="43891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15803D"/>
                </a:solidFill>
                <a:latin typeface="Roboto Condensed SemiBold"/>
              </a:rPr>
              <a:t>69% contribution margin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864" y="7534656"/>
            <a:ext cx="448056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Roboto Condensed"/>
              </a:rPr>
              <a:t>Founders’ model, Sep 2026 · assumptions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0" y="2103120"/>
            <a:ext cx="5303520" cy="6108192"/>
          </a:xfrm>
          <a:prstGeom prst="roundRect">
            <a:avLst>
              <a:gd name="adj" fmla="val 5517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216384" y="22860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EDE9FE"/>
                </a:solidFill>
                <a:latin typeface="Roboto Condensed SemiBold"/>
              </a:rPr>
              <a:t>CAPITAL REQUIRED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16384" y="2651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Roboto Condensed"/>
              </a:rPr>
              <a:t>Rp200M</a:t>
            </a:r>
            <a:r>
              <a:rPr sz="2200" b="0" i="0">
                <a:solidFill>
                  <a:srgbClr val="FFFFFF"/>
                </a:solidFill>
                <a:latin typeface="Roboto Condensed SemiBold"/>
              </a:rPr>
              <a:t>  / 12 months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6384" y="3803904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Roboto Condensed"/>
              </a:rPr>
              <a:t>48%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0" y="3803904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Roboto Condensed"/>
              </a:rPr>
              <a:t>Team &amp; 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16384" y="448056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Roboto Condensed"/>
              </a:rPr>
              <a:t>15%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0" y="448056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Roboto Condensed"/>
              </a:rPr>
              <a:t>Go-to-market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16384" y="5157216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Roboto Condensed"/>
              </a:rPr>
              <a:t>12%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0" y="5157216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Roboto Condensed"/>
              </a:rPr>
              <a:t>Product &amp; technology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16384" y="5833872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Roboto Condensed"/>
              </a:rPr>
              <a:t>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0" y="5833872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Roboto Condensed"/>
              </a:rPr>
              <a:t>Production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16384" y="6510528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Roboto Condensed"/>
              </a:rPr>
              <a:t>10%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58800" y="6510528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Roboto Condensed"/>
              </a:rPr>
              <a:t>Content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16384" y="7187184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Roboto Condensed"/>
              </a:rPr>
              <a:t>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0" y="7187184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  <a:latin typeface="Roboto Condensed"/>
              </a:rPr>
              <a:t>Legal &amp; contingency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8449056"/>
            <a:ext cx="16093440" cy="950976"/>
          </a:xfrm>
          <a:prstGeom prst="roundRect">
            <a:avLst>
              <a:gd name="adj" fmla="val 26923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426464" y="8449056"/>
            <a:ext cx="15453359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2400E"/>
                </a:solidFill>
                <a:latin typeface="Roboto Condensed SemiBold"/>
              </a:rPr>
              <a:t>CAC and LTV are not yet claimed as proven metrics. This validation period is designed to measure acquisition cost, repeat purchase, and institutional rebooking before scaling.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THE ASK · ECONOMICS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What We Want to Validate Through ITEC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75104"/>
            <a:ext cx="7863840" cy="1280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0" y="2322576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2066543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Institutional pilot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7984" y="254203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Schools and activity organizers for paid, repeatable sessions.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975104"/>
            <a:ext cx="7863840" cy="1280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0" y="2322576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7584" y="2066543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72033"/>
                </a:solidFill>
                <a:latin typeface="Roboto Condensed"/>
              </a:rPr>
              <a:t>Content &amp; localization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7584" y="254203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Children’s content creators and cultural partners for localized worlds.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3566160"/>
            <a:ext cx="585216" cy="5852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5376" y="3529584"/>
            <a:ext cx="109728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5B21B6"/>
                </a:solidFill>
                <a:latin typeface="Roboto Condensed"/>
              </a:rPr>
              <a:t>A small partner-led Chaoyang 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352544"/>
            <a:ext cx="3749039" cy="1737360"/>
          </a:xfrm>
          <a:prstGeom prst="roundRect">
            <a:avLst>
              <a:gd name="adj" fmla="val 1473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53312" y="4480560"/>
            <a:ext cx="32369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5B21B6"/>
                </a:solidFill>
                <a:latin typeface="Roboto Condensed SemiBold"/>
              </a:rPr>
              <a:t>LOCAL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864608"/>
            <a:ext cx="3236975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Select one institution or activity partner</a:t>
            </a:r>
          </a:p>
        </p:txBody>
      </p:sp>
      <p:sp>
        <p:nvSpPr>
          <p:cNvPr id="26" name="Chevron 25"/>
          <p:cNvSpPr/>
          <p:nvPr/>
        </p:nvSpPr>
        <p:spPr>
          <a:xfrm>
            <a:off x="4937759" y="4974336"/>
            <a:ext cx="182880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12080" y="4352544"/>
            <a:ext cx="3749039" cy="1737360"/>
          </a:xfrm>
          <a:prstGeom prst="roundRect">
            <a:avLst>
              <a:gd name="adj" fmla="val 1473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68112" y="4480560"/>
            <a:ext cx="32369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5B21B6"/>
                </a:solidFill>
                <a:latin typeface="Roboto Condensed SemiBold"/>
              </a:rPr>
              <a:t>LOCALIZE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8112" y="4864608"/>
            <a:ext cx="3236975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Mandarin interface + one adapted Scanvas theme</a:t>
            </a:r>
          </a:p>
        </p:txBody>
      </p:sp>
      <p:sp>
        <p:nvSpPr>
          <p:cNvPr id="30" name="Chevron 29"/>
          <p:cNvSpPr/>
          <p:nvPr/>
        </p:nvSpPr>
        <p:spPr>
          <a:xfrm>
            <a:off x="9052560" y="4974336"/>
            <a:ext cx="182880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326880" y="4352544"/>
            <a:ext cx="3749039" cy="1737360"/>
          </a:xfrm>
          <a:prstGeom prst="roundRect">
            <a:avLst>
              <a:gd name="adj" fmla="val 1473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82911" y="4480560"/>
            <a:ext cx="32369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5B21B6"/>
                </a:solidFill>
                <a:latin typeface="Roboto Condensed SemiBold"/>
              </a:rPr>
              <a:t>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1" y="4864608"/>
            <a:ext cx="3236975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Proposed small session with 20–30 children</a:t>
            </a:r>
          </a:p>
        </p:txBody>
      </p:sp>
      <p:sp>
        <p:nvSpPr>
          <p:cNvPr id="34" name="Chevron 33"/>
          <p:cNvSpPr/>
          <p:nvPr/>
        </p:nvSpPr>
        <p:spPr>
          <a:xfrm>
            <a:off x="13167359" y="4974336"/>
            <a:ext cx="182880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3441680" y="4352544"/>
            <a:ext cx="3749039" cy="1737360"/>
          </a:xfrm>
          <a:prstGeom prst="roundRect">
            <a:avLst>
              <a:gd name="adj" fmla="val 1473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697711" y="4480560"/>
            <a:ext cx="32369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EDE9FE"/>
                </a:solidFill>
                <a:latin typeface="Roboto Condensed SemiBold"/>
              </a:rPr>
              <a:t>MEASURE &amp; 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97711" y="4864608"/>
            <a:ext cx="3236975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Roboto Condensed"/>
              </a:rPr>
              <a:t>Completion · partner feedback · willingness to repeat or pay · localization effort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6309360"/>
            <a:ext cx="7863840" cy="1737360"/>
          </a:xfrm>
          <a:prstGeom prst="roundRect">
            <a:avLst>
              <a:gd name="adj" fmla="val 1473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89888" y="643737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RESOURCES</a:t>
            </a:r>
          </a:p>
        </p:txBody>
      </p:sp>
      <p:pic>
        <p:nvPicPr>
          <p:cNvPr id="40" name="Picture 39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6967727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755648" y="687628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Roboto Condensed"/>
              </a:rPr>
              <a:t>Scanvas product and founder lead</a:t>
            </a:r>
          </a:p>
        </p:txBody>
      </p:sp>
      <p:pic>
        <p:nvPicPr>
          <p:cNvPr id="42" name="Picture 4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7" y="6967727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04688" y="6876288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Roboto Condensed"/>
              </a:rPr>
              <a:t>Local partner / translator</a:t>
            </a:r>
          </a:p>
        </p:txBody>
      </p:sp>
      <p:pic>
        <p:nvPicPr>
          <p:cNvPr id="44" name="Picture 4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7516367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55648" y="7424927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Roboto Condensed"/>
              </a:rPr>
              <a:t>Localized print templates</a:t>
            </a:r>
          </a:p>
        </p:txBody>
      </p:sp>
      <p:pic>
        <p:nvPicPr>
          <p:cNvPr id="46" name="Picture 45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7" y="7516367"/>
            <a:ext cx="256032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504688" y="7424927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Roboto Condensed"/>
              </a:rPr>
              <a:t>Adapted digital content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6309360"/>
            <a:ext cx="7863840" cy="1737360"/>
          </a:xfrm>
          <a:prstGeom prst="roundRect">
            <a:avLst>
              <a:gd name="adj" fmla="val 1473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19488" y="643737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92400E"/>
                </a:solidFill>
                <a:latin typeface="Roboto Condensed SemiBold"/>
              </a:rPr>
              <a:t>FUNDING PRINCIPLE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9488" y="6803136"/>
            <a:ext cx="731520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Initial localization is a validation experiment funded from the go-to-market and content budget. We do not commit to a broader China rollout until the pilot shows demand.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8266175"/>
            <a:ext cx="13716000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97280" y="8266175"/>
            <a:ext cx="137160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Roboto Condensed"/>
              </a:rPr>
              <a:t>Validate locally. Adapt with a partner. Expand only with evidence.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9107424"/>
            <a:ext cx="137160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172033"/>
                </a:solidFill>
                <a:latin typeface="Roboto Condensed SemiBold"/>
              </a:rPr>
              <a:t>Haikal Hilmi, CEO   ·   Salsabila Khoirunnisa, CMO   ·   </a:t>
            </a:r>
            <a:r>
              <a:rPr sz="1800" b="0" i="0">
                <a:solidFill>
                  <a:srgbClr val="7C3AED"/>
                </a:solidFill>
                <a:latin typeface="Roboto Condensed SemiBold"/>
                <a:hlinkClick r:id="rId4"/>
              </a:rPr>
              <a:t>scanvas.id</a:t>
            </a:r>
          </a:p>
        </p:txBody>
      </p:sp>
      <p:pic>
        <p:nvPicPr>
          <p:cNvPr id="54" name="Picture 53" descr="QR code to the Scanvas digital trial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1920" y="8083296"/>
            <a:ext cx="1389888" cy="13898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087600" y="9473184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7C3AED"/>
                </a:solidFill>
                <a:latin typeface="Roboto Condensed SemiBold"/>
              </a:rPr>
              <a:t>TRY 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ITEC FIT · CHAOYANG PILOT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4023360"/>
            <a:ext cx="16093440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0" b="1" i="0">
                <a:solidFill>
                  <a:srgbClr val="172033"/>
                </a:solidFill>
                <a:latin typeface="Roboto Condensed"/>
              </a:rPr>
              <a:t>SUPPORTING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5669280"/>
            <a:ext cx="3657600" cy="73152"/>
          </a:xfrm>
          <a:prstGeom prst="rect">
            <a:avLst/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603504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200" b="0" i="0">
                <a:solidFill>
                  <a:srgbClr val="172033"/>
                </a:solidFill>
                <a:latin typeface="Roboto Condensed"/>
              </a:rPr>
              <a:t>For Q&amp;A · competition · market data · technology · financial assumptions · Chaoyang pilot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172033"/>
                </a:solidFill>
                <a:latin typeface="Roboto Condensed"/>
              </a:rPr>
              <a:t>Competitors Prove the Category; Scanvas Combines</a:t>
            </a:r>
            <a:br/>
            <a:r>
              <a:rPr sz="3800" b="1" i="0">
                <a:solidFill>
                  <a:srgbClr val="172033"/>
                </a:solidFill>
                <a:latin typeface="Roboto Condensed"/>
              </a:rPr>
              <a:t>Web Access, Personalisation, and Shared Worlds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468880"/>
            <a:ext cx="16642080" cy="5925312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2200" b="1" i="0">
                <a:solidFill>
                  <a:srgbClr val="5B21B6"/>
                </a:solidFill>
                <a:latin typeface="Roboto Condensed"/>
              </a:rPr>
              <a:t>Scanvas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Faber-Castell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ARt Alive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Quiver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91872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WAGZAK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JUMP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4176" y="2578608"/>
            <a:ext cx="2432304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700" b="1" i="0">
                <a:solidFill>
                  <a:srgbClr val="172033"/>
                </a:solidFill>
                <a:latin typeface="Roboto Condensed"/>
              </a:rPr>
              <a:t>teamLab Sketch</a:t>
            </a:r>
            <a:br/>
            <a:r>
              <a:rPr sz="1700" b="1" i="0">
                <a:solidFill>
                  <a:srgbClr val="172033"/>
                </a:solidFill>
                <a:latin typeface="Roboto Condensed"/>
              </a:rPr>
              <a:t>Aquarium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419856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6464" y="341985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Paper coloring </a:t>
            </a:r>
            <a:r>
              <a:rPr sz="170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700" b="0" i="0">
                <a:solidFill>
                  <a:srgbClr val="172033"/>
                </a:solidFill>
                <a:latin typeface="Roboto Condensed SemiBold"/>
              </a:rPr>
              <a:t> digital</a:t>
            </a:r>
          </a:p>
        </p:txBody>
      </p:sp>
      <p:pic>
        <p:nvPicPr>
          <p:cNvPr id="21" name="Picture 2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538728"/>
            <a:ext cx="365760" cy="36576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3538728"/>
            <a:ext cx="365760" cy="365760"/>
          </a:xfrm>
          <a:prstGeom prst="rect">
            <a:avLst/>
          </a:prstGeom>
        </p:spPr>
      </p:pic>
      <p:pic>
        <p:nvPicPr>
          <p:cNvPr id="23" name="Picture 2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3538728"/>
            <a:ext cx="365760" cy="365760"/>
          </a:xfrm>
          <a:prstGeom prst="rect">
            <a:avLst/>
          </a:prstGeom>
        </p:spPr>
      </p:pic>
      <p:pic>
        <p:nvPicPr>
          <p:cNvPr id="24" name="Picture 2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3538728"/>
            <a:ext cx="365760" cy="365760"/>
          </a:xfrm>
          <a:prstGeom prst="rect">
            <a:avLst/>
          </a:prstGeom>
        </p:spPr>
      </p:pic>
      <p:pic>
        <p:nvPicPr>
          <p:cNvPr id="25" name="Picture 2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3538728"/>
            <a:ext cx="365760" cy="365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371600" y="4023360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26464" y="402336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Child’s artwork becomes character</a:t>
            </a:r>
          </a:p>
        </p:txBody>
      </p:sp>
      <p:pic>
        <p:nvPicPr>
          <p:cNvPr id="28" name="Picture 2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142232"/>
            <a:ext cx="365760" cy="365760"/>
          </a:xfrm>
          <a:prstGeom prst="rect">
            <a:avLst/>
          </a:prstGeom>
        </p:spPr>
      </p:pic>
      <p:pic>
        <p:nvPicPr>
          <p:cNvPr id="29" name="Picture 2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4142232"/>
            <a:ext cx="365760" cy="365760"/>
          </a:xfrm>
          <a:prstGeom prst="rect">
            <a:avLst/>
          </a:prstGeom>
        </p:spPr>
      </p:pic>
      <p:pic>
        <p:nvPicPr>
          <p:cNvPr id="30" name="Picture 2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4142232"/>
            <a:ext cx="365760" cy="365760"/>
          </a:xfrm>
          <a:prstGeom prst="rect">
            <a:avLst/>
          </a:prstGeom>
        </p:spPr>
      </p:pic>
      <p:pic>
        <p:nvPicPr>
          <p:cNvPr id="31" name="Picture 3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4142232"/>
            <a:ext cx="365760" cy="365760"/>
          </a:xfrm>
          <a:prstGeom prst="rect">
            <a:avLst/>
          </a:prstGeom>
        </p:spPr>
      </p:pic>
      <p:pic>
        <p:nvPicPr>
          <p:cNvPr id="32" name="Picture 3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4142232"/>
            <a:ext cx="365760" cy="36576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371600" y="4626864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26464" y="4626864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No app required (web)</a:t>
            </a:r>
          </a:p>
        </p:txBody>
      </p:sp>
      <p:pic>
        <p:nvPicPr>
          <p:cNvPr id="35" name="Picture 3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745736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7264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8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91872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24176" y="4626864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Venue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5230368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26464" y="5230368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Shared interactive worlds</a:t>
            </a:r>
          </a:p>
        </p:txBody>
      </p:sp>
      <p:pic>
        <p:nvPicPr>
          <p:cNvPr id="42" name="Picture 4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349240"/>
            <a:ext cx="365760" cy="3657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827264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59568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91872" y="5230368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46" name="Picture 4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7447" y="5349240"/>
            <a:ext cx="365760" cy="36576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371600" y="5833872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833872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Educational / story content</a:t>
            </a:r>
          </a:p>
        </p:txBody>
      </p:sp>
      <p:pic>
        <p:nvPicPr>
          <p:cNvPr id="49" name="Picture 48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5952744"/>
            <a:ext cx="365760" cy="3657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827264" y="583387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Some</a:t>
            </a:r>
          </a:p>
        </p:txBody>
      </p:sp>
      <p:pic>
        <p:nvPicPr>
          <p:cNvPr id="51" name="Picture 5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5952744"/>
            <a:ext cx="365760" cy="365760"/>
          </a:xfrm>
          <a:prstGeom prst="rect">
            <a:avLst/>
          </a:prstGeom>
        </p:spPr>
      </p:pic>
      <p:pic>
        <p:nvPicPr>
          <p:cNvPr id="52" name="Picture 5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5144" y="5952744"/>
            <a:ext cx="365760" cy="365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5124176" y="5833872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Some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6437376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26464" y="643737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Institutional sessions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7264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59568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Edu subscription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91872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School license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124176" y="6437376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Installation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0" y="7040880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426464" y="704088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Large ready-made content library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94960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2 worlds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7264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pic>
        <p:nvPicPr>
          <p:cNvPr id="65" name="Picture 6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7159751"/>
            <a:ext cx="365760" cy="3657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691872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100+ lessons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124176" y="7040880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Roboto Condensed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7644383"/>
            <a:ext cx="1609344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26464" y="7644383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Brand &amp; distribution reach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94960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Early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7264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Retail 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59568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26M+ downloads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91872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30 languages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124176" y="7644383"/>
            <a:ext cx="2432304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0" i="0">
                <a:solidFill>
                  <a:srgbClr val="172033"/>
                </a:solidFill>
                <a:latin typeface="Roboto Condensed"/>
              </a:rPr>
              <a:t>Museums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97280" y="8430768"/>
            <a:ext cx="16093440" cy="9144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426464" y="8430768"/>
            <a:ext cx="15453359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72033"/>
                </a:solidFill>
                <a:latin typeface="Roboto Condensed SemiBold"/>
              </a:rPr>
              <a:t>Scanvas does not need to replace these products. The opportunity is to combine a low-friction web experience, child-generated characters, shared worlds, and a reusable content engine.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" y="9454896"/>
            <a:ext cx="16093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172033"/>
                </a:solidFill>
                <a:latin typeface="Roboto Condensed"/>
              </a:rPr>
              <a:t>Indirect competition also includes video and game apps that compete for screen time. Evidence checked Sep 2026 on each product’s official site.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36992" y="2103120"/>
            <a:ext cx="7077456" cy="310896"/>
          </a:xfrm>
          <a:prstGeom prst="roundRect">
            <a:avLst>
              <a:gd name="adj" fmla="val 50000"/>
            </a:avLst>
          </a:prstGeom>
          <a:solidFill>
            <a:srgbClr val="52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936992" y="2103120"/>
            <a:ext cx="70774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Roboto Condensed SemiBold"/>
              </a:rPr>
              <a:t>DIRECT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5233904" y="2103120"/>
            <a:ext cx="2212848" cy="31089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5233904" y="2103120"/>
            <a:ext cx="22128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Roboto Condensed SemiBold"/>
              </a:rPr>
              <a:t>INDIRECT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APPENDIX · COMPETITOR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4630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Start With a Reachable Beachhead,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Then Scale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57984"/>
            <a:ext cx="1609344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172033"/>
                </a:solidFill>
                <a:latin typeface="Roboto Condensed"/>
              </a:rPr>
              <a:t>Bottom-up: count of PAUD + primary-school units (our institutional buyers), plus a BPS-based estimate of children aged 3–10.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3749039" cy="4151376"/>
          </a:xfrm>
          <a:prstGeom prst="roundRect">
            <a:avLst>
              <a:gd name="adj" fmla="val 780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89888" y="455371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517550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Roboto Condensed SemiBold"/>
              </a:rPr>
              <a:t>D.I. Yogyakarta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65099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Roboto Condensed"/>
              </a:rPr>
              <a:t>7,123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652881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EDE9FE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696772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Roboto Condensed"/>
              </a:rPr>
              <a:t>First institutional beachhead, where our first pilot ran.</a:t>
            </a:r>
          </a:p>
        </p:txBody>
      </p:sp>
      <p:sp>
        <p:nvSpPr>
          <p:cNvPr id="20" name="Chevron 19"/>
          <p:cNvSpPr/>
          <p:nvPr/>
        </p:nvSpPr>
        <p:spPr>
          <a:xfrm>
            <a:off x="49194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12080" y="3931920"/>
            <a:ext cx="3749039" cy="4517136"/>
          </a:xfrm>
          <a:prstGeom prst="roundRect">
            <a:avLst>
              <a:gd name="adj" fmla="val 7804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04688" y="4187952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480974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Central Java + DIY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5285231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5B21B6"/>
                </a:solidFill>
                <a:latin typeface="Roboto Condensed"/>
              </a:rPr>
              <a:t>62,797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616305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660196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School sessions, events, and Scanvas Studio.</a:t>
            </a:r>
          </a:p>
        </p:txBody>
      </p:sp>
      <p:sp>
        <p:nvSpPr>
          <p:cNvPr id="27" name="Chevron 26"/>
          <p:cNvSpPr/>
          <p:nvPr/>
        </p:nvSpPr>
        <p:spPr>
          <a:xfrm>
            <a:off x="90342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0" y="3566160"/>
            <a:ext cx="3749039" cy="488289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19488" y="3822192"/>
            <a:ext cx="169468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NATIONAL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444398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Indonesia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491947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5B21B6"/>
                </a:solidFill>
                <a:latin typeface="Roboto Condensed"/>
              </a:rPr>
              <a:t>420,886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579729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PAUD + primary schools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623620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≈35.3M children aged 3–10.*</a:t>
            </a:r>
          </a:p>
        </p:txBody>
      </p:sp>
      <p:sp>
        <p:nvSpPr>
          <p:cNvPr id="34" name="Chevron 33"/>
          <p:cNvSpPr/>
          <p:nvPr/>
        </p:nvSpPr>
        <p:spPr>
          <a:xfrm>
            <a:off x="13149072" y="6400800"/>
            <a:ext cx="219456" cy="475488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3441680" y="3200400"/>
            <a:ext cx="3749039" cy="524865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3734288" y="3456432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EXPAND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34288" y="4078224"/>
            <a:ext cx="3200399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Roboto Condensed SemiBold"/>
              </a:rPr>
              <a:t>Southeast Asia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34288" y="4553712"/>
            <a:ext cx="3200399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7C3AED"/>
                </a:solidFill>
                <a:latin typeface="Roboto Condensed"/>
              </a:rPr>
              <a:t>SEA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34288" y="5431536"/>
            <a:ext cx="3200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172033"/>
                </a:solidFill>
                <a:latin typeface="Roboto Condensed SemiBold"/>
              </a:rPr>
              <a:t>same engine, local 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34288" y="5870448"/>
            <a:ext cx="320039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New languages, worlds, cultural content, partners.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8595360"/>
            <a:ext cx="16093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21B6"/>
                </a:solidFill>
                <a:latin typeface="Roboto Condensed SemiBold"/>
              </a:rPr>
              <a:t>Institution counts represent the first distribution beachhead — not the entire Scanvas market. Families, events, and content expand beyond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9180576"/>
            <a:ext cx="160934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172033"/>
                </a:solidFill>
                <a:latin typeface="Roboto Condensed"/>
              </a:rPr>
              <a:t>Sources: Kemendikdasmen Data Referensi Pendidikan (PAUD, SD), accessed Sep 2026 · *estimated from BPS population by 5-year age group, 2022. Details in Appendix B.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APPENDIX · MARKET EXPANSION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60934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Market Figures Use Indonesian Education Data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and a BPS-Based Child Population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16093440" cy="649224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523744"/>
            <a:ext cx="50292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23744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23744"/>
            <a:ext cx="8412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 i="0">
                <a:solidFill>
                  <a:srgbClr val="7C3AED"/>
                </a:solidFill>
                <a:latin typeface="Roboto Condensed SemiBold"/>
              </a:rPr>
              <a:t>How it is calculated /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3072384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31455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units, Indonesia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455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243,604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1455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TK 134,789 + KB 86,429 + TPA 2,684 + SPS 19,702 · Kemendikdasmen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39867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63040" y="4059935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Primary schools (SD sederajat),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59935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177,282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59935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Kemendikdasmen Data Referensi Pendidikan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9011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63040" y="49743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+ primary schools, Indonesia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743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420,886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743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243,604 + 177,282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58155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63040" y="58887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Central Java + D.I. Yogyakarta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8887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62,797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8887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32,839 + 5,071 · SD 22,835 + 2,052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7299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63040" y="68031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D.I. Yogyakarta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68031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7,123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68031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PAUD 5,071 + SD 2,052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7644383"/>
            <a:ext cx="15361920" cy="18288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63040" y="7717536"/>
            <a:ext cx="502920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Children aged 3–10, Indonesia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7717536"/>
            <a:ext cx="173736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≈35.3M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7717536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2/5 × 22,094,426 (0–4) + 22,013,768 (5–9) + 1/5 × 22,088,673 (10–14) · BPS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8961120"/>
            <a:ext cx="160934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72033"/>
                </a:solidFill>
                <a:latin typeface="Roboto Condense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APPENDIX · MARKET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694944"/>
            <a:ext cx="16093440" cy="1316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33"/>
                </a:solidFill>
                <a:latin typeface="Roboto Condensed"/>
              </a:rPr>
              <a:t>One Pipeline, Responsible Child Data,</a:t>
            </a:r>
            <a:br/>
            <a:r>
              <a:rPr sz="4000" b="1" i="0">
                <a:solidFill>
                  <a:srgbClr val="172033"/>
                </a:solidFill>
                <a:latin typeface="Roboto Condensed"/>
              </a:rPr>
              <a:t>and a Validation Gate Before Every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0160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377439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70" y="2618110"/>
            <a:ext cx="323331" cy="323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Physical creation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Child colors a Scanvas sheet</a:t>
            </a:r>
          </a:p>
        </p:txBody>
      </p:sp>
      <p:sp>
        <p:nvSpPr>
          <p:cNvPr id="19" name="Chevron 18"/>
          <p:cNvSpPr/>
          <p:nvPr/>
        </p:nvSpPr>
        <p:spPr>
          <a:xfrm>
            <a:off x="3218687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01568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84448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4681728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958" y="2618110"/>
            <a:ext cx="323331" cy="32333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84448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Capture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41148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Camera or photo upload</a:t>
            </a:r>
          </a:p>
        </p:txBody>
      </p:sp>
      <p:sp>
        <p:nvSpPr>
          <p:cNvPr id="26" name="Chevron 25"/>
          <p:cNvSpPr/>
          <p:nvPr/>
        </p:nvSpPr>
        <p:spPr>
          <a:xfrm>
            <a:off x="5522976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05855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88736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6986016" y="24688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246" y="2618110"/>
            <a:ext cx="323331" cy="3233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Computer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Marker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8736" y="45720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Perspective correction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8736" y="530352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Crop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8736" y="576072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Object extraction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7827263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10143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93023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4</a:t>
            </a:r>
          </a:p>
        </p:txBody>
      </p:sp>
      <p:sp>
        <p:nvSpPr>
          <p:cNvPr id="39" name="Oval 38"/>
          <p:cNvSpPr/>
          <p:nvPr/>
        </p:nvSpPr>
        <p:spPr>
          <a:xfrm>
            <a:off x="9290303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534" y="2618110"/>
            <a:ext cx="323331" cy="32333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93023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Digital asset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114800"/>
            <a:ext cx="1792223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Child’s artwork becomes the character</a:t>
            </a:r>
          </a:p>
        </p:txBody>
      </p:sp>
      <p:sp>
        <p:nvSpPr>
          <p:cNvPr id="43" name="Chevron 42"/>
          <p:cNvSpPr/>
          <p:nvPr/>
        </p:nvSpPr>
        <p:spPr>
          <a:xfrm>
            <a:off x="10131551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314431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497311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5</a:t>
            </a:r>
          </a:p>
        </p:txBody>
      </p:sp>
      <p:sp>
        <p:nvSpPr>
          <p:cNvPr id="46" name="Oval 45"/>
          <p:cNvSpPr/>
          <p:nvPr/>
        </p:nvSpPr>
        <p:spPr>
          <a:xfrm>
            <a:off x="11594591" y="24688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3822" y="2618110"/>
            <a:ext cx="323331" cy="32333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497311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Interactive 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1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Animation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1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Movement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1" y="50292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Sounds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7311" y="5486400"/>
            <a:ext cx="179222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Interactive world</a:t>
            </a:r>
          </a:p>
        </p:txBody>
      </p:sp>
      <p:sp>
        <p:nvSpPr>
          <p:cNvPr id="53" name="Chevron 52"/>
          <p:cNvSpPr/>
          <p:nvPr/>
        </p:nvSpPr>
        <p:spPr>
          <a:xfrm>
            <a:off x="12435839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2618719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2801599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6</a:t>
            </a:r>
          </a:p>
        </p:txBody>
      </p:sp>
      <p:sp>
        <p:nvSpPr>
          <p:cNvPr id="56" name="Oval 55"/>
          <p:cNvSpPr/>
          <p:nvPr/>
        </p:nvSpPr>
        <p:spPr>
          <a:xfrm>
            <a:off x="13898879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48110" y="2618110"/>
            <a:ext cx="323331" cy="32333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801599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Content 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599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Story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599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Facts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599" y="50292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Discovery</a:t>
            </a:r>
          </a:p>
        </p:txBody>
      </p:sp>
      <p:sp>
        <p:nvSpPr>
          <p:cNvPr id="62" name="Chevron 61"/>
          <p:cNvSpPr/>
          <p:nvPr/>
        </p:nvSpPr>
        <p:spPr>
          <a:xfrm>
            <a:off x="14740127" y="4178808"/>
            <a:ext cx="146304" cy="32918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4923007" y="2286000"/>
            <a:ext cx="2084831" cy="41148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5105887" y="250545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Roboto Condensed"/>
              </a:rPr>
              <a:t>7</a:t>
            </a:r>
          </a:p>
        </p:txBody>
      </p:sp>
      <p:sp>
        <p:nvSpPr>
          <p:cNvPr id="65" name="Oval 64"/>
          <p:cNvSpPr/>
          <p:nvPr/>
        </p:nvSpPr>
        <p:spPr>
          <a:xfrm>
            <a:off x="16203167" y="2468880"/>
            <a:ext cx="621792" cy="62179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52398" y="2618110"/>
            <a:ext cx="323331" cy="32333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105887" y="3273552"/>
            <a:ext cx="1792223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Roboto Condensed"/>
              </a:rPr>
              <a:t>Reusable world engine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105887" y="41148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Ocean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105887" y="4572000"/>
            <a:ext cx="179222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Vehicles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105887" y="5029200"/>
            <a:ext cx="1792223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72033"/>
                </a:solidFill>
                <a:latin typeface="Roboto Condensed"/>
              </a:rPr>
              <a:t>Future: culture, nature, characters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7280" y="6729984"/>
            <a:ext cx="7863840" cy="2743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389888" y="7022592"/>
            <a:ext cx="768096" cy="7680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Picture 72" descr="shield-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231" y="7206935"/>
            <a:ext cx="399409" cy="39940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377440" y="7095744"/>
            <a:ext cx="6217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RESPONSIBLE CHILD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26464" y="7936992"/>
            <a:ext cx="7223760" cy="12070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72033"/>
                </a:solidFill>
                <a:latin typeface="Roboto Condensed"/>
              </a:rPr>
              <a:t>Collect only what is necessary. No child name, parent identity, email, phone, precise location, or artwork itself as analytics payload by default.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326880" y="6729984"/>
            <a:ext cx="7863840" cy="2743200"/>
          </a:xfrm>
          <a:prstGeom prst="roundRect">
            <a:avLst>
              <a:gd name="adj" fmla="val 10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619488" y="702259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repeat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3831" y="7206935"/>
            <a:ext cx="399409" cy="39940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607040" y="7095744"/>
            <a:ext cx="62179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172033"/>
                </a:solidFill>
                <a:latin typeface="Roboto Condensed"/>
              </a:rPr>
              <a:t>VALIDATION PRINCIPLE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656064" y="7973568"/>
            <a:ext cx="130606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Build</a:t>
            </a:r>
          </a:p>
        </p:txBody>
      </p:sp>
      <p:pic>
        <p:nvPicPr>
          <p:cNvPr id="81" name="Picture 80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7852" y="8074152"/>
            <a:ext cx="274320" cy="274320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11327892" y="7973568"/>
            <a:ext cx="156514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Measure</a:t>
            </a:r>
          </a:p>
        </p:txBody>
      </p:sp>
      <p:pic>
        <p:nvPicPr>
          <p:cNvPr id="83" name="Picture 82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38760" y="8074152"/>
            <a:ext cx="274320" cy="274320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3258800" y="7973568"/>
            <a:ext cx="117652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Gate</a:t>
            </a:r>
          </a:p>
        </p:txBody>
      </p:sp>
      <p:pic>
        <p:nvPicPr>
          <p:cNvPr id="85" name="Picture 84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81048" y="8074152"/>
            <a:ext cx="274320" cy="27432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4801088" y="7973568"/>
            <a:ext cx="143560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>
            <a:noAutofit/>
          </a:bodyPr>
          <a:lstStyle/>
          <a:p>
            <a:pPr algn="ctr"/>
            <a:r>
              <a:rPr sz="1500" b="0" i="0">
                <a:solidFill>
                  <a:srgbClr val="5B21B6"/>
                </a:solidFill>
                <a:latin typeface="Roboto Condensed SemiBold"/>
              </a:rPr>
              <a:t>Expand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56064" y="8595360"/>
            <a:ext cx="722376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Do not build the full course before a 3-lesson pilot validates progression and willingness to pay. Do not build large Mission/Story/AI layers before repeat usage is proven.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APPENDIX · TECHNOLOGY &amp; CHILD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12-Month Financial Projection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11680"/>
            <a:ext cx="9692640" cy="7022592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26464" y="213969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1396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500" b="0" i="0">
                <a:solidFill>
                  <a:srgbClr val="7C3AED"/>
                </a:solidFill>
                <a:latin typeface="Roboto Condensed SemiBold"/>
              </a:rPr>
              <a:t>CONSERVATIVE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396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500" b="0" i="0">
                <a:solidFill>
                  <a:srgbClr val="7C3AED"/>
                </a:solidFill>
                <a:latin typeface="Roboto Condensed SemiBold"/>
              </a:rPr>
              <a:t>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6464" y="2551176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19072" y="2560320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B2C packs sold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560320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26464" y="2980944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19072" y="2990087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Paid sessions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90087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990087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26464" y="3410712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26464" y="3419856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B2C pack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19856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Rp14.7M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419856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Rp29.4M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26464" y="3840480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26464" y="3849624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B2B session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49624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Rp24.0M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849624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Rp48.0M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43584" y="4261104"/>
            <a:ext cx="9400032" cy="466344"/>
          </a:xfrm>
          <a:prstGeom prst="roundRect">
            <a:avLst>
              <a:gd name="adj" fmla="val 235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26464" y="4279392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Customer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279392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5B21B6"/>
                </a:solidFill>
                <a:latin typeface="Roboto Condensed"/>
              </a:rPr>
              <a:t>Rp38.7M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279392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5B21B6"/>
                </a:solidFill>
                <a:latin typeface="Roboto Condensed"/>
              </a:rPr>
              <a:t>Rp77.4M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26464" y="4700016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26464" y="4709159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Direct costs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709159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−Rp12.0M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4709159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−Rp24.0M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43584" y="5120640"/>
            <a:ext cx="9400032" cy="466344"/>
          </a:xfrm>
          <a:prstGeom prst="roundRect">
            <a:avLst>
              <a:gd name="adj" fmla="val 235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426464" y="5138927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Gross contribution (69%)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138927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5B21B6"/>
                </a:solidFill>
                <a:latin typeface="Roboto Condensed"/>
              </a:rPr>
              <a:t>Rp26.7M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138927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5B21B6"/>
                </a:solidFill>
                <a:latin typeface="Roboto Condensed"/>
              </a:rPr>
              <a:t>Rp53.4M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26464" y="5559552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719072" y="5568696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Team (2 founders × Rp4M × 12)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568696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−Rp96.0M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568696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−Rp96.0M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26464" y="5989320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19072" y="5998464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Go-to-market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998464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−Rp24.0M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998464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−Rp24.0M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6464" y="6419088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719072" y="6428231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Product, infrastructure &amp; tools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6428231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−Rp18.0M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6428231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−Rp18.0M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26464" y="6848855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719072" y="6857999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Content creation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6857999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−Rp15.0M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95360" y="6857999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−Rp15.0M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26464" y="7278624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719072" y="7287768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Legal &amp; admin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7287768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−Rp5.0M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7287768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−Rp5.0M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26464" y="7708392"/>
            <a:ext cx="9034272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426464" y="7717536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"/>
              </a:rPr>
              <a:t>Operating expenses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7717536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−Rp158.0M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0" y="7717536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700" b="0" i="0">
                <a:solidFill>
                  <a:srgbClr val="172033"/>
                </a:solidFill>
                <a:latin typeface="Roboto Condensed"/>
              </a:rPr>
              <a:t>−Rp158.0M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43584" y="8129016"/>
            <a:ext cx="9400032" cy="466344"/>
          </a:xfrm>
          <a:prstGeom prst="roundRect">
            <a:avLst>
              <a:gd name="adj" fmla="val 235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426464" y="8147304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Net result, year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8147304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5B21B6"/>
                </a:solidFill>
                <a:latin typeface="Roboto Condensed"/>
              </a:rPr>
              <a:t>−Rp131.3M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8147304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5B21B6"/>
                </a:solidFill>
                <a:latin typeface="Roboto Condensed"/>
              </a:rPr>
              <a:t>−Rp104.6M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43584" y="8558784"/>
            <a:ext cx="9400032" cy="466344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426464" y="8577072"/>
            <a:ext cx="493776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Roboto Condensed SemiBold"/>
              </a:rPr>
              <a:t>Cash at month 12 with Rp200M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8577072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15803D"/>
                </a:solidFill>
                <a:latin typeface="Roboto Condensed"/>
              </a:rPr>
              <a:t>Rp68.7M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0" y="8577072"/>
            <a:ext cx="1920240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800" b="1" i="0">
                <a:solidFill>
                  <a:srgbClr val="15803D"/>
                </a:solidFill>
                <a:latin typeface="Roboto Condensed"/>
              </a:rPr>
              <a:t>Rp95.4M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155680" y="2011680"/>
            <a:ext cx="6035040" cy="2743200"/>
          </a:xfrm>
          <a:prstGeom prst="roundRect">
            <a:avLst>
              <a:gd name="adj" fmla="val 9333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448288" y="215798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15803D"/>
                </a:solidFill>
                <a:latin typeface="Roboto Condensed SemiBold"/>
              </a:rPr>
              <a:t>CASH PLAN</a:t>
            </a:r>
          </a:p>
        </p:txBody>
      </p:sp>
      <p:pic>
        <p:nvPicPr>
          <p:cNvPr id="79" name="Picture 78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88" y="2670048"/>
            <a:ext cx="256032" cy="25603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1814048" y="2596896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Operating burn ≈ Rp13.2M per month (Rp158M / 12).</a:t>
            </a:r>
          </a:p>
        </p:txBody>
      </p:sp>
      <p:pic>
        <p:nvPicPr>
          <p:cNvPr id="81" name="Picture 80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88" y="3364991"/>
            <a:ext cx="256032" cy="256032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1814048" y="3291839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With Rp200M, cash at month 12 stays positive in both cases.</a:t>
            </a:r>
          </a:p>
        </p:txBody>
      </p:sp>
      <p:pic>
        <p:nvPicPr>
          <p:cNvPr id="83" name="Picture 82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88" y="4059935"/>
            <a:ext cx="256032" cy="25603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1814048" y="3986783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Remaining cash covers inventory (production budget), contingency, and runway into year 2.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155680" y="4974336"/>
            <a:ext cx="6035040" cy="4059936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448288" y="5120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ASSUMPTIONS</a:t>
            </a:r>
          </a:p>
        </p:txBody>
      </p:sp>
      <p:sp>
        <p:nvSpPr>
          <p:cNvPr id="87" name="Oval 86"/>
          <p:cNvSpPr/>
          <p:nvPr/>
        </p:nvSpPr>
        <p:spPr>
          <a:xfrm>
            <a:off x="11484864" y="5724144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777472" y="5559552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Pack Rp49K; direct cost Rp20K (print &amp; packaging Rp10K, delivery Rp10K)</a:t>
            </a:r>
          </a:p>
        </p:txBody>
      </p:sp>
      <p:sp>
        <p:nvSpPr>
          <p:cNvPr id="89" name="Oval 88"/>
          <p:cNvSpPr/>
          <p:nvPr/>
        </p:nvSpPr>
        <p:spPr>
          <a:xfrm>
            <a:off x="11484864" y="6400800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777472" y="6236208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Session Rp1M, up to 30 children; direct cost Rp250K</a:t>
            </a:r>
          </a:p>
        </p:txBody>
      </p:sp>
      <p:sp>
        <p:nvSpPr>
          <p:cNvPr id="91" name="Oval 90"/>
          <p:cNvSpPr/>
          <p:nvPr/>
        </p:nvSpPr>
        <p:spPr>
          <a:xfrm>
            <a:off x="11484864" y="7077456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777472" y="6912864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Volume: 25–50 packs and 2–4 sessions per month</a:t>
            </a:r>
          </a:p>
        </p:txBody>
      </p:sp>
      <p:sp>
        <p:nvSpPr>
          <p:cNvPr id="93" name="Oval 92"/>
          <p:cNvSpPr/>
          <p:nvPr/>
        </p:nvSpPr>
        <p:spPr>
          <a:xfrm>
            <a:off x="11484864" y="7754112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1777472" y="7589520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Platform-only (per-drawing) revenue excluded</a:t>
            </a:r>
          </a:p>
        </p:txBody>
      </p:sp>
      <p:sp>
        <p:nvSpPr>
          <p:cNvPr id="95" name="Oval 94"/>
          <p:cNvSpPr/>
          <p:nvPr/>
        </p:nvSpPr>
        <p:spPr>
          <a:xfrm>
            <a:off x="11484864" y="8430767"/>
            <a:ext cx="128016" cy="12801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777472" y="8266175"/>
            <a:ext cx="526694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72033"/>
                </a:solidFill>
                <a:latin typeface="Roboto Condensed"/>
              </a:rPr>
              <a:t>CAC and LTV measured during validation, not assumed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7280" y="9144000"/>
            <a:ext cx="160934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72033"/>
                </a:solidFill>
                <a:latin typeface="Roboto Condensed"/>
              </a:rPr>
              <a:t>Founders’ 12-month financial model, Sep 2026. All prices, costs, and volumes are planning assumptions, not validated at commercial volume. Grant or prize money would be financing, never revenue.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APPENDIX · FINANCIAL PROJECTION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052504"/>
              <a:ext cx="24384000" cy="663496"/>
              <a:chOff x="0" y="0"/>
              <a:chExt cx="4816593" cy="1310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663496"/>
              <a:chOff x="0" y="0"/>
              <a:chExt cx="4816593" cy="1310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234290"/>
              <a:ext cx="24384000" cy="663496"/>
              <a:chOff x="0" y="0"/>
              <a:chExt cx="4816593" cy="1310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16592" cy="131061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31061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131061"/>
                    </a:lnTo>
                    <a:lnTo>
                      <a:pt x="0" y="131061"/>
                    </a:ln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16593" cy="1691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1"/>
          <p:cNvSpPr txBox="1"/>
          <p:nvPr/>
        </p:nvSpPr>
        <p:spPr>
          <a:xfrm>
            <a:off x="1097280" y="822960"/>
            <a:ext cx="146304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Roboto Condensed"/>
              </a:rPr>
              <a:t>Chaoyang Pilot: Validation Before Expansion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11680"/>
            <a:ext cx="16093440" cy="1316736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1214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87168"/>
            <a:ext cx="15361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500" b="1" i="0">
                <a:solidFill>
                  <a:srgbClr val="172033"/>
                </a:solidFill>
                <a:latin typeface="Roboto Condensed"/>
              </a:rPr>
              <a:t>Test whether Scanvas can transfer to a new language and cultural context through a local partner.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66160"/>
            <a:ext cx="7863840" cy="420624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39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SCOPE</a:t>
            </a:r>
          </a:p>
        </p:txBody>
      </p:sp>
      <p:pic>
        <p:nvPicPr>
          <p:cNvPr id="18" name="Picture 1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352544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01952" y="4242816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One partner</a:t>
            </a:r>
          </a:p>
        </p:txBody>
      </p:sp>
      <p:pic>
        <p:nvPicPr>
          <p:cNvPr id="20" name="Picture 19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91947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01952" y="4809744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One localized theme</a:t>
            </a:r>
          </a:p>
        </p:txBody>
      </p:sp>
      <p:pic>
        <p:nvPicPr>
          <p:cNvPr id="22" name="Picture 2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5486400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01952" y="5376672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Mandarin adaptation</a:t>
            </a:r>
          </a:p>
        </p:txBody>
      </p:sp>
      <p:pic>
        <p:nvPicPr>
          <p:cNvPr id="24" name="Picture 2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605332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01952" y="5943600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Small child session</a:t>
            </a:r>
          </a:p>
        </p:txBody>
      </p:sp>
      <p:pic>
        <p:nvPicPr>
          <p:cNvPr id="26" name="Picture 25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6620255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901952" y="6510527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No permanent China operation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566160"/>
            <a:ext cx="7863840" cy="420624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1905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3749039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7C3AED"/>
                </a:solidFill>
                <a:latin typeface="Roboto Condensed SemiBold"/>
              </a:rPr>
              <a:t>MEASURE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35254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31552" y="4242816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Activation / completion</a:t>
            </a:r>
          </a:p>
        </p:txBody>
      </p:sp>
      <p:pic>
        <p:nvPicPr>
          <p:cNvPr id="32" name="Picture 3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919472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31552" y="4809744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Scan success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5486400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31552" y="5376672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Children’s engagement</a:t>
            </a:r>
          </a:p>
        </p:txBody>
      </p:sp>
      <p:pic>
        <p:nvPicPr>
          <p:cNvPr id="36" name="Picture 3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6053328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131552" y="5943600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Partner willingness to repeat</a:t>
            </a:r>
          </a:p>
        </p:txBody>
      </p:sp>
      <p:pic>
        <p:nvPicPr>
          <p:cNvPr id="38" name="Picture 3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6620255"/>
            <a:ext cx="274320" cy="274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31552" y="6510527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Parent / institution willingness to pay</a:t>
            </a:r>
          </a:p>
        </p:txBody>
      </p:sp>
      <p:pic>
        <p:nvPicPr>
          <p:cNvPr id="40" name="Picture 3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7187184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131552" y="7077456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00" b="0" i="0">
                <a:solidFill>
                  <a:srgbClr val="172033"/>
                </a:solidFill>
                <a:latin typeface="Roboto Condensed"/>
              </a:rPr>
              <a:t>Localization cost and effort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8010144"/>
            <a:ext cx="16093440" cy="1389888"/>
          </a:xfrm>
          <a:prstGeom prst="roundRect">
            <a:avLst>
              <a:gd name="adj" fmla="val 21052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63040" y="8138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EDE9FE"/>
                </a:solidFill>
                <a:latin typeface="Roboto Condensed SemiBold"/>
              </a:rPr>
              <a:t>GO / NO-GO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8485632"/>
            <a:ext cx="1536192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Roboto Condensed"/>
              </a:rPr>
              <a:t>Scale only if demand, repeat intent, and localization economics justify the next pilot.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035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500" b="0" i="0">
                <a:solidFill>
                  <a:srgbClr val="5271FF"/>
                </a:solidFill>
                <a:latin typeface="Roboto Condensed SemiBold"/>
              </a:rPr>
              <a:t>APPENDIX · CHAOYANG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2845</Words>
  <Application>Microsoft Office PowerPoint</Application>
  <PresentationFormat>Custom</PresentationFormat>
  <Paragraphs>491</Paragraphs>
  <Slides>19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Arial</vt:lpstr>
      <vt:lpstr>Roboto Condensed SemiBold</vt:lpstr>
      <vt:lpstr>Roboto Condensed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ITEC PITCH DECK</dc:title>
  <cp:lastModifiedBy>Haikal Hilmi</cp:lastModifiedBy>
  <cp:revision>2</cp:revision>
  <dcterms:created xsi:type="dcterms:W3CDTF">2006-08-16T00:00:00Z</dcterms:created>
  <dcterms:modified xsi:type="dcterms:W3CDTF">2026-10-05T14:36:35Z</dcterms:modified>
  <dc:identifier>DAFt2xZYbnU</dc:identifier>
</cp:coreProperties>
</file>