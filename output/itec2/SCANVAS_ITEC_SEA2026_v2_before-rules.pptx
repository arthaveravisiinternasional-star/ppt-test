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Fredoka" pitchFamily="2" charset="-79"/>
      <p:bold r:id="rId17"/>
    </p:embeddedFont>
    <p:embeddedFont>
      <p:font typeface="Fredoka SemiBold" pitchFamily="2" charset="-79"/>
      <p:bold r:id="rId18"/>
    </p:embeddedFont>
    <p:embeddedFont>
      <p:font typeface="Josefin Slab SemiBold" pitchFamily="2" charset="0"/>
      <p:bold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itchFamily="2" charset="0"/>
      <p:regular r:id="rId24"/>
      <p:bold r:id="rId25"/>
      <p:italic r:id="rId26"/>
      <p:boldItalic r:id="rId27"/>
    </p:embeddedFont>
    <p:embeddedFont>
      <p:font typeface="Montserrat Black" pitchFamily="2" charset="0"/>
      <p:bold r:id="rId28"/>
      <p:boldItalic r:id="rId29"/>
    </p:embeddedFont>
    <p:embeddedFont>
      <p:font typeface="Montserrat ExtraBold" pitchFamily="2" charset="0"/>
      <p:bold r:id="rId30"/>
      <p:boldItalic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  <p:embeddedFont>
      <p:font typeface="Proxima Nova Semibold" panose="020B0604020202020204" charset="0"/>
      <p:regular r:id="rId36"/>
      <p:bold r:id="rId37"/>
      <p:boldItalic r:id="rId38"/>
    </p:embeddedFont>
    <p:embeddedFont>
      <p:font typeface="Roboto Condensed Light" panose="02000000000000000000" pitchFamily="2" charset="0"/>
      <p:regular r:id="rId39"/>
      <p:bold r:id="rId40"/>
      <p:italic r:id="rId41"/>
      <p:boldItalic r:id="rId42"/>
    </p:embeddedFont>
    <p:embeddedFont>
      <p:font typeface="Segoe UI" panose="020B0502040204020203" pitchFamily="34" charset="0"/>
      <p:regular r:id="rId43"/>
      <p:bold r:id="rId44"/>
      <p:italic r:id="rId45"/>
      <p:boldItalic r:id="rId46"/>
    </p:embeddedFont>
    <p:embeddedFont>
      <p:font typeface="Staatliches" pitchFamily="2" charset="0"/>
      <p:regular r:id="rId47"/>
    </p:embeddedFont>
    <p:embeddedFont>
      <p:font typeface="Varela Round" pitchFamily="2" charset="-79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0CE18-CB0B-400C-8185-28348DB99452}">
  <a:tblStyle styleId="{AE70CE18-CB0B-400C-8185-28348DB99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font" Target="fonts/font31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font" Target="fonts/font2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font" Target="fonts/font28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48" Type="http://schemas.openxmlformats.org/officeDocument/2006/relationships/font" Target="fonts/font32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font" Target="fonts/font30.fntdata"/><Relationship Id="rId20" Type="http://schemas.openxmlformats.org/officeDocument/2006/relationships/font" Target="fonts/font4.fntdata"/><Relationship Id="rId41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Scanvas is a physical-to-digital creation engine: a child’s own drawing becomes an interactive character in a digital world, in the browser.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gaps: physical creativity has no digital life, and digital entertainment rarely lets children create. Scanvas connects the two.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Color, Scan, Come Alive, Explore, Discover. Photo or upload, marker detection, processing, then an interactive world with motion, audio, and short facts.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on this slide is live today at scanvas.id: real screenshots from the current product.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moat is not the website; it is the pipeline: physical input, computer-vision processing, personalized asset, interactive runtime, content system.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Digital Culture fit: child-generated content becomes interactive media, and the engine scales into worlds, characters, and IP.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Numbers count PAUD and primary-school units, our institutional buyers; they are not the whole market.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 models only: pack and session prices are still being validated, so no nominal prices here.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participants were not paying customers. The value of the pilot: five product improvements, two already shipped.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12 months: validate, make repeatable, scale content. Complementary founders: business and technology.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do not claim no competitors: they prove the category exists. Evidence checked Sep 2026 on each product’s official site.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Single-year ages are not published in this table, so ages 3-10 are a proportional estimate.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Backend detects ArUco markers, corrects perspective, and extracts the object; the frontend shows it with motion, sound, and facts.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29" name="Google Shape;29;p3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57" name="Google Shape;57;p3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7F8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subTitle" idx="1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 idx="2"/>
          </p:nvPr>
        </p:nvSpPr>
        <p:spPr>
          <a:xfrm>
            <a:off x="914238" y="50714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ctrTitle" idx="3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4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720095" y="3263904"/>
            <a:ext cx="3539492" cy="2951122"/>
            <a:chOff x="-720095" y="3263904"/>
            <a:chExt cx="3539492" cy="2951122"/>
          </a:xfrm>
        </p:grpSpPr>
        <p:sp>
          <p:nvSpPr>
            <p:cNvPr id="105" name="Google Shape;105;p5"/>
            <p:cNvSpPr/>
            <p:nvPr/>
          </p:nvSpPr>
          <p:spPr>
            <a:xfrm rot="-4042627" flipH="1">
              <a:off x="-482993" y="3745959"/>
              <a:ext cx="1004486" cy="118336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422298" flipH="1">
              <a:off x="-289786" y="3599993"/>
              <a:ext cx="2150190" cy="2278942"/>
            </a:xfrm>
            <a:custGeom>
              <a:avLst/>
              <a:gdLst/>
              <a:ahLst/>
              <a:cxnLst/>
              <a:rect l="l" t="t" r="r" b="b"/>
              <a:pathLst>
                <a:path w="37180" h="44554" extrusionOk="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5"/>
          <p:cNvGrpSpPr/>
          <p:nvPr/>
        </p:nvGrpSpPr>
        <p:grpSpPr>
          <a:xfrm>
            <a:off x="6779002" y="-295280"/>
            <a:ext cx="3020946" cy="1248196"/>
            <a:chOff x="6779002" y="-295280"/>
            <a:chExt cx="3020946" cy="1248196"/>
          </a:xfrm>
        </p:grpSpPr>
        <p:sp>
          <p:nvSpPr>
            <p:cNvPr id="109" name="Google Shape;109;p5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5"/>
            <p:cNvGrpSpPr/>
            <p:nvPr/>
          </p:nvGrpSpPr>
          <p:grpSpPr>
            <a:xfrm rot="-10552854" flipH="1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/>
            </a:blip>
            <a:srcRect r="67147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143" name="Google Shape;143;p8"/>
            <p:cNvSpPr/>
            <p:nvPr/>
          </p:nvSpPr>
          <p:spPr>
            <a:xfrm rot="10800000" flipH="1">
              <a:off x="4366399" y="335155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10800000" flipH="1">
              <a:off x="4323086" y="4314893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10800000" flipH="1">
              <a:off x="3363131" y="-81230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10800000" flipH="1">
              <a:off x="7314957" y="222473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7135398" y="-81228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149" name="Google Shape;149;p8"/>
              <p:cNvSpPr/>
              <p:nvPr/>
            </p:nvSpPr>
            <p:spPr>
              <a:xfrm rot="10800000" flipH="1">
                <a:off x="2493374" y="-81232"/>
                <a:ext cx="3958471" cy="1281175"/>
              </a:xfrm>
              <a:custGeom>
                <a:avLst/>
                <a:gdLst/>
                <a:ahLst/>
                <a:cxnLst/>
                <a:rect l="l" t="t" r="r" b="b"/>
                <a:pathLst>
                  <a:path w="52092" h="14974" extrusionOk="0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 flipH="1">
                <a:off x="3363131" y="-81227"/>
                <a:ext cx="2800232" cy="738468"/>
              </a:xfrm>
              <a:custGeom>
                <a:avLst/>
                <a:gdLst/>
                <a:ahLst/>
                <a:cxnLst/>
                <a:rect l="l" t="t" r="r" b="b"/>
                <a:pathLst>
                  <a:path w="36850" h="8631" extrusionOk="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 rot="10800000" flipH="1">
              <a:off x="6530534" y="703175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l="29508" t="-10800" b="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7F8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2288000" y="-49525"/>
            <a:ext cx="5329733" cy="6118420"/>
            <a:chOff x="2288000" y="-49525"/>
            <a:chExt cx="5329733" cy="6118420"/>
          </a:xfrm>
        </p:grpSpPr>
        <p:sp>
          <p:nvSpPr>
            <p:cNvPr id="223" name="Google Shape;223;p10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228" name="Google Shape;228;p10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0"/>
          <p:cNvGrpSpPr/>
          <p:nvPr/>
        </p:nvGrpSpPr>
        <p:grpSpPr>
          <a:xfrm>
            <a:off x="-665807" y="3431750"/>
            <a:ext cx="3632735" cy="2280574"/>
            <a:chOff x="-665807" y="3431750"/>
            <a:chExt cx="3632735" cy="2280574"/>
          </a:xfrm>
        </p:grpSpPr>
        <p:sp>
          <p:nvSpPr>
            <p:cNvPr id="232" name="Google Shape;232;p10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" name="Google Shape;23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0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235" name="Google Shape;235;p10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8141194" y="779020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96394" y="27193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07835" y="45487"/>
            <a:ext cx="6923436" cy="4730331"/>
          </a:xfrm>
          <a:custGeom>
            <a:avLst/>
            <a:gdLst/>
            <a:ahLst/>
            <a:cxnLst/>
            <a:rect l="l" t="t" r="r" b="b"/>
            <a:pathLst>
              <a:path w="69029" h="47163" extrusionOk="0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85073" y="1238086"/>
            <a:ext cx="2272976" cy="1807954"/>
          </a:xfrm>
          <a:custGeom>
            <a:avLst/>
            <a:gdLst/>
            <a:ahLst/>
            <a:cxnLst/>
            <a:rect l="l" t="t" r="r" b="b"/>
            <a:pathLst>
              <a:path w="10725" h="8531" extrusionOk="0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84799" y="3167397"/>
            <a:ext cx="851626" cy="772190"/>
          </a:xfrm>
          <a:custGeom>
            <a:avLst/>
            <a:gdLst/>
            <a:ahLst/>
            <a:cxnLst/>
            <a:rect l="l" t="t" r="r" b="b"/>
            <a:pathLst>
              <a:path w="8491" h="7699" extrusionOk="0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810334" y="811416"/>
            <a:ext cx="5757979" cy="4004277"/>
          </a:xfrm>
          <a:custGeom>
            <a:avLst/>
            <a:gdLst/>
            <a:ahLst/>
            <a:cxnLst/>
            <a:rect l="l" t="t" r="r" b="b"/>
            <a:pathLst>
              <a:path w="57409" h="39924" extrusionOk="0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83188" y="84563"/>
            <a:ext cx="753535" cy="499682"/>
          </a:xfrm>
          <a:custGeom>
            <a:avLst/>
            <a:gdLst/>
            <a:ahLst/>
            <a:cxnLst/>
            <a:rect l="l" t="t" r="r" b="b"/>
            <a:pathLst>
              <a:path w="7513" h="4982" extrusionOk="0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 hasCustomPrompt="1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2">
            <a:alphaModFix/>
          </a:blip>
          <a:srcRect l="26975" t="44943" b="28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7F8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7F8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_2">
    <p:bg>
      <p:bgPr>
        <a:solidFill>
          <a:srgbClr val="F7F8FC"/>
        </a:solidFill>
        <a:effectLst/>
      </p:bgPr>
    </p:bg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8"/>
          <p:cNvSpPr txBox="1">
            <a:spLocks noGrp="1"/>
          </p:cNvSpPr>
          <p:nvPr>
            <p:ph type="subTitle" idx="1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8"/>
          <p:cNvSpPr txBox="1">
            <a:spLocks noGrp="1"/>
          </p:cNvSpPr>
          <p:nvPr>
            <p:ph type="title" idx="2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882" name="Google Shape;882;p18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883" name="Google Shape;883;p18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4" name="Google Shape;884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18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886" name="Google Shape;886;p18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8" name="Google Shape;888;p18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">
    <p:bg>
      <p:bgPr>
        <a:solidFill>
          <a:srgbClr val="F7F8FC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9"/>
          <p:cNvSpPr/>
          <p:nvPr/>
        </p:nvSpPr>
        <p:spPr>
          <a:xfrm rot="-3450524">
            <a:off x="1259292" y="4296611"/>
            <a:ext cx="1028222" cy="1381915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9"/>
          <p:cNvSpPr txBox="1">
            <a:spLocks noGrp="1"/>
          </p:cNvSpPr>
          <p:nvPr>
            <p:ph type="subTitle" idx="1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2" name="Google Shape;892;p19"/>
          <p:cNvSpPr txBox="1">
            <a:spLocks noGrp="1"/>
          </p:cNvSpPr>
          <p:nvPr>
            <p:ph type="subTitle" idx="2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3" name="Google Shape;893;p19"/>
          <p:cNvSpPr txBox="1">
            <a:spLocks noGrp="1"/>
          </p:cNvSpPr>
          <p:nvPr>
            <p:ph type="subTitle" idx="3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4" name="Google Shape;894;p19"/>
          <p:cNvSpPr txBox="1">
            <a:spLocks noGrp="1"/>
          </p:cNvSpPr>
          <p:nvPr>
            <p:ph type="subTitle" idx="4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5" name="Google Shape;895;p19"/>
          <p:cNvSpPr txBox="1">
            <a:spLocks noGrp="1"/>
          </p:cNvSpPr>
          <p:nvPr>
            <p:ph type="subTitle" idx="5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6" name="Google Shape;896;p19"/>
          <p:cNvSpPr txBox="1">
            <a:spLocks noGrp="1"/>
          </p:cNvSpPr>
          <p:nvPr>
            <p:ph type="subTitle" idx="6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7" name="Google Shape;897;p19"/>
          <p:cNvSpPr txBox="1">
            <a:spLocks noGrp="1"/>
          </p:cNvSpPr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9"/>
          <p:cNvSpPr txBox="1">
            <a:spLocks noGrp="1"/>
          </p:cNvSpPr>
          <p:nvPr>
            <p:ph type="subTitle" idx="7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9" name="Google Shape;899;p19"/>
          <p:cNvSpPr txBox="1">
            <a:spLocks noGrp="1"/>
          </p:cNvSpPr>
          <p:nvPr>
            <p:ph type="subTitle" idx="8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0" name="Google Shape;900;p19"/>
          <p:cNvSpPr txBox="1">
            <a:spLocks noGrp="1"/>
          </p:cNvSpPr>
          <p:nvPr>
            <p:ph type="subTitle" idx="9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1" name="Google Shape;901;p19"/>
          <p:cNvSpPr/>
          <p:nvPr/>
        </p:nvSpPr>
        <p:spPr>
          <a:xfrm rot="6744193">
            <a:off x="7627797" y="-227159"/>
            <a:ext cx="906848" cy="921703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19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908" name="Google Shape;908;p19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Google Shape;91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2" name="Google Shape;912;p19"/>
          <p:cNvSpPr/>
          <p:nvPr/>
        </p:nvSpPr>
        <p:spPr>
          <a:xfrm>
            <a:off x="7667903" y="-136207"/>
            <a:ext cx="1600774" cy="1383657"/>
          </a:xfrm>
          <a:custGeom>
            <a:avLst/>
            <a:gdLst/>
            <a:ahLst/>
            <a:cxnLst/>
            <a:rect l="l" t="t" r="r" b="b"/>
            <a:pathLst>
              <a:path w="29956" h="25893" extrusionOk="0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BLANK_1_1_1">
    <p:bg>
      <p:bgPr>
        <a:noFill/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subTitle" idx="7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2" name="Google Shape;922;p20"/>
          <p:cNvSpPr txBox="1">
            <a:spLocks noGrp="1"/>
          </p:cNvSpPr>
          <p:nvPr>
            <p:ph type="subTitle" idx="8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4" name="Google Shape;924;p20"/>
          <p:cNvGrpSpPr/>
          <p:nvPr/>
        </p:nvGrpSpPr>
        <p:grpSpPr>
          <a:xfrm>
            <a:off x="-594817" y="-1573636"/>
            <a:ext cx="2884246" cy="2884367"/>
            <a:chOff x="-594817" y="-1573636"/>
            <a:chExt cx="2884246" cy="2884367"/>
          </a:xfrm>
        </p:grpSpPr>
        <p:sp>
          <p:nvSpPr>
            <p:cNvPr id="925" name="Google Shape;925;p20"/>
            <p:cNvSpPr/>
            <p:nvPr/>
          </p:nvSpPr>
          <p:spPr>
            <a:xfrm rot="8100000" flipH="1">
              <a:off x="-421266" y="-334077"/>
              <a:ext cx="2456094" cy="84235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9" name="Google Shape;929;p20"/>
          <p:cNvGrpSpPr/>
          <p:nvPr/>
        </p:nvGrpSpPr>
        <p:grpSpPr>
          <a:xfrm>
            <a:off x="6246325" y="-233706"/>
            <a:ext cx="4250936" cy="1877933"/>
            <a:chOff x="6246325" y="-233706"/>
            <a:chExt cx="4250936" cy="1877933"/>
          </a:xfrm>
        </p:grpSpPr>
        <p:sp>
          <p:nvSpPr>
            <p:cNvPr id="930" name="Google Shape;930;p20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1" name="Google Shape;93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20"/>
            <p:cNvSpPr/>
            <p:nvPr/>
          </p:nvSpPr>
          <p:spPr>
            <a:xfrm rot="10800000" flipH="1">
              <a:off x="8203701" y="-109338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0"/>
          <p:cNvGrpSpPr/>
          <p:nvPr/>
        </p:nvGrpSpPr>
        <p:grpSpPr>
          <a:xfrm>
            <a:off x="6310200" y="3498954"/>
            <a:ext cx="3808166" cy="2301773"/>
            <a:chOff x="6310200" y="3498954"/>
            <a:chExt cx="3808166" cy="2301773"/>
          </a:xfrm>
        </p:grpSpPr>
        <p:grpSp>
          <p:nvGrpSpPr>
            <p:cNvPr id="934" name="Google Shape;934;p20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935" name="Google Shape;935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7" name="Google Shape;937;p20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38" name="Google Shape;938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40" name="Google Shape;94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20"/>
          <p:cNvGrpSpPr/>
          <p:nvPr/>
        </p:nvGrpSpPr>
        <p:grpSpPr>
          <a:xfrm>
            <a:off x="-1028710" y="3243250"/>
            <a:ext cx="4364586" cy="2440196"/>
            <a:chOff x="-1028710" y="3243250"/>
            <a:chExt cx="4364586" cy="2440196"/>
          </a:xfrm>
        </p:grpSpPr>
        <p:sp>
          <p:nvSpPr>
            <p:cNvPr id="942" name="Google Shape;942;p20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4" name="Google Shape;94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BLANK_1_1_1_1">
    <p:bg>
      <p:bgPr>
        <a:solidFill>
          <a:srgbClr val="F7F8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"/>
          <p:cNvSpPr txBox="1">
            <a:spLocks noGrp="1"/>
          </p:cNvSpPr>
          <p:nvPr>
            <p:ph type="subTitle" idx="1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21"/>
          <p:cNvSpPr txBox="1">
            <a:spLocks noGrp="1"/>
          </p:cNvSpPr>
          <p:nvPr>
            <p:ph type="subTitle" idx="2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48" name="Google Shape;948;p21"/>
          <p:cNvSpPr txBox="1">
            <a:spLocks noGrp="1"/>
          </p:cNvSpPr>
          <p:nvPr>
            <p:ph type="subTitle" idx="3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21"/>
          <p:cNvSpPr txBox="1">
            <a:spLocks noGrp="1"/>
          </p:cNvSpPr>
          <p:nvPr>
            <p:ph type="subTitle" idx="4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50" name="Google Shape;950;p21"/>
          <p:cNvSpPr txBox="1">
            <a:spLocks noGrp="1"/>
          </p:cNvSpPr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21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952" name="Google Shape;952;p21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953" name="Google Shape;953;p21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56" name="Google Shape;95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BLANK_1_1_1_1_1">
    <p:bg>
      <p:bgPr>
        <a:solidFill>
          <a:srgbClr val="F7F8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22"/>
          <p:cNvSpPr txBox="1">
            <a:spLocks noGrp="1"/>
          </p:cNvSpPr>
          <p:nvPr>
            <p:ph type="subTitle" idx="1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1" name="Google Shape;961;p22"/>
          <p:cNvSpPr txBox="1">
            <a:spLocks noGrp="1"/>
          </p:cNvSpPr>
          <p:nvPr>
            <p:ph type="subTitle" idx="2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62" name="Google Shape;962;p22"/>
          <p:cNvSpPr txBox="1">
            <a:spLocks noGrp="1"/>
          </p:cNvSpPr>
          <p:nvPr>
            <p:ph type="subTitle" idx="3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22"/>
          <p:cNvSpPr txBox="1">
            <a:spLocks noGrp="1"/>
          </p:cNvSpPr>
          <p:nvPr>
            <p:ph type="subTitle" idx="4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964" name="Google Shape;964;p22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965" name="Google Shape;965;p22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9" name="Google Shape;969;p22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3" name="Google Shape;973;p22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2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" name="Google Shape;975;p22"/>
          <p:cNvGrpSpPr/>
          <p:nvPr/>
        </p:nvGrpSpPr>
        <p:grpSpPr>
          <a:xfrm>
            <a:off x="-1462108" y="-365290"/>
            <a:ext cx="4517256" cy="5656448"/>
            <a:chOff x="-1462108" y="-365290"/>
            <a:chExt cx="4517256" cy="5656448"/>
          </a:xfrm>
        </p:grpSpPr>
        <p:grpSp>
          <p:nvGrpSpPr>
            <p:cNvPr id="976" name="Google Shape;976;p22"/>
            <p:cNvGrpSpPr/>
            <p:nvPr/>
          </p:nvGrpSpPr>
          <p:grpSpPr>
            <a:xfrm rot="-373102" flipH="1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977" name="Google Shape;977;p22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83" name="Google Shape;9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2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3"/>
          <p:cNvSpPr txBox="1">
            <a:spLocks noGrp="1"/>
          </p:cNvSpPr>
          <p:nvPr>
            <p:ph type="subTitle" idx="1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23"/>
          <p:cNvSpPr txBox="1">
            <a:spLocks noGrp="1"/>
          </p:cNvSpPr>
          <p:nvPr>
            <p:ph type="subTitle" idx="2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23"/>
          <p:cNvSpPr txBox="1">
            <a:spLocks noGrp="1"/>
          </p:cNvSpPr>
          <p:nvPr>
            <p:ph type="subTitle" idx="3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9" name="Google Shape;989;p23"/>
          <p:cNvSpPr txBox="1">
            <a:spLocks noGrp="1"/>
          </p:cNvSpPr>
          <p:nvPr>
            <p:ph type="title" hasCustomPrompt="1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0" name="Google Shape;990;p23"/>
          <p:cNvSpPr txBox="1">
            <a:spLocks noGrp="1"/>
          </p:cNvSpPr>
          <p:nvPr>
            <p:ph type="title" idx="4" hasCustomPrompt="1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"/>
          <p:cNvSpPr txBox="1">
            <a:spLocks noGrp="1"/>
          </p:cNvSpPr>
          <p:nvPr>
            <p:ph type="title" idx="5" hasCustomPrompt="1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"/>
          <p:cNvSpPr txBox="1">
            <a:spLocks noGrp="1"/>
          </p:cNvSpPr>
          <p:nvPr>
            <p:ph type="title" idx="6"/>
          </p:nvPr>
        </p:nvSpPr>
        <p:spPr>
          <a:xfrm>
            <a:off x="868325" y="548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411464" y="4341794"/>
            <a:ext cx="2814673" cy="858022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-2" y="-118694"/>
            <a:ext cx="2668237" cy="406084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-1" y="-118700"/>
            <a:ext cx="1946477" cy="876726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6" name="Google Shape;9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3"/>
          <p:cNvPicPr preferRelativeResize="0"/>
          <p:nvPr/>
        </p:nvPicPr>
        <p:blipFill rotWithShape="1">
          <a:blip r:embed="rId3">
            <a:alphaModFix/>
          </a:blip>
          <a:srcRect t="63228" b="29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1">
    <p:bg>
      <p:bgPr>
        <a:solidFill>
          <a:srgbClr val="F7F8FC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 txBox="1">
            <a:spLocks noGrp="1"/>
          </p:cNvSpPr>
          <p:nvPr>
            <p:ph type="subTitle" idx="1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0" name="Google Shape;1000;p24"/>
          <p:cNvSpPr txBox="1">
            <a:spLocks noGrp="1"/>
          </p:cNvSpPr>
          <p:nvPr>
            <p:ph type="subTitle" idx="2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1" name="Google Shape;1001;p24"/>
          <p:cNvSpPr txBox="1">
            <a:spLocks noGrp="1"/>
          </p:cNvSpPr>
          <p:nvPr>
            <p:ph type="subTitle" idx="3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2" name="Google Shape;1002;p24"/>
          <p:cNvSpPr txBox="1">
            <a:spLocks noGrp="1"/>
          </p:cNvSpPr>
          <p:nvPr>
            <p:ph type="subTitle" idx="4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3" name="Google Shape;1003;p24"/>
          <p:cNvSpPr txBox="1">
            <a:spLocks noGrp="1"/>
          </p:cNvSpPr>
          <p:nvPr>
            <p:ph type="subTitle" idx="5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4" name="Google Shape;1004;p24"/>
          <p:cNvSpPr txBox="1">
            <a:spLocks noGrp="1"/>
          </p:cNvSpPr>
          <p:nvPr>
            <p:ph type="subTitle" idx="6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5" name="Google Shape;1005;p24"/>
          <p:cNvSpPr txBox="1">
            <a:spLocks noGrp="1"/>
          </p:cNvSpPr>
          <p:nvPr>
            <p:ph type="subTitle" idx="7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6" name="Google Shape;1006;p24"/>
          <p:cNvSpPr txBox="1">
            <a:spLocks noGrp="1"/>
          </p:cNvSpPr>
          <p:nvPr>
            <p:ph type="subTitle" idx="8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7" name="Google Shape;1007;p24"/>
          <p:cNvSpPr txBox="1">
            <a:spLocks noGrp="1"/>
          </p:cNvSpPr>
          <p:nvPr>
            <p:ph type="subTitle" idx="9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8" name="Google Shape;1008;p24"/>
          <p:cNvSpPr txBox="1">
            <a:spLocks noGrp="1"/>
          </p:cNvSpPr>
          <p:nvPr>
            <p:ph type="subTitle" idx="13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9" name="Google Shape;1009;p24"/>
          <p:cNvSpPr txBox="1">
            <a:spLocks noGrp="1"/>
          </p:cNvSpPr>
          <p:nvPr>
            <p:ph type="subTitle" idx="14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4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24"/>
          <p:cNvGrpSpPr/>
          <p:nvPr/>
        </p:nvGrpSpPr>
        <p:grpSpPr>
          <a:xfrm>
            <a:off x="7970121" y="-679169"/>
            <a:ext cx="2287929" cy="3725209"/>
            <a:chOff x="7970121" y="-679169"/>
            <a:chExt cx="2287929" cy="3725209"/>
          </a:xfrm>
        </p:grpSpPr>
        <p:sp>
          <p:nvSpPr>
            <p:cNvPr id="1013" name="Google Shape;1013;p24"/>
            <p:cNvSpPr/>
            <p:nvPr/>
          </p:nvSpPr>
          <p:spPr>
            <a:xfrm>
              <a:off x="8141194" y="779020"/>
              <a:ext cx="114841" cy="114841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85073" y="1238086"/>
              <a:ext cx="2272976" cy="1807954"/>
            </a:xfrm>
            <a:custGeom>
              <a:avLst/>
              <a:gdLst/>
              <a:ahLst/>
              <a:cxnLst/>
              <a:rect l="l" t="t" r="r" b="b"/>
              <a:pathLst>
                <a:path w="10725" h="8531" extrusionOk="0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5" name="Google Shape;1015;p24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" name="Google Shape;1045;p24"/>
          <p:cNvGrpSpPr/>
          <p:nvPr/>
        </p:nvGrpSpPr>
        <p:grpSpPr>
          <a:xfrm>
            <a:off x="-475512" y="3461619"/>
            <a:ext cx="1967899" cy="1878339"/>
            <a:chOff x="-475512" y="3461619"/>
            <a:chExt cx="1967899" cy="1878339"/>
          </a:xfrm>
        </p:grpSpPr>
        <p:sp>
          <p:nvSpPr>
            <p:cNvPr id="1046" name="Google Shape;1046;p24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-272122" y="4502808"/>
              <a:ext cx="971581" cy="837150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8" name="Google Shape;1048;p24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049" name="Google Shape;1049;p24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4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4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4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4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4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4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4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4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4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4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4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4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4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4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0" name="Google Shape;1320;p24"/>
          <p:cNvSpPr txBox="1">
            <a:spLocks noGrp="1"/>
          </p:cNvSpPr>
          <p:nvPr>
            <p:ph type="subTitle" idx="15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1"/>
        </a:solidFill>
        <a:effectLst/>
      </p:bgPr>
    </p:bg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3" name="Google Shape;1323;p25"/>
          <p:cNvSpPr txBox="1">
            <a:spLocks noGrp="1"/>
          </p:cNvSpPr>
          <p:nvPr>
            <p:ph type="subTitle" idx="1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324" name="Google Shape;1324;p25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25"/>
          <p:cNvSpPr/>
          <p:nvPr/>
        </p:nvSpPr>
        <p:spPr>
          <a:xfrm rot="10800000" flipH="1">
            <a:off x="4366399" y="335155"/>
            <a:ext cx="3758237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25"/>
          <p:cNvSpPr/>
          <p:nvPr/>
        </p:nvSpPr>
        <p:spPr>
          <a:xfrm rot="10800000" flipH="1">
            <a:off x="4323086" y="4314893"/>
            <a:ext cx="2068144" cy="844477"/>
          </a:xfrm>
          <a:custGeom>
            <a:avLst/>
            <a:gdLst/>
            <a:ahLst/>
            <a:cxnLst/>
            <a:rect l="l" t="t" r="r" b="b"/>
            <a:pathLst>
              <a:path w="27216" h="9870" extrusionOk="0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25"/>
          <p:cNvSpPr/>
          <p:nvPr/>
        </p:nvSpPr>
        <p:spPr>
          <a:xfrm rot="10800000" flipH="1">
            <a:off x="3363131" y="-81230"/>
            <a:ext cx="2800232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5"/>
          <p:cNvSpPr/>
          <p:nvPr/>
        </p:nvSpPr>
        <p:spPr>
          <a:xfrm rot="10800000" flipH="1">
            <a:off x="7314957" y="222473"/>
            <a:ext cx="1969585" cy="4936898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5"/>
          <p:cNvSpPr/>
          <p:nvPr/>
        </p:nvSpPr>
        <p:spPr>
          <a:xfrm rot="10800000" flipH="1">
            <a:off x="2493374" y="-81232"/>
            <a:ext cx="3958471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5"/>
          <p:cNvSpPr/>
          <p:nvPr/>
        </p:nvSpPr>
        <p:spPr>
          <a:xfrm rot="10800000" flipH="1">
            <a:off x="3363131" y="-81227"/>
            <a:ext cx="2800232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5"/>
          <p:cNvSpPr/>
          <p:nvPr/>
        </p:nvSpPr>
        <p:spPr>
          <a:xfrm rot="10800000" flipH="1">
            <a:off x="6530534" y="703175"/>
            <a:ext cx="1115229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2" name="Google Shape;13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2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26"/>
          <p:cNvPicPr preferRelativeResize="0"/>
          <p:nvPr/>
        </p:nvPicPr>
        <p:blipFill rotWithShape="1">
          <a:blip r:embed="rId2">
            <a:alphaModFix/>
          </a:blip>
          <a:srcRect l="30159" r="11269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26"/>
          <p:cNvSpPr txBox="1">
            <a:spLocks noGrp="1"/>
          </p:cNvSpPr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7" name="Google Shape;1337;p26"/>
          <p:cNvSpPr/>
          <p:nvPr/>
        </p:nvSpPr>
        <p:spPr>
          <a:xfrm rot="-1367296">
            <a:off x="-275194" y="4012351"/>
            <a:ext cx="1004493" cy="118337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6"/>
          <p:cNvSpPr/>
          <p:nvPr/>
        </p:nvSpPr>
        <p:spPr>
          <a:xfrm flipH="1">
            <a:off x="-1028710" y="44331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6"/>
          <p:cNvSpPr/>
          <p:nvPr/>
        </p:nvSpPr>
        <p:spPr>
          <a:xfrm rot="-6757373">
            <a:off x="-455518" y="312304"/>
            <a:ext cx="1004486" cy="118336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 rot="-9377702">
            <a:off x="-262311" y="-637304"/>
            <a:ext cx="2150190" cy="2278942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6"/>
          <p:cNvSpPr/>
          <p:nvPr/>
        </p:nvSpPr>
        <p:spPr>
          <a:xfrm rot="-3371401">
            <a:off x="8078731" y="-548232"/>
            <a:ext cx="1004487" cy="1183374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6"/>
          <p:cNvSpPr/>
          <p:nvPr/>
        </p:nvSpPr>
        <p:spPr>
          <a:xfrm rot="-4335824">
            <a:off x="7567586" y="-1492275"/>
            <a:ext cx="2150167" cy="2278960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6"/>
          <p:cNvSpPr/>
          <p:nvPr/>
        </p:nvSpPr>
        <p:spPr>
          <a:xfrm flipH="1">
            <a:off x="6993440" y="42908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6529813" y="4336457"/>
            <a:ext cx="2878771" cy="827501"/>
          </a:xfrm>
          <a:custGeom>
            <a:avLst/>
            <a:gdLst/>
            <a:ahLst/>
            <a:cxnLst/>
            <a:rect l="l" t="t" r="r" b="b"/>
            <a:pathLst>
              <a:path w="37631" h="10817" extrusionOk="0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7162315" y="4686980"/>
            <a:ext cx="2036507" cy="476978"/>
          </a:xfrm>
          <a:custGeom>
            <a:avLst/>
            <a:gdLst/>
            <a:ahLst/>
            <a:cxnLst/>
            <a:rect l="l" t="t" r="r" b="b"/>
            <a:pathLst>
              <a:path w="26621" h="6235" extrusionOk="0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26"/>
          <p:cNvPicPr preferRelativeResize="0"/>
          <p:nvPr/>
        </p:nvPicPr>
        <p:blipFill rotWithShape="1">
          <a:blip r:embed="rId4">
            <a:alphaModFix/>
          </a:blip>
          <a:srcRect r="46635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bg>
      <p:bgPr>
        <a:solidFill>
          <a:srgbClr val="F7F8F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7"/>
          <p:cNvSpPr txBox="1">
            <a:spLocks noGrp="1"/>
          </p:cNvSpPr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1" name="Google Shape;1351;p27"/>
          <p:cNvSpPr txBox="1">
            <a:spLocks noGrp="1"/>
          </p:cNvSpPr>
          <p:nvPr>
            <p:ph type="body" idx="1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353" name="Google Shape;1353;p27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2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357" name="Google Shape;1357;p2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358" name="Google Shape;1358;p2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1" name="Google Shape;1361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8"/>
          <p:cNvSpPr txBox="1">
            <a:spLocks noGrp="1"/>
          </p:cNvSpPr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65" name="Google Shape;1365;p28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366" name="Google Shape;1366;p28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8"/>
          <p:cNvGrpSpPr/>
          <p:nvPr/>
        </p:nvGrpSpPr>
        <p:grpSpPr>
          <a:xfrm>
            <a:off x="5345050" y="-1560054"/>
            <a:ext cx="4971049" cy="3954101"/>
            <a:chOff x="5345050" y="-1560054"/>
            <a:chExt cx="4971049" cy="3954101"/>
          </a:xfrm>
        </p:grpSpPr>
        <p:sp>
          <p:nvSpPr>
            <p:cNvPr id="1370" name="Google Shape;1370;p28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2" name="Google Shape;137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3" name="Google Shape;1373;p28"/>
          <p:cNvGrpSpPr/>
          <p:nvPr/>
        </p:nvGrpSpPr>
        <p:grpSpPr>
          <a:xfrm>
            <a:off x="-601612" y="3343275"/>
            <a:ext cx="3894259" cy="3108268"/>
            <a:chOff x="-601612" y="3343275"/>
            <a:chExt cx="3894259" cy="3108268"/>
          </a:xfrm>
        </p:grpSpPr>
        <p:sp>
          <p:nvSpPr>
            <p:cNvPr id="1374" name="Google Shape;1374;p28"/>
            <p:cNvSpPr/>
            <p:nvPr/>
          </p:nvSpPr>
          <p:spPr>
            <a:xfrm rot="10800000" flipH="1">
              <a:off x="-350341" y="4191700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6" name="Google Shape;1376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3_1_1_1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0"/>
          <p:cNvSpPr txBox="1">
            <a:spLocks noGrp="1"/>
          </p:cNvSpPr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94" name="Google Shape;1394;p30"/>
          <p:cNvGrpSpPr/>
          <p:nvPr/>
        </p:nvGrpSpPr>
        <p:grpSpPr>
          <a:xfrm>
            <a:off x="6391275" y="-678989"/>
            <a:ext cx="3190877" cy="2248692"/>
            <a:chOff x="6391275" y="-678989"/>
            <a:chExt cx="3190877" cy="2248692"/>
          </a:xfrm>
        </p:grpSpPr>
        <p:sp>
          <p:nvSpPr>
            <p:cNvPr id="1395" name="Google Shape;1395;p30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734153" y="-22515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97" name="Google Shape;1397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8" name="Google Shape;1398;p30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1399" name="Google Shape;1399;p30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1" name="Google Shape;1401;p30"/>
            <p:cNvPicPr preferRelativeResize="0"/>
            <p:nvPr/>
          </p:nvPicPr>
          <p:blipFill rotWithShape="1">
            <a:blip r:embed="rId3">
              <a:alphaModFix/>
            </a:blip>
            <a:srcRect r="19309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7F8FC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1">
    <p:bg>
      <p:bgPr>
        <a:solidFill>
          <a:srgbClr val="F7F8FC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2"/>
          <p:cNvSpPr txBox="1">
            <a:spLocks noGrp="1"/>
          </p:cNvSpPr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8" name="Google Shape;1428;p32"/>
          <p:cNvSpPr/>
          <p:nvPr/>
        </p:nvSpPr>
        <p:spPr>
          <a:xfrm rot="9432608">
            <a:off x="7960777" y="-398872"/>
            <a:ext cx="938669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2"/>
          <p:cNvSpPr/>
          <p:nvPr/>
        </p:nvSpPr>
        <p:spPr>
          <a:xfrm rot="9432653">
            <a:off x="7848993" y="-97641"/>
            <a:ext cx="2075495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32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1431" name="Google Shape;1431;p32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2" name="Google Shape;1432;p32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3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32"/>
          <p:cNvGrpSpPr/>
          <p:nvPr/>
        </p:nvGrpSpPr>
        <p:grpSpPr>
          <a:xfrm>
            <a:off x="-1028710" y="3879719"/>
            <a:ext cx="2293560" cy="1480066"/>
            <a:chOff x="-1028710" y="3879719"/>
            <a:chExt cx="2293560" cy="1480066"/>
          </a:xfrm>
        </p:grpSpPr>
        <p:sp>
          <p:nvSpPr>
            <p:cNvPr id="1436" name="Google Shape;1436;p32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32"/>
          <p:cNvSpPr txBox="1">
            <a:spLocks noGrp="1"/>
          </p:cNvSpPr>
          <p:nvPr>
            <p:ph type="title" idx="2" hasCustomPrompt="1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 idx="3" hasCustomPrompt="1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0" name="Google Shape;1440;p32"/>
          <p:cNvSpPr txBox="1">
            <a:spLocks noGrp="1"/>
          </p:cNvSpPr>
          <p:nvPr>
            <p:ph type="title" idx="4" hasCustomPrompt="1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1" name="Google Shape;1441;p32"/>
          <p:cNvSpPr txBox="1">
            <a:spLocks noGrp="1"/>
          </p:cNvSpPr>
          <p:nvPr>
            <p:ph type="title" idx="5" hasCustomPrompt="1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2" name="Google Shape;1442;p32"/>
          <p:cNvSpPr txBox="1">
            <a:spLocks noGrp="1"/>
          </p:cNvSpPr>
          <p:nvPr>
            <p:ph type="subTitle" idx="1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3" name="Google Shape;1443;p32"/>
          <p:cNvSpPr txBox="1">
            <a:spLocks noGrp="1"/>
          </p:cNvSpPr>
          <p:nvPr>
            <p:ph type="subTitle" idx="6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4" name="Google Shape;1444;p32"/>
          <p:cNvSpPr txBox="1">
            <a:spLocks noGrp="1"/>
          </p:cNvSpPr>
          <p:nvPr>
            <p:ph type="subTitle" idx="7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5" name="Google Shape;1445;p32"/>
          <p:cNvSpPr txBox="1">
            <a:spLocks noGrp="1"/>
          </p:cNvSpPr>
          <p:nvPr>
            <p:ph type="subTitle" idx="8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6" name="Google Shape;1446;p32"/>
          <p:cNvSpPr txBox="1">
            <a:spLocks noGrp="1"/>
          </p:cNvSpPr>
          <p:nvPr>
            <p:ph type="subTitle" idx="9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7" name="Google Shape;1447;p32"/>
          <p:cNvSpPr txBox="1">
            <a:spLocks noGrp="1"/>
          </p:cNvSpPr>
          <p:nvPr>
            <p:ph type="subTitle" idx="13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32"/>
          <p:cNvSpPr txBox="1">
            <a:spLocks noGrp="1"/>
          </p:cNvSpPr>
          <p:nvPr>
            <p:ph type="subTitle" idx="14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32"/>
          <p:cNvSpPr txBox="1">
            <a:spLocks noGrp="1"/>
          </p:cNvSpPr>
          <p:nvPr>
            <p:ph type="subTitle" idx="15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1450" name="Google Shape;145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8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05" name="Google Shape;1805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55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3.png"/><Relationship Id="rId11" Type="http://schemas.openxmlformats.org/officeDocument/2006/relationships/image" Target="../media/image50.png"/><Relationship Id="rId5" Type="http://schemas.openxmlformats.org/officeDocument/2006/relationships/image" Target="../media/image59.png"/><Relationship Id="rId15" Type="http://schemas.openxmlformats.org/officeDocument/2006/relationships/image" Target="../media/image44.png"/><Relationship Id="rId10" Type="http://schemas.openxmlformats.org/officeDocument/2006/relationships/image" Target="../media/image61.png"/><Relationship Id="rId4" Type="http://schemas.openxmlformats.org/officeDocument/2006/relationships/image" Target="../media/image58.png"/><Relationship Id="rId9" Type="http://schemas.openxmlformats.org/officeDocument/2006/relationships/image" Target="../media/image60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3.png"/><Relationship Id="rId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1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3.png"/><Relationship Id="rId5" Type="http://schemas.openxmlformats.org/officeDocument/2006/relationships/image" Target="../media/image58.png"/><Relationship Id="rId4" Type="http://schemas.openxmlformats.org/officeDocument/2006/relationships/image" Target="../media/image69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371600"/>
            <a:ext cx="36576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Fredoka"/>
              </a:rPr>
              <a:t>SCANVAS</a:t>
            </a:r>
          </a:p>
        </p:txBody>
      </p:sp>
      <p:pic>
        <p:nvPicPr>
          <p:cNvPr id="3" name="Picture 2" descr="Scanva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"/>
            <a:ext cx="561290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7C3AED"/>
                </a:solidFill>
                <a:latin typeface="Fredoka"/>
              </a:rPr>
              <a:t>Where Children’s Creativity Comes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Children turn their own paper drawings into characters, interactive worlds, and stories, directly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For children aged 3–10</a:t>
            </a:r>
          </a:p>
        </p:txBody>
      </p:sp>
      <p:pic>
        <p:nvPicPr>
          <p:cNvPr id="7" name="Picture 6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65752"/>
            <a:ext cx="170078" cy="170078"/>
          </a:xfrm>
          <a:prstGeom prst="rect">
            <a:avLst/>
          </a:prstGeom>
        </p:spPr>
      </p:pic>
      <p:pic>
        <p:nvPicPr>
          <p:cNvPr id="8" name="Picture 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0"/>
            <a:ext cx="2514600" cy="2471030"/>
          </a:xfrm>
          <a:prstGeom prst="rect">
            <a:avLst/>
          </a:prstGeom>
        </p:spPr>
      </p:pic>
      <p:pic>
        <p:nvPicPr>
          <p:cNvPr id="9" name="Picture 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4069080" cy="249693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41648" y="3108960"/>
            <a:ext cx="1655064" cy="1627632"/>
          </a:xfrm>
          <a:prstGeom prst="roundRect">
            <a:avLst>
              <a:gd name="adj" fmla="val 955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QR code to scanvas.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3227832"/>
            <a:ext cx="1453896" cy="14538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4809744"/>
            <a:ext cx="1655064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 u="sng">
                <a:solidFill>
                  <a:srgbClr val="2563EB"/>
                </a:solidFill>
                <a:latin typeface="Fredoka"/>
                <a:hlinkClick r:id="rId8"/>
              </a:rPr>
              <a:t>scanvas.id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4206240"/>
            <a:ext cx="283464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07608" y="4224528"/>
            <a:ext cx="2724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172033"/>
                </a:solidFill>
                <a:latin typeface="Fredoka SemiBold"/>
              </a:rPr>
              <a:t>Salsabila Khoirunnisa · CEO &amp; Co-Founder</a:t>
            </a:r>
          </a:p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Haikal Hilmi · CTO &amp; 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ITEC SEA 2026 · Digital Culture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Creativity Often Stops at the Paper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3931920" cy="2148840"/>
          </a:xfrm>
          <a:prstGeom prst="roundRect">
            <a:avLst>
              <a:gd name="adj" fmla="val 7659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25880"/>
            <a:ext cx="1417320" cy="12330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9152" y="1344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Physical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9152" y="1700784"/>
            <a:ext cx="1965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Children draw, color, and imagine. But when the page is finished, the experience usually 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761488"/>
            <a:ext cx="795528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8" name="Picture 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84" y="2839212"/>
            <a:ext cx="137160" cy="137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764792" y="276148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Finished</a:t>
            </a:r>
          </a:p>
        </p:txBody>
      </p:sp>
      <p:pic>
        <p:nvPicPr>
          <p:cNvPr id="10" name="Picture 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915" y="2839212"/>
            <a:ext cx="137160" cy="137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935224" y="2761488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3931920" cy="2148840"/>
          </a:xfrm>
          <a:prstGeom prst="roundRect">
            <a:avLst>
              <a:gd name="adj" fmla="val 7659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64607" y="1325880"/>
            <a:ext cx="1417320" cy="1234440"/>
          </a:xfrm>
          <a:prstGeom prst="roundRect">
            <a:avLst>
              <a:gd name="adj" fmla="val 962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76088" y="1444752"/>
            <a:ext cx="594360" cy="100584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764792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3952" y="1344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Digital entertainment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700784"/>
            <a:ext cx="1965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Engaging, but children often watch, swipe, and consume someone else’s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4607" y="2761488"/>
            <a:ext cx="717804" cy="29260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pic>
        <p:nvPicPr>
          <p:cNvPr id="19" name="Picture 18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59" y="2839212"/>
            <a:ext cx="137160" cy="1371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801868" y="2761488"/>
            <a:ext cx="717804" cy="29260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Swipe</a:t>
            </a:r>
          </a:p>
        </p:txBody>
      </p:sp>
      <p:pic>
        <p:nvPicPr>
          <p:cNvPr id="21" name="Picture 20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2839212"/>
            <a:ext cx="137160" cy="1371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739128" y="2761488"/>
            <a:ext cx="717804" cy="29260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456432"/>
            <a:ext cx="804672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36027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Fredoka SemiBold"/>
              </a:rPr>
              <a:t>SCANVAS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602736"/>
            <a:ext cx="79552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26" name="Picture 2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476" y="3671315"/>
            <a:ext cx="137160" cy="1371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843784" y="3602736"/>
            <a:ext cx="87325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Explore</a:t>
            </a:r>
          </a:p>
        </p:txBody>
      </p:sp>
      <p:pic>
        <p:nvPicPr>
          <p:cNvPr id="28" name="Picture 2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3671315"/>
            <a:ext cx="137160" cy="13716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3936492" y="3602736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Discover</a:t>
            </a:r>
          </a:p>
        </p:txBody>
      </p:sp>
      <p:pic>
        <p:nvPicPr>
          <p:cNvPr id="30" name="Picture 2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671315"/>
            <a:ext cx="137160" cy="13716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106924" y="3602736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Create Again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Fredoka"/>
              </a:rPr>
              <a:t>What if a child’s own creation became the starting point of a digital world?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From Paper to Interactive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Children color a Scanvas sheet, scan or photograph it through the website, and watch their own artwork become an interactive character.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5430"/>
            <a:ext cx="1335024" cy="130468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3232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Child colors a Scanvas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2221991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5728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548" y="1984248"/>
            <a:ext cx="775959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22576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Photograph or upload it in the browser</a:t>
            </a:r>
          </a:p>
        </p:txBody>
      </p:sp>
      <p:sp>
        <p:nvSpPr>
          <p:cNvPr id="15" name="Chevron 14"/>
          <p:cNvSpPr/>
          <p:nvPr/>
        </p:nvSpPr>
        <p:spPr>
          <a:xfrm>
            <a:off x="3831336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5072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367290"/>
            <a:ext cx="1335024" cy="76096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931920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Come Alive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 artwork is extracted and animated</a:t>
            </a:r>
          </a:p>
        </p:txBody>
      </p:sp>
      <p:sp>
        <p:nvSpPr>
          <p:cNvPr id="21" name="Chevron 20"/>
          <p:cNvSpPr/>
          <p:nvPr/>
        </p:nvSpPr>
        <p:spPr>
          <a:xfrm>
            <a:off x="5440680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14416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236" y="1984248"/>
            <a:ext cx="775959" cy="152704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541264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Their character enters an interactive world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0024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23760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Discover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2338162"/>
            <a:ext cx="1335024" cy="819219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150608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Discover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Stories, sounds, and facts extend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15968"/>
            <a:ext cx="804672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wand-sparkles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425696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60704" y="4315968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Not a stock character. The child’s own creation.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68083" y="4407408"/>
            <a:ext cx="1517548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7962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Story &amp; Facts</a:t>
            </a:r>
          </a:p>
        </p:txBody>
      </p:sp>
      <p:pic>
        <p:nvPicPr>
          <p:cNvPr id="37" name="Picture 36" descr="book-open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7811" y="4463003"/>
            <a:ext cx="181416" cy="18141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946343" y="4407408"/>
            <a:ext cx="93030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7962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Sound</a:t>
            </a:r>
          </a:p>
        </p:txBody>
      </p:sp>
      <p:pic>
        <p:nvPicPr>
          <p:cNvPr id="39" name="Picture 38" descr="music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6071" y="4463003"/>
            <a:ext cx="181416" cy="181416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704384" y="4407408"/>
            <a:ext cx="1150518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7962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Movement</a:t>
            </a:r>
          </a:p>
        </p:txBody>
      </p:sp>
      <p:pic>
        <p:nvPicPr>
          <p:cNvPr id="41" name="Picture 40" descr="move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4112" y="4463003"/>
            <a:ext cx="181416" cy="181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804672"/>
            <a:ext cx="338328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Already Live.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No App Required.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36977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15803D"/>
                </a:solidFill>
                <a:latin typeface="Fredoka SemiBold"/>
              </a:rPr>
              <a:t>LIVE TODAY · scanvas.id</a:t>
            </a:r>
          </a:p>
        </p:txBody>
      </p:sp>
      <p:pic>
        <p:nvPicPr>
          <p:cNvPr id="4" name="Picture 3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"/>
            <a:ext cx="170078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an-lin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" y="1893539"/>
            <a:ext cx="199704" cy="19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739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Physical </a:t>
            </a:r>
            <a:r>
              <a:rPr sz="10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0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Print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Varela Round"/>
              </a:rPr>
              <a:t> photo/upload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Varela Round"/>
              </a:rPr>
              <a:t> interactive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1" y="2350739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2311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2 interactive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505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Ocean + Vehicle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" y="280793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26883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Personalized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077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 child’s own artwork is the character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1" y="3265139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560" y="31455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Story &amp; sound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649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Objects unlock sound, story, and facts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alet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11" y="372233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36027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Digital 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8221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Try the experience before buying a pack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globe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11" y="4179539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1560" y="40599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Browser-based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279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No mandatory app installation</a:t>
            </a:r>
          </a:p>
        </p:txBody>
      </p:sp>
      <p:pic>
        <p:nvPicPr>
          <p:cNvPr id="29" name="Picture 28" descr="Landing p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3360" y="182880"/>
            <a:ext cx="1486868" cy="2926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023360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Landing page</a:t>
            </a:r>
          </a:p>
        </p:txBody>
      </p:sp>
      <p:pic>
        <p:nvPicPr>
          <p:cNvPr id="31" name="Picture 30" descr="Scan / uploa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6128" y="182880"/>
            <a:ext cx="1486868" cy="29260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96128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Scan / upload</a:t>
            </a:r>
          </a:p>
        </p:txBody>
      </p:sp>
      <p:pic>
        <p:nvPicPr>
          <p:cNvPr id="33" name="Picture 32" descr="Alive in the worl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182880"/>
            <a:ext cx="1486868" cy="29260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68896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Alive in the world</a:t>
            </a:r>
          </a:p>
        </p:txBody>
      </p:sp>
      <p:pic>
        <p:nvPicPr>
          <p:cNvPr id="35" name="Picture 34" descr="Vehicle worl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9080" y="3310128"/>
            <a:ext cx="2286000" cy="140277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297680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Vehicle world</a:t>
            </a:r>
          </a:p>
        </p:txBody>
      </p:sp>
      <p:pic>
        <p:nvPicPr>
          <p:cNvPr id="37" name="Picture 36" descr="Story &amp; soun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8232" y="3310128"/>
            <a:ext cx="2286000" cy="140277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656832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Story &amp; sound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27248" y="822960"/>
            <a:ext cx="786384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QR code to scanvas.i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2968" y="868680"/>
            <a:ext cx="694944" cy="6949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926080" y="164592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Scan to try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658368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One Engine, Many Interactive Worlds</a:t>
            </a:r>
          </a:p>
        </p:txBody>
      </p:sp>
      <p:sp>
        <p:nvSpPr>
          <p:cNvPr id="3" name="Oval 2"/>
          <p:cNvSpPr/>
          <p:nvPr/>
        </p:nvSpPr>
        <p:spPr>
          <a:xfrm>
            <a:off x="3337560" y="1325880"/>
            <a:ext cx="2468880" cy="246888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24128"/>
            <a:ext cx="1835352" cy="3611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Computer-Vision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Four printed markers guide perspective correction, cropping, and object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6188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Personalized 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extracted artwork, not a stock character, enters the world.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8696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Code-Linked 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Each physical sheet links to its template and digital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6188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Reusable Content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same engine supports new animals, vehicles, nature, culture, characters, and stories.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53712"/>
            <a:ext cx="7772400" cy="347472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553712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5B21B6"/>
                </a:solidFill>
                <a:latin typeface="Fredoka"/>
              </a:rPr>
              <a:t>New content does not require rebuilding the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78638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From Children’s Creativity to Digital Culture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468880" cy="283464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353312"/>
            <a:ext cx="457200" cy="4572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63040"/>
            <a:ext cx="237744" cy="2377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98448" y="1444752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72033"/>
                </a:solidFill>
                <a:latin typeface="Fredoka"/>
              </a:rPr>
              <a:t>Child-generated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Children begin with their own imagination and physical artwork.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687704" cy="21945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Drawing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74089" y="3017520"/>
            <a:ext cx="746760" cy="21945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Coloring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39"/>
            <a:ext cx="923925" cy="21945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Imagination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3108960" y="2487168"/>
            <a:ext cx="137160" cy="27432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7560" y="1188720"/>
            <a:ext cx="2468880" cy="2834640"/>
          </a:xfrm>
          <a:prstGeom prst="roundRect">
            <a:avLst>
              <a:gd name="adj" fmla="val 6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20440" y="13533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ompas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463040"/>
            <a:ext cx="237744" cy="2377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087368" y="1444752"/>
            <a:ext cx="10200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93852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72033"/>
                </a:solidFill>
                <a:latin typeface="Fredoka"/>
              </a:rPr>
              <a:t>Interactive digital worlds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43230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Their creation becomes part of a living world.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017520"/>
            <a:ext cx="80581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Animation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1119" y="3017520"/>
            <a:ext cx="56959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291839"/>
            <a:ext cx="68770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Stories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3009" y="3291839"/>
            <a:ext cx="92392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Interaction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566159"/>
            <a:ext cx="80581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Discovery</a:t>
            </a:r>
          </a:p>
        </p:txBody>
      </p:sp>
      <p:sp>
        <p:nvSpPr>
          <p:cNvPr id="24" name="Chevron 23"/>
          <p:cNvSpPr/>
          <p:nvPr/>
        </p:nvSpPr>
        <p:spPr>
          <a:xfrm>
            <a:off x="5897880" y="2487168"/>
            <a:ext cx="137160" cy="27432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26480" y="1188720"/>
            <a:ext cx="2468880" cy="2834640"/>
          </a:xfrm>
          <a:prstGeom prst="roundRect">
            <a:avLst>
              <a:gd name="adj" fmla="val 666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60" y="13533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ay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463040"/>
            <a:ext cx="237744" cy="23774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876288" y="1444752"/>
            <a:ext cx="115824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CONTENT &amp; 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93852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Fredoka"/>
              </a:rPr>
              <a:t>Scalable worlds and characters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43230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Varela Round"/>
              </a:rPr>
              <a:t>The same platform expands into new content.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017520"/>
            <a:ext cx="62865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Nature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2874" y="3017520"/>
            <a:ext cx="7467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Vehicles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291839"/>
            <a:ext cx="104203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Local culture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259" y="3291839"/>
            <a:ext cx="86487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Characters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566159"/>
            <a:ext cx="7467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Partners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2452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i="0">
                <a:solidFill>
                  <a:srgbClr val="7C3AED"/>
                </a:solidFill>
                <a:latin typeface="Fredoka"/>
              </a:rPr>
              <a:t>Children do not only consume digital culture: they participate in creating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Start Local. Scale the Content Engine.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377440"/>
            <a:ext cx="1874519" cy="1965960"/>
          </a:xfrm>
          <a:prstGeom prst="roundRect">
            <a:avLst>
              <a:gd name="adj" fmla="val 7804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2523744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34640"/>
            <a:ext cx="16001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Fredoka SemiBold"/>
              </a:rPr>
              <a:t>D.I. Yogyakarta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108960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Fredoka"/>
              </a:rPr>
              <a:t>7,123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566160"/>
            <a:ext cx="160019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EDE9FE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822191"/>
            <a:ext cx="160019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FFFFFF"/>
                </a:solidFill>
                <a:latin typeface="Varela Round"/>
              </a:rPr>
              <a:t>First institutional beachhead, where our first pilot ran.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993392"/>
            <a:ext cx="1874519" cy="2350008"/>
          </a:xfrm>
          <a:prstGeom prst="roundRect">
            <a:avLst>
              <a:gd name="adj" fmla="val 7804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52344" y="2139696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450592"/>
            <a:ext cx="16001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Central Java + DIY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2724912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B21B6"/>
                </a:solidFill>
                <a:latin typeface="Fredoka"/>
              </a:rPr>
              <a:t>62,797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3182112"/>
            <a:ext cx="160019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3438144"/>
            <a:ext cx="160019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School sessions, events, and Scanvas Studio.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609344"/>
            <a:ext cx="1874519" cy="2734056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09744" y="1755648"/>
            <a:ext cx="84734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NATIONAL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066544"/>
            <a:ext cx="16001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Indonesia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340864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B21B6"/>
                </a:solidFill>
                <a:latin typeface="Fredoka"/>
              </a:rPr>
              <a:t>420,886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2798064"/>
            <a:ext cx="160019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054096"/>
            <a:ext cx="160019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≈35M children aged 3–10.*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225296"/>
            <a:ext cx="1874519" cy="3118104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67144" y="1371600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1682496"/>
            <a:ext cx="16001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Southeast Asia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1956816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Fredoka"/>
              </a:rPr>
              <a:t>SEA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2414016"/>
            <a:ext cx="160019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replicate the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2670048"/>
            <a:ext cx="160019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New languages, new worlds, local cultural content, partners.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3484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Fredoka SemiBold"/>
              </a:rPr>
              <a:t>Institutional beachhead only: families, events, and content add to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172033"/>
                </a:solidFill>
                <a:latin typeface="Varela Round"/>
              </a:rPr>
              <a:t>Sources: Kemendikdasmen Data Referensi Pendidikan (PAUD, SD), accessed Sep 2026 · *estimated from BPS population by 5-year age group, 2022. Details in Appendix 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One Platform, Multiple Paths to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256032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1171194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AVAILABLE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B2C ·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223113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Physical creative packs that unlock the Scanvas digital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697480"/>
            <a:ext cx="2304287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724912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8950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Per-pack purchase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01568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How we reach them</a:t>
            </a:r>
          </a:p>
        </p:txBody>
      </p:sp>
      <p:pic>
        <p:nvPicPr>
          <p:cNvPr id="11" name="Picture 10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128016" cy="1280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" y="3621024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Short video</a:t>
            </a:r>
          </a:p>
        </p:txBody>
      </p:sp>
      <p:pic>
        <p:nvPicPr>
          <p:cNvPr id="13" name="Picture 12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77056"/>
            <a:ext cx="128016" cy="1280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2688" y="384048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Digital trial</a:t>
            </a:r>
          </a:p>
        </p:txBody>
      </p:sp>
      <p:pic>
        <p:nvPicPr>
          <p:cNvPr id="15" name="Picture 1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96511"/>
            <a:ext cx="128016" cy="1280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2688" y="4059935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Creative pack</a:t>
            </a:r>
          </a:p>
        </p:txBody>
      </p:sp>
      <p:pic>
        <p:nvPicPr>
          <p:cNvPr id="17" name="Picture 16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15968"/>
            <a:ext cx="128016" cy="1280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" y="427939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New world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143000"/>
            <a:ext cx="256032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56432" y="1298448"/>
            <a:ext cx="976884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92400E"/>
                </a:solidFill>
                <a:latin typeface="Fredoka SemiBold"/>
              </a:rPr>
              <a:t>VALIDATING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1645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B2B · Schools &amp;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993392"/>
            <a:ext cx="223113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Managed sessions today, then Scanvas Studio for repeatable institutional 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2697480"/>
            <a:ext cx="2304287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11296" y="2724912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288950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Per session · per participant · usage-based (under validation)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3401568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How we reach them</a:t>
            </a:r>
          </a:p>
        </p:txBody>
      </p:sp>
      <p:pic>
        <p:nvPicPr>
          <p:cNvPr id="27" name="Picture 26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57600"/>
            <a:ext cx="128016" cy="1280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75888" y="3621024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Outreach</a:t>
            </a:r>
          </a:p>
        </p:txBody>
      </p:sp>
      <p:pic>
        <p:nvPicPr>
          <p:cNvPr id="29" name="Picture 28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877056"/>
            <a:ext cx="128016" cy="1280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75888" y="384048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Demo</a:t>
            </a:r>
          </a:p>
        </p:txBody>
      </p:sp>
      <p:pic>
        <p:nvPicPr>
          <p:cNvPr id="31" name="Picture 30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096511"/>
            <a:ext cx="128016" cy="12801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75888" y="4059935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Pilot</a:t>
            </a:r>
          </a:p>
        </p:txBody>
      </p:sp>
      <p:pic>
        <p:nvPicPr>
          <p:cNvPr id="33" name="Picture 32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315968"/>
            <a:ext cx="128016" cy="1280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75888" y="427939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Paid session</a:t>
            </a:r>
          </a:p>
        </p:txBody>
      </p:sp>
      <p:pic>
        <p:nvPicPr>
          <p:cNvPr id="35" name="Picture 3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35424"/>
            <a:ext cx="128016" cy="12801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75888" y="4498848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Repeat 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1143000"/>
            <a:ext cx="256032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99631" y="1298448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1" y="1645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Content &amp; 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1" y="1993392"/>
            <a:ext cx="223113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Interactive worlds, character packs, creative lessons, stories, cultural content, licensed collaborations.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5" y="2697480"/>
            <a:ext cx="2304287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54496" y="2724912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4496" y="288950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Subscriptions · content add-ons · partnerships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1" y="3401568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How it grows</a:t>
            </a:r>
          </a:p>
        </p:txBody>
      </p:sp>
      <p:pic>
        <p:nvPicPr>
          <p:cNvPr id="45" name="Picture 4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128016" cy="12801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19088" y="3621024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New worlds</a:t>
            </a:r>
          </a:p>
        </p:txBody>
      </p:sp>
      <p:pic>
        <p:nvPicPr>
          <p:cNvPr id="47" name="Picture 46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77056"/>
            <a:ext cx="128016" cy="12801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19088" y="384048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Characters</a:t>
            </a:r>
          </a:p>
        </p:txBody>
      </p:sp>
      <p:pic>
        <p:nvPicPr>
          <p:cNvPr id="49" name="Picture 48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096511"/>
            <a:ext cx="128016" cy="12801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19088" y="4059935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Partners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54864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Early Traction </a:t>
            </a:r>
            <a:r>
              <a:rPr sz="26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2600" b="1" i="0">
                <a:solidFill>
                  <a:srgbClr val="172033"/>
                </a:solidFill>
                <a:latin typeface="Fredoka"/>
              </a:rPr>
              <a:t> Product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972714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7962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Fredoka SemiBold"/>
              </a:rPr>
              <a:t>Live product · early validation</a:t>
            </a:r>
          </a:p>
        </p:txBody>
      </p:sp>
      <p:pic>
        <p:nvPicPr>
          <p:cNvPr id="4" name="Picture 3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52875"/>
            <a:ext cx="181416" cy="1814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00200"/>
            <a:ext cx="918971" cy="118872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918971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Fredok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67712"/>
            <a:ext cx="772667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interactive worlds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7340" y="1600200"/>
            <a:ext cx="918971" cy="118872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7340" y="1691640"/>
            <a:ext cx="918971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Fredoka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0492" y="2267712"/>
            <a:ext cx="772667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children in first real-world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600200"/>
            <a:ext cx="918971" cy="118872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1691640"/>
            <a:ext cx="918971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Fredok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267712"/>
            <a:ext cx="772667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TPA pilot 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4740" y="1600200"/>
            <a:ext cx="918971" cy="118872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4740" y="1691640"/>
            <a:ext cx="918971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Fredok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7891" y="2267712"/>
            <a:ext cx="772667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product improvements from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739394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Built</a:t>
            </a:r>
          </a:p>
        </p:txBody>
      </p:sp>
      <p:pic>
        <p:nvPicPr>
          <p:cNvPr id="18" name="Picture 1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81" y="3150108"/>
            <a:ext cx="137160" cy="1371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507490" y="3063240"/>
            <a:ext cx="82143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Tested</a:t>
            </a:r>
          </a:p>
        </p:txBody>
      </p:sp>
      <p:pic>
        <p:nvPicPr>
          <p:cNvPr id="20" name="Picture 1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074" y="3150108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548382" y="3063240"/>
            <a:ext cx="90347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Learned</a:t>
            </a:r>
          </a:p>
        </p:txBody>
      </p:sp>
      <p:pic>
        <p:nvPicPr>
          <p:cNvPr id="22" name="Picture 2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3150108"/>
            <a:ext cx="137160" cy="137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71316" y="3063240"/>
            <a:ext cx="90347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Shipped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Live at scanvas.id · public digital trial · pre-revenue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1097280"/>
            <a:ext cx="374903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47488" y="1261872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Feedback already changed the product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7488" y="19202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883664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Larger interactive world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7488" y="243230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395728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Digital trial before purchase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7488" y="29443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2907792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Bulk drawing processing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47488" y="345643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41985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Story &amp; learning space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7488" y="396849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931920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Additional worlds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5029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From One Magic Moment to a Scalable Content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87552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0607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EDE9FE"/>
                </a:solidFill>
                <a:latin typeface="Fredoka SemiBold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24358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Fredoka"/>
              </a:rPr>
              <a:t>Validate the Magic</a:t>
            </a:r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55064"/>
            <a:ext cx="146304" cy="146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2688" y="160934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Improve scan reliability</a:t>
            </a:r>
          </a:p>
        </p:txBody>
      </p:sp>
      <p:pic>
        <p:nvPicPr>
          <p:cNvPr id="14" name="Picture 1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29384"/>
            <a:ext cx="146304" cy="1463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2688" y="188366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More family testing</a:t>
            </a:r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03703"/>
            <a:ext cx="146304" cy="1463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" y="215798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More school / TPA pilots</a:t>
            </a:r>
          </a:p>
        </p:txBody>
      </p:sp>
      <p:pic>
        <p:nvPicPr>
          <p:cNvPr id="18" name="Picture 1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78024"/>
            <a:ext cx="146304" cy="1463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2688" y="243230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Validate willingness to pay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4408" y="987552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10607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24358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172033"/>
                </a:solidFill>
                <a:latin typeface="Fredoka"/>
              </a:rPr>
              <a:t>Make It Repeatable</a:t>
            </a:r>
          </a:p>
        </p:txBody>
      </p:sp>
      <p:pic>
        <p:nvPicPr>
          <p:cNvPr id="23" name="Picture 22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55064"/>
            <a:ext cx="146304" cy="1463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48456" y="160934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Bulk processing</a:t>
            </a:r>
          </a:p>
        </p:txBody>
      </p:sp>
      <p:pic>
        <p:nvPicPr>
          <p:cNvPr id="25" name="Picture 24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929384"/>
            <a:ext cx="146304" cy="1463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48456" y="188366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Scanvas Studio</a:t>
            </a:r>
          </a:p>
        </p:txBody>
      </p:sp>
      <p:pic>
        <p:nvPicPr>
          <p:cNvPr id="27" name="Picture 26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203703"/>
            <a:ext cx="146304" cy="1463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48456" y="215798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School / event sessions</a:t>
            </a:r>
          </a:p>
        </p:txBody>
      </p:sp>
      <p:pic>
        <p:nvPicPr>
          <p:cNvPr id="29" name="Picture 2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478024"/>
            <a:ext cx="146304" cy="1463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48456" y="243230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Stories, quizzes, guided activities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0176" y="987552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44768" y="10607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124358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172033"/>
                </a:solidFill>
                <a:latin typeface="Fredoka"/>
              </a:rPr>
              <a:t>Scale the Content</a:t>
            </a:r>
          </a:p>
        </p:txBody>
      </p:sp>
      <p:pic>
        <p:nvPicPr>
          <p:cNvPr id="34" name="Picture 3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655064"/>
            <a:ext cx="146304" cy="1463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64224" y="160934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Additional worlds</a:t>
            </a:r>
          </a:p>
        </p:txBody>
      </p:sp>
      <p:pic>
        <p:nvPicPr>
          <p:cNvPr id="36" name="Picture 3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929384"/>
            <a:ext cx="146304" cy="1463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64224" y="188366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Original Scanvas characters</a:t>
            </a:r>
          </a:p>
        </p:txBody>
      </p:sp>
      <p:pic>
        <p:nvPicPr>
          <p:cNvPr id="38" name="Picture 3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203703"/>
            <a:ext cx="146304" cy="1463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64224" y="215798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Cultural themes &amp; partners</a:t>
            </a:r>
          </a:p>
        </p:txBody>
      </p:sp>
      <p:pic>
        <p:nvPicPr>
          <p:cNvPr id="40" name="Picture 3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478024"/>
            <a:ext cx="146304" cy="14630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64224" y="243230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Regional content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944368"/>
            <a:ext cx="4663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Salsabila Khoirunnis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017520"/>
            <a:ext cx="696783" cy="78638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572768" y="3054096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Fredoka"/>
              </a:rPr>
              <a:t>Salsabila Khoirunnisa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3291839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Fredoka SemiBold"/>
              </a:rPr>
              <a:t>CEO &amp; Co-Founder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34930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Varela Round"/>
              </a:rPr>
              <a:t>Business · partnerships · customer discovery · GTM</a:t>
            </a:r>
          </a:p>
        </p:txBody>
      </p:sp>
      <p:pic>
        <p:nvPicPr>
          <p:cNvPr id="47" name="Picture 46" descr="Haikal Hilm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867911"/>
            <a:ext cx="737540" cy="7863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72768" y="3904487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Fredoka"/>
              </a:rPr>
              <a:t>Haikal Hilmi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768" y="4142231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Fredoka SemiBold"/>
              </a:rPr>
              <a:t>CTO &amp; Co-Founder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72768" y="43434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Varela Round"/>
              </a:rPr>
              <a:t>Product · engineering · computer vision · interactive platform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94960" y="2944368"/>
            <a:ext cx="3200400" cy="1783080"/>
          </a:xfrm>
          <a:prstGeom prst="roundRect">
            <a:avLst>
              <a:gd name="adj" fmla="val 8205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quote_de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9552" y="3072384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559552" y="3401568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72033"/>
                </a:solidFill>
                <a:latin typeface="Fredoka"/>
              </a:rPr>
              <a:t>Scanvas turns children from digital-content consumers into creators inside interactive worlds.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9552" y="429768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21B6"/>
                </a:solidFill>
                <a:latin typeface="Fredoka SemiBold"/>
              </a:rPr>
              <a:t>With ITEC SEA: partners · commercialization · regional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6400800" cy="5029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Appendix A ·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5B21B6"/>
                </a:solidFill>
                <a:latin typeface="Fredoka SemiBold"/>
              </a:rPr>
              <a:t>A proven category: Scanvas differs by browser access, shared worlds, and reusable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8321040" cy="2660904"/>
          </a:xfrm>
          <a:prstGeom prst="roundRect">
            <a:avLst>
              <a:gd name="adj" fmla="val 481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0" y="1289304"/>
            <a:ext cx="1124712" cy="2551176"/>
          </a:xfrm>
          <a:prstGeom prst="roundRect">
            <a:avLst>
              <a:gd name="adj" fmla="val 813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97480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Scanvas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13632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Faber-Castell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ARt Alive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784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Quiver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WAGZAK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JUMP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teamLab Sketch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Aquarium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709928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7099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Paper coloring </a:t>
            </a:r>
            <a:r>
              <a:rPr sz="8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8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pic>
        <p:nvPicPr>
          <p:cNvPr id="13" name="Picture 12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1769364"/>
            <a:ext cx="182880" cy="182880"/>
          </a:xfrm>
          <a:prstGeom prst="rect">
            <a:avLst/>
          </a:prstGeom>
        </p:spPr>
      </p:pic>
      <p:pic>
        <p:nvPicPr>
          <p:cNvPr id="14" name="Picture 1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1769364"/>
            <a:ext cx="182880" cy="182880"/>
          </a:xfrm>
          <a:prstGeom prst="rect">
            <a:avLst/>
          </a:prstGeom>
        </p:spPr>
      </p:pic>
      <p:pic>
        <p:nvPicPr>
          <p:cNvPr id="15" name="Picture 1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1769364"/>
            <a:ext cx="182880" cy="182880"/>
          </a:xfrm>
          <a:prstGeom prst="rect">
            <a:avLst/>
          </a:prstGeom>
        </p:spPr>
      </p:pic>
      <p:pic>
        <p:nvPicPr>
          <p:cNvPr id="16" name="Picture 15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1769364"/>
            <a:ext cx="182880" cy="182880"/>
          </a:xfrm>
          <a:prstGeom prst="rect">
            <a:avLst/>
          </a:prstGeom>
        </p:spPr>
      </p:pic>
      <p:pic>
        <p:nvPicPr>
          <p:cNvPr id="17" name="Picture 16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1769364"/>
            <a:ext cx="182880" cy="1828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85800" y="2011680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011680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Child’s artwork becomes character</a:t>
            </a:r>
          </a:p>
        </p:txBody>
      </p:sp>
      <p:pic>
        <p:nvPicPr>
          <p:cNvPr id="20" name="Picture 19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071116"/>
            <a:ext cx="182880" cy="182880"/>
          </a:xfrm>
          <a:prstGeom prst="rect">
            <a:avLst/>
          </a:prstGeom>
        </p:spPr>
      </p:pic>
      <p:pic>
        <p:nvPicPr>
          <p:cNvPr id="21" name="Picture 2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071116"/>
            <a:ext cx="182880" cy="182880"/>
          </a:xfrm>
          <a:prstGeom prst="rect">
            <a:avLst/>
          </a:prstGeom>
        </p:spPr>
      </p:pic>
      <p:pic>
        <p:nvPicPr>
          <p:cNvPr id="22" name="Picture 2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071116"/>
            <a:ext cx="182880" cy="182880"/>
          </a:xfrm>
          <a:prstGeom prst="rect">
            <a:avLst/>
          </a:prstGeom>
        </p:spPr>
      </p:pic>
      <p:pic>
        <p:nvPicPr>
          <p:cNvPr id="23" name="Picture 2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071116"/>
            <a:ext cx="182880" cy="182880"/>
          </a:xfrm>
          <a:prstGeom prst="rect">
            <a:avLst/>
          </a:prstGeom>
        </p:spPr>
      </p:pic>
      <p:pic>
        <p:nvPicPr>
          <p:cNvPr id="24" name="Picture 2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2071116"/>
            <a:ext cx="182880" cy="1828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85800" y="2313432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2313432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No app required (web)</a:t>
            </a:r>
          </a:p>
        </p:txBody>
      </p:sp>
      <p:pic>
        <p:nvPicPr>
          <p:cNvPr id="27" name="Picture 26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372868"/>
            <a:ext cx="182880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913632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4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Venue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2615184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2615184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Shared interactive worlds</a:t>
            </a:r>
          </a:p>
        </p:txBody>
      </p:sp>
      <p:pic>
        <p:nvPicPr>
          <p:cNvPr id="34" name="Picture 33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674620"/>
            <a:ext cx="182880" cy="1828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913632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9784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38" name="Picture 37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2674620"/>
            <a:ext cx="182880" cy="18288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85800" y="2916936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2916936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Educational / story content</a:t>
            </a:r>
          </a:p>
        </p:txBody>
      </p:sp>
      <p:pic>
        <p:nvPicPr>
          <p:cNvPr id="41" name="Picture 40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976372"/>
            <a:ext cx="182880" cy="1828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913632" y="291693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pic>
        <p:nvPicPr>
          <p:cNvPr id="43" name="Picture 4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976372"/>
            <a:ext cx="182880" cy="182880"/>
          </a:xfrm>
          <a:prstGeom prst="rect">
            <a:avLst/>
          </a:prstGeom>
        </p:spPr>
      </p:pic>
      <p:pic>
        <p:nvPicPr>
          <p:cNvPr id="44" name="Picture 4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976372"/>
            <a:ext cx="182880" cy="1828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562088" y="291693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3218688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2" y="321868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Institutional sessions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Pilot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9784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Edu subscription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5936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School license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62088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Installation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3520440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3232" y="3520440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Indonesia-first</a:t>
            </a:r>
          </a:p>
        </p:txBody>
      </p:sp>
      <p:pic>
        <p:nvPicPr>
          <p:cNvPr id="55" name="Picture 54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3579875"/>
            <a:ext cx="182880" cy="182880"/>
          </a:xfrm>
          <a:prstGeom prst="rect">
            <a:avLst/>
          </a:prstGeom>
        </p:spPr>
      </p:pic>
      <p:pic>
        <p:nvPicPr>
          <p:cNvPr id="56" name="Picture 55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3579875"/>
            <a:ext cx="182880" cy="18288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129784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2088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02336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172033"/>
                </a:solidFill>
                <a:latin typeface="Fredoka"/>
              </a:rPr>
              <a:t>Where they win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645920" y="4023360"/>
            <a:ext cx="15783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Fredoka SemiBold"/>
              </a:rPr>
              <a:t>Faber-Castell: brand &amp; retail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69996" y="4023360"/>
            <a:ext cx="204063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Fredoka SemiBold"/>
              </a:rPr>
              <a:t>Quiver: content library, 26M+ downloads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56352" y="4023360"/>
            <a:ext cx="17170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Fredoka SemiBold"/>
              </a:rPr>
              <a:t>WAGZAK: curriculum, 30 languages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19112" y="4023360"/>
            <a:ext cx="15783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Fredoka SemiBold"/>
              </a:rPr>
              <a:t>teamLab: immersive group play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370832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B21B6"/>
                </a:solidFill>
                <a:latin typeface="Fredoka SemiBold"/>
              </a:rPr>
              <a:t>Scanvas: the accessibility of a web product, the personalization of children’s own artwork, and the scalability of reusable interactive worlds.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4008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Appendix B · Market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804672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26187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26187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How it is calculated /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units,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727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243,604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727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TK 134,789 + KB 86,429 + TPA 2,684 + SPS 19,702 · Kemendikdasmen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933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29967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Primary schools (SD sederajat),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29967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177,282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29967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Kemendikdasmen Data Referensi Pendidikan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505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4871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+ primary schools, Indonesia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871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420,886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4871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243,604 + 177,282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077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9443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Central Java + D.I. Yogyakarta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9443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62,797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9443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32,839 + 5,071 · SD 22,835 + 2,052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649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4015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D.I. Yogyakarta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4015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7,123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4015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5,071 + SD 2,052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221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8587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Children aged 3–10, Indonesia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587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≈35.3M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8587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2/5 × 22,094,426 (0–4) + 22,013,768 (5–9) + 1/5 × 22,088,673 (10–14) · BPS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172033"/>
                </a:solidFill>
                <a:latin typeface="Varela Round"/>
              </a:rPr>
              <a:t>Kemendikdasmen: referensi.data.kemendikdasmen.go.id (PAUD &amp; Dikdas per province), accessed Sep 2026. BPS: Jumlah Penduduk Menurut Kelompok Umur, Long Form SP2020 (2022). TPA in Kemendikdasmen data = Taman Penitipan Anak.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Appendix C ·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042415" cy="28346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134416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170431" y="1316736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36" y="1395740"/>
            <a:ext cx="171175" cy="171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755648"/>
            <a:ext cx="859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Physical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8600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Child colors a Scanvas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1609343" y="256032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00784" y="1234440"/>
            <a:ext cx="1042415" cy="28346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10512" y="134416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322576" y="1316736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amera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580" y="1395740"/>
            <a:ext cx="171175" cy="171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10512" y="1755648"/>
            <a:ext cx="859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28600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Camera or photo upload</a:t>
            </a:r>
          </a:p>
        </p:txBody>
      </p:sp>
      <p:sp>
        <p:nvSpPr>
          <p:cNvPr id="16" name="Chevron 15"/>
          <p:cNvSpPr/>
          <p:nvPr/>
        </p:nvSpPr>
        <p:spPr>
          <a:xfrm>
            <a:off x="2761488" y="256032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52927" y="1234440"/>
            <a:ext cx="1042415" cy="283464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62656" y="134416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474720" y="131673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can-lin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3724" y="1395740"/>
            <a:ext cx="171175" cy="1711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62656" y="1755648"/>
            <a:ext cx="859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Computer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2656" y="228600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Marker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2670048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Perspective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305409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Crop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3438144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Object extraction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3913631" y="256032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05071" y="1234440"/>
            <a:ext cx="1042415" cy="28346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799" y="134416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4626863" y="1316736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868" y="1395740"/>
            <a:ext cx="171175" cy="1711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799" y="1755648"/>
            <a:ext cx="859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Digital asset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9" y="228600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Child’s artwork becomes the character</a:t>
            </a:r>
          </a:p>
        </p:txBody>
      </p:sp>
      <p:sp>
        <p:nvSpPr>
          <p:cNvPr id="33" name="Chevron 32"/>
          <p:cNvSpPr/>
          <p:nvPr/>
        </p:nvSpPr>
        <p:spPr>
          <a:xfrm>
            <a:off x="5065775" y="256032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57215" y="1234440"/>
            <a:ext cx="1042415" cy="283464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66943" y="134416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5779007" y="131673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play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8012" y="1395740"/>
            <a:ext cx="171175" cy="1711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66943" y="1755648"/>
            <a:ext cx="859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Interactive 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6943" y="228600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Animation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6943" y="2670048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Movement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6943" y="305409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Sounds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66943" y="3438144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Interactive world</a:t>
            </a:r>
          </a:p>
        </p:txBody>
      </p:sp>
      <p:sp>
        <p:nvSpPr>
          <p:cNvPr id="43" name="Chevron 42"/>
          <p:cNvSpPr/>
          <p:nvPr/>
        </p:nvSpPr>
        <p:spPr>
          <a:xfrm>
            <a:off x="6217919" y="256032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09359" y="1234440"/>
            <a:ext cx="1042415" cy="28346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19087" y="134416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6931151" y="1316736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156" y="1395740"/>
            <a:ext cx="171175" cy="1711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19087" y="1755648"/>
            <a:ext cx="859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Content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7" y="228600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7" y="2670048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Facts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7" y="305409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Discovery</a:t>
            </a:r>
          </a:p>
        </p:txBody>
      </p:sp>
      <p:sp>
        <p:nvSpPr>
          <p:cNvPr id="52" name="Chevron 51"/>
          <p:cNvSpPr/>
          <p:nvPr/>
        </p:nvSpPr>
        <p:spPr>
          <a:xfrm>
            <a:off x="7370063" y="256032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461503" y="1234440"/>
            <a:ext cx="1042415" cy="28346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571231" y="134416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7</a:t>
            </a:r>
          </a:p>
        </p:txBody>
      </p:sp>
      <p:sp>
        <p:nvSpPr>
          <p:cNvPr id="55" name="Oval 54"/>
          <p:cNvSpPr/>
          <p:nvPr/>
        </p:nvSpPr>
        <p:spPr>
          <a:xfrm>
            <a:off x="8083295" y="1316736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layers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2300" y="1395740"/>
            <a:ext cx="171175" cy="17117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71231" y="1755648"/>
            <a:ext cx="8595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Reusable world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71231" y="228600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Ocean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71231" y="2670048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Vehicles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1231" y="305409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Future: culture, nature, characters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251960"/>
            <a:ext cx="80467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425196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0" i="0">
                <a:solidFill>
                  <a:srgbClr val="5B21B6"/>
                </a:solidFill>
                <a:latin typeface="Fredoka SemiBold"/>
              </a:rPr>
              <a:t>Physical input </a:t>
            </a:r>
            <a:r>
              <a:rPr sz="10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000" b="0" i="0">
                <a:solidFill>
                  <a:srgbClr val="5B21B6"/>
                </a:solidFill>
                <a:latin typeface="Fredoka SemiBold"/>
              </a:rPr>
              <a:t> CV processing </a:t>
            </a:r>
            <a:r>
              <a:rPr sz="10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000" b="0" i="0">
                <a:solidFill>
                  <a:srgbClr val="5B21B6"/>
                </a:solidFill>
                <a:latin typeface="Fredoka SemiBold"/>
              </a:rPr>
              <a:t> personalized asset </a:t>
            </a:r>
            <a:r>
              <a:rPr sz="10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000" b="0" i="0">
                <a:solidFill>
                  <a:srgbClr val="5B21B6"/>
                </a:solidFill>
                <a:latin typeface="Fredoka SemiBold"/>
              </a:rPr>
              <a:t> interactive runtime </a:t>
            </a:r>
            <a:r>
              <a:rPr sz="10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000" b="0" i="0">
                <a:solidFill>
                  <a:srgbClr val="5B21B6"/>
                </a:solidFill>
                <a:latin typeface="Fredoka SemiBold"/>
              </a:rPr>
              <a:t> content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1529</Words>
  <Application>Microsoft Office PowerPoint</Application>
  <PresentationFormat>On-screen Show (16:9)</PresentationFormat>
  <Paragraphs>317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Lato</vt:lpstr>
      <vt:lpstr>Arial</vt:lpstr>
      <vt:lpstr>Montserrat ExtraBold</vt:lpstr>
      <vt:lpstr>Montserrat Black</vt:lpstr>
      <vt:lpstr>Segoe UI</vt:lpstr>
      <vt:lpstr>Roboto Condensed Light</vt:lpstr>
      <vt:lpstr>Staatliches</vt:lpstr>
      <vt:lpstr>Fredoka SemiBold</vt:lpstr>
      <vt:lpstr>Montserrat</vt:lpstr>
      <vt:lpstr>Proxima Nova Semibold</vt:lpstr>
      <vt:lpstr>Proxima Nova</vt:lpstr>
      <vt:lpstr>Varela Round</vt:lpstr>
      <vt:lpstr>Josefin Slab SemiBold</vt:lpstr>
      <vt:lpstr>Fredoka</vt:lpstr>
      <vt:lpstr>Freesia Pitch Deck by Slidesgo</vt:lpstr>
      <vt:lpstr>Slidesgo Final Pages</vt:lpstr>
      <vt:lpstr>SCANVAS</vt:lpstr>
      <vt:lpstr>Creativity Often Stops at the Paper</vt:lpstr>
      <vt:lpstr>From Paper to Interactive Worlds</vt:lpstr>
      <vt:lpstr>Already Live. No App Required.</vt:lpstr>
      <vt:lpstr>One Engine, Many Interactive Worlds</vt:lpstr>
      <vt:lpstr>From Children’s Creativity to Digital Culture</vt:lpstr>
      <vt:lpstr>Start Local. Scale the Content Engine.</vt:lpstr>
      <vt:lpstr>One Platform, Multiple Paths to Scale</vt:lpstr>
      <vt:lpstr>Early Traction → Product Learning</vt:lpstr>
      <vt:lpstr>From One Magic Moment to a Scalable Content Platform</vt:lpstr>
      <vt:lpstr>Appendix A · Competitive Landscape</vt:lpstr>
      <vt:lpstr>Appendix B · Market Evidence</vt:lpstr>
      <vt:lpstr>Appendix C · Processing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Haikal Hilmi</cp:lastModifiedBy>
  <cp:revision>1</cp:revision>
  <dcterms:modified xsi:type="dcterms:W3CDTF">2026-09-27T08:04:39Z</dcterms:modified>
</cp:coreProperties>
</file>