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nva Sans Bold" panose="020B0803030501040103" pitchFamily="34" charset="0"/>
      <p:regular r:id="rId22"/>
      <p:bold r:id="rId23"/>
    </p:embeddedFont>
    <p:embeddedFont>
      <p:font typeface="Montserrat Ultra-Bold" pitchFamily="2" charset="77"/>
      <p:regular r:id="rId24"/>
      <p:bold r:id="rId25"/>
    </p:embeddedFont>
    <p:embeddedFont>
      <p:font typeface="Poppins" pitchFamily="2" charset="77"/>
      <p:regular r:id="rId26"/>
      <p:bold r:id="rId27"/>
      <p:italic r:id="rId28"/>
      <p:boldItalic r:id="rId29"/>
    </p:embeddedFont>
    <p:embeddedFont>
      <p:font typeface="Poppins Bold" pitchFamily="2" charset="77"/>
      <p:regular r:id="rId30"/>
      <p:bold r:id="rId31"/>
    </p:embeddedFont>
    <p:embeddedFont>
      <p:font typeface="Roboto Condensed" panose="02000000000000000000" pitchFamily="2" charset="0"/>
      <p:regular r:id="rId32"/>
    </p:embeddedFont>
    <p:embeddedFont>
      <p:font typeface="Roboto Condensed Bold" panose="02000000000000000000" pitchFamily="2" charset="0"/>
      <p:regular r:id="rId33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38" autoAdjust="0"/>
  </p:normalViewPr>
  <p:slideViewPr>
    <p:cSldViewPr>
      <p:cViewPr varScale="1">
        <p:scale>
          <a:sx n="78" d="100"/>
          <a:sy n="78" d="100"/>
        </p:scale>
        <p:origin x="5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497622"/>
            <a:chOff x="0" y="0"/>
            <a:chExt cx="4816593" cy="1310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1061"/>
            </a:xfrm>
            <a:custGeom>
              <a:avLst/>
              <a:gdLst/>
              <a:ahLst/>
              <a:cxnLst/>
              <a:rect l="l" t="t" r="r" b="b"/>
              <a:pathLst>
                <a:path w="4816592" h="131061">
                  <a:moveTo>
                    <a:pt x="0" y="0"/>
                  </a:moveTo>
                  <a:lnTo>
                    <a:pt x="4816592" y="0"/>
                  </a:lnTo>
                  <a:lnTo>
                    <a:pt x="4816592" y="131061"/>
                  </a:lnTo>
                  <a:lnTo>
                    <a:pt x="0" y="131061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69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28913" y="6966898"/>
            <a:ext cx="6456613" cy="10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1" spc="-61">
                <a:solidFill>
                  <a:srgbClr val="13193D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Presenter Name</a:t>
            </a:r>
          </a:p>
          <a:p>
            <a:pPr marL="0" lvl="0" indent="0" algn="l">
              <a:lnSpc>
                <a:spcPts val="4029"/>
              </a:lnSpc>
            </a:pPr>
            <a:r>
              <a:rPr lang="en-US" sz="3099" b="1" spc="-61">
                <a:solidFill>
                  <a:srgbClr val="13193D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 Name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8913" y="4109435"/>
            <a:ext cx="5035410" cy="89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0"/>
              </a:lnSpc>
              <a:spcBef>
                <a:spcPct val="0"/>
              </a:spcBef>
            </a:pPr>
            <a:r>
              <a:rPr lang="en-US" sz="5858" b="1" spc="-111">
                <a:solidFill>
                  <a:srgbClr val="13193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PITCH DECK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862471"/>
            <a:ext cx="18288000" cy="673340"/>
            <a:chOff x="0" y="0"/>
            <a:chExt cx="24384000" cy="89778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1328913" y="5529244"/>
            <a:ext cx="659588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319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Name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8913" y="8472759"/>
            <a:ext cx="154268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</a:pPr>
            <a:r>
              <a:rPr lang="en-US" sz="3000" spc="-60">
                <a:solidFill>
                  <a:srgbClr val="13193D"/>
                </a:solidFill>
                <a:latin typeface="Poppins"/>
                <a:ea typeface="Poppins"/>
                <a:cs typeface="Poppins"/>
                <a:sym typeface="Poppins"/>
              </a:rPr>
              <a:t>Project summary (not more than 15 words)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304520" y="1508760"/>
            <a:ext cx="3977640" cy="2861158"/>
            <a:chOff x="0" y="0"/>
            <a:chExt cx="5303520" cy="3814877"/>
          </a:xfrm>
        </p:grpSpPr>
        <p:sp>
          <p:nvSpPr>
            <p:cNvPr id="17" name="Freeform 17" descr="assets/itec_logo.png"/>
            <p:cNvSpPr/>
            <p:nvPr/>
          </p:nvSpPr>
          <p:spPr>
            <a:xfrm>
              <a:off x="0" y="0"/>
              <a:ext cx="5303520" cy="3814826"/>
            </a:xfrm>
            <a:custGeom>
              <a:avLst/>
              <a:gdLst/>
              <a:ahLst/>
              <a:cxnLst/>
              <a:rect l="l" t="t" r="r" b="b"/>
              <a:pathLst>
                <a:path w="5303520" h="3814826">
                  <a:moveTo>
                    <a:pt x="0" y="0"/>
                  </a:moveTo>
                  <a:lnTo>
                    <a:pt x="5303520" y="0"/>
                  </a:lnTo>
                  <a:lnTo>
                    <a:pt x="5303520" y="3814826"/>
                  </a:lnTo>
                  <a:lnTo>
                    <a:pt x="0" y="3814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" b="-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AutoShape 12"/>
          <p:cNvSpPr/>
          <p:nvPr/>
        </p:nvSpPr>
        <p:spPr>
          <a:xfrm>
            <a:off x="0" y="9871872"/>
            <a:ext cx="18288000" cy="0"/>
          </a:xfrm>
          <a:prstGeom prst="line">
            <a:avLst/>
          </a:prstGeom>
          <a:ln w="57150" cap="flat">
            <a:solidFill>
              <a:srgbClr val="13239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392073" y="6221815"/>
            <a:ext cx="3629457" cy="2343150"/>
            <a:chOff x="0" y="0"/>
            <a:chExt cx="4839277" cy="31242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016000"/>
              <a:ext cx="4839277" cy="210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Give a striking overview of the problem and</a:t>
              </a:r>
            </a:p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explain it briefly.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839277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Problem 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43734" y="6221815"/>
            <a:ext cx="3629457" cy="2876550"/>
            <a:chOff x="0" y="0"/>
            <a:chExt cx="4839277" cy="38354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016000"/>
              <a:ext cx="4839277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Elaborate on how this negatively impacts people and their experiences.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839277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Problem 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95394" y="6221815"/>
            <a:ext cx="3629457" cy="2876550"/>
            <a:chOff x="0" y="0"/>
            <a:chExt cx="4839277" cy="383540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1016000"/>
              <a:ext cx="4839277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Frame the problems effectively as it will set the stage for your entire pitch.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839277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Problem 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92073" y="1188635"/>
            <a:ext cx="11132246" cy="2209720"/>
            <a:chOff x="0" y="0"/>
            <a:chExt cx="14842995" cy="2946294"/>
          </a:xfrm>
        </p:grpSpPr>
        <p:sp>
          <p:nvSpPr>
            <p:cNvPr id="23" name="TextBox 23"/>
            <p:cNvSpPr txBox="1"/>
            <p:nvPr/>
          </p:nvSpPr>
          <p:spPr>
            <a:xfrm>
              <a:off x="0" y="85725"/>
              <a:ext cx="14842995" cy="1937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99"/>
                </a:lnSpc>
              </a:pPr>
              <a:r>
                <a:rPr lang="en-US" sz="9999" b="1" spc="299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PROBLEM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260494"/>
              <a:ext cx="14842995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List 3-5 problems your company observes and wants to solve.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7143734" y="5058033"/>
            <a:ext cx="780651" cy="780651"/>
          </a:xfrm>
          <a:custGeom>
            <a:avLst/>
            <a:gdLst/>
            <a:ahLst/>
            <a:cxnLst/>
            <a:rect l="l" t="t" r="r" b="b"/>
            <a:pathLst>
              <a:path w="780651" h="780651">
                <a:moveTo>
                  <a:pt x="0" y="0"/>
                </a:moveTo>
                <a:lnTo>
                  <a:pt x="780650" y="0"/>
                </a:lnTo>
                <a:lnTo>
                  <a:pt x="780650" y="780651"/>
                </a:lnTo>
                <a:lnTo>
                  <a:pt x="0" y="780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392073" y="5058033"/>
            <a:ext cx="689811" cy="780651"/>
          </a:xfrm>
          <a:custGeom>
            <a:avLst/>
            <a:gdLst/>
            <a:ahLst/>
            <a:cxnLst/>
            <a:rect l="l" t="t" r="r" b="b"/>
            <a:pathLst>
              <a:path w="689811" h="780651">
                <a:moveTo>
                  <a:pt x="0" y="0"/>
                </a:moveTo>
                <a:lnTo>
                  <a:pt x="689811" y="0"/>
                </a:lnTo>
                <a:lnTo>
                  <a:pt x="689811" y="780651"/>
                </a:lnTo>
                <a:lnTo>
                  <a:pt x="0" y="780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2895394" y="5058033"/>
            <a:ext cx="596133" cy="780651"/>
          </a:xfrm>
          <a:custGeom>
            <a:avLst/>
            <a:gdLst/>
            <a:ahLst/>
            <a:cxnLst/>
            <a:rect l="l" t="t" r="r" b="b"/>
            <a:pathLst>
              <a:path w="596133" h="780651">
                <a:moveTo>
                  <a:pt x="0" y="0"/>
                </a:moveTo>
                <a:lnTo>
                  <a:pt x="596133" y="0"/>
                </a:lnTo>
                <a:lnTo>
                  <a:pt x="596133" y="780651"/>
                </a:lnTo>
                <a:lnTo>
                  <a:pt x="0" y="780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9694973" y="1342304"/>
            <a:ext cx="6979141" cy="1809750"/>
            <a:chOff x="0" y="0"/>
            <a:chExt cx="9305522" cy="24130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016000"/>
              <a:ext cx="9305522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Describe how you envision solving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the problems you previously shared.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305522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Solution 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94973" y="4238625"/>
            <a:ext cx="6979141" cy="1809750"/>
            <a:chOff x="0" y="0"/>
            <a:chExt cx="9305522" cy="24130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016000"/>
              <a:ext cx="9305522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Communicate big value conveniences and be genuinely straightforward.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305522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Solution 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94973" y="7134946"/>
            <a:ext cx="6979141" cy="1809750"/>
            <a:chOff x="0" y="0"/>
            <a:chExt cx="9305522" cy="241300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016000"/>
              <a:ext cx="9305522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Be very clear so you can smoothly jump next to introducing your product.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305522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Solution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92073" y="3328717"/>
            <a:ext cx="5997676" cy="2649458"/>
            <a:chOff x="0" y="0"/>
            <a:chExt cx="7996901" cy="3532611"/>
          </a:xfrm>
        </p:grpSpPr>
        <p:sp>
          <p:nvSpPr>
            <p:cNvPr id="22" name="TextBox 22"/>
            <p:cNvSpPr txBox="1"/>
            <p:nvPr/>
          </p:nvSpPr>
          <p:spPr>
            <a:xfrm>
              <a:off x="0" y="66675"/>
              <a:ext cx="7996901" cy="1831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312"/>
                </a:lnSpc>
              </a:pPr>
              <a:r>
                <a:rPr lang="en-US" sz="9375" b="1" spc="281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SOLUTION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135611"/>
              <a:ext cx="7996901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List 3-5 ways your company proposes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to solve them.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8292422" y="7134946"/>
            <a:ext cx="732406" cy="665824"/>
          </a:xfrm>
          <a:custGeom>
            <a:avLst/>
            <a:gdLst/>
            <a:ahLst/>
            <a:cxnLst/>
            <a:rect l="l" t="t" r="r" b="b"/>
            <a:pathLst>
              <a:path w="732406" h="665824">
                <a:moveTo>
                  <a:pt x="0" y="0"/>
                </a:moveTo>
                <a:lnTo>
                  <a:pt x="732407" y="0"/>
                </a:lnTo>
                <a:lnTo>
                  <a:pt x="732407" y="665824"/>
                </a:lnTo>
                <a:lnTo>
                  <a:pt x="0" y="665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325713" y="1342304"/>
            <a:ext cx="665824" cy="665824"/>
          </a:xfrm>
          <a:custGeom>
            <a:avLst/>
            <a:gdLst/>
            <a:ahLst/>
            <a:cxnLst/>
            <a:rect l="l" t="t" r="r" b="b"/>
            <a:pathLst>
              <a:path w="665824" h="665824">
                <a:moveTo>
                  <a:pt x="0" y="0"/>
                </a:moveTo>
                <a:lnTo>
                  <a:pt x="665824" y="0"/>
                </a:lnTo>
                <a:lnTo>
                  <a:pt x="665824" y="665824"/>
                </a:lnTo>
                <a:lnTo>
                  <a:pt x="0" y="665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8317865" y="4238625"/>
            <a:ext cx="681521" cy="681521"/>
          </a:xfrm>
          <a:custGeom>
            <a:avLst/>
            <a:gdLst/>
            <a:ahLst/>
            <a:cxnLst/>
            <a:rect l="l" t="t" r="r" b="b"/>
            <a:pathLst>
              <a:path w="681521" h="681521">
                <a:moveTo>
                  <a:pt x="0" y="0"/>
                </a:moveTo>
                <a:lnTo>
                  <a:pt x="681521" y="0"/>
                </a:lnTo>
                <a:lnTo>
                  <a:pt x="681521" y="681521"/>
                </a:lnTo>
                <a:lnTo>
                  <a:pt x="0" y="681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028700" y="1817004"/>
            <a:ext cx="6487458" cy="257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7"/>
              </a:lnSpc>
            </a:pPr>
            <a:r>
              <a:rPr lang="en-US" sz="9124" b="1" spc="273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PRODUCT</a:t>
            </a:r>
          </a:p>
          <a:p>
            <a:pPr algn="l">
              <a:lnSpc>
                <a:spcPts val="10037"/>
              </a:lnSpc>
            </a:pPr>
            <a:r>
              <a:rPr lang="en-US" sz="9124" b="1" spc="273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OR 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6331" y="2989372"/>
            <a:ext cx="648745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Explain in detail about your project or product or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392073" y="2508360"/>
            <a:ext cx="6487458" cy="384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7"/>
              </a:lnSpc>
            </a:pPr>
            <a:r>
              <a:rPr lang="en-US" sz="9124" b="1" spc="273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ABOUT YOUR COMPANY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6331" y="2954363"/>
            <a:ext cx="648745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 a summary of what your company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945280" y="1588908"/>
            <a:ext cx="9448602" cy="2136695"/>
            <a:chOff x="0" y="0"/>
            <a:chExt cx="12598136" cy="284892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12598136" cy="1840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449"/>
                </a:lnSpc>
              </a:pPr>
              <a:r>
                <a:rPr lang="en-US" sz="9499" b="1" spc="284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TARGET MARKET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163127"/>
              <a:ext cx="12598136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Who are the customers you want to cater to?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9596" y="6021638"/>
            <a:ext cx="5734253" cy="1714500"/>
            <a:chOff x="0" y="0"/>
            <a:chExt cx="7645671" cy="22860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889000"/>
              <a:ext cx="7645671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What are their profiles and visual personas?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7645671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Target Market 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10289" y="6021638"/>
            <a:ext cx="5734253" cy="1714500"/>
            <a:chOff x="0" y="0"/>
            <a:chExt cx="7645671" cy="228600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889000"/>
              <a:ext cx="7645671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Visualize the people who will turn to you for solutions.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7645671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Target Market 2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-5400000">
            <a:off x="7472964" y="6840788"/>
            <a:ext cx="2758210" cy="0"/>
          </a:xfrm>
          <a:prstGeom prst="line">
            <a:avLst/>
          </a:prstGeom>
          <a:ln w="76200" cap="rnd">
            <a:solidFill>
              <a:srgbClr val="5271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285582" y="1769188"/>
            <a:ext cx="6800745" cy="421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b="1" spc="299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MARKET SIZE/</a:t>
            </a:r>
          </a:p>
          <a:p>
            <a:pPr algn="l">
              <a:lnSpc>
                <a:spcPts val="10999"/>
              </a:lnSpc>
            </a:pPr>
            <a:r>
              <a:rPr lang="en-US" sz="9999" b="1" spc="299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POTENTIAL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582" y="6695942"/>
            <a:ext cx="6800745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Apply the two ways to size the market - top-down or bottom-up. Sizing jargon includes TAM, SAM, and SOM.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44000" y="2270309"/>
            <a:ext cx="6402407" cy="1706984"/>
            <a:chOff x="0" y="0"/>
            <a:chExt cx="8536542" cy="227597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42875"/>
              <a:ext cx="8536542" cy="1556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7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1.9 Billion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590179"/>
              <a:ext cx="853654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u="none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Total Available Market (TAM)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4712373"/>
            <a:ext cx="6402407" cy="1706984"/>
            <a:chOff x="0" y="0"/>
            <a:chExt cx="8536542" cy="2275979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142875"/>
              <a:ext cx="8536542" cy="1556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7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53 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590179"/>
              <a:ext cx="853654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Serviceable Available Market (SAM)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7154437"/>
            <a:ext cx="6402407" cy="1706984"/>
            <a:chOff x="0" y="0"/>
            <a:chExt cx="8536542" cy="227597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142875"/>
              <a:ext cx="8536542" cy="1556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7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10.6M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590179"/>
              <a:ext cx="853654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Serviceable Obtainable Market (SOM)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512914" y="2116289"/>
            <a:ext cx="5958161" cy="24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16"/>
              </a:lnSpc>
              <a:spcBef>
                <a:spcPct val="0"/>
              </a:spcBef>
            </a:pPr>
            <a:r>
              <a:rPr lang="en-US" sz="6868" b="1" spc="206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DIRECT COMPETITORS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12914" y="5421092"/>
            <a:ext cx="5960207" cy="457200"/>
            <a:chOff x="0" y="0"/>
            <a:chExt cx="7946942" cy="609600"/>
          </a:xfrm>
        </p:grpSpPr>
        <p:sp>
          <p:nvSpPr>
            <p:cNvPr id="14" name="TextBox 14"/>
            <p:cNvSpPr txBox="1"/>
            <p:nvPr/>
          </p:nvSpPr>
          <p:spPr>
            <a:xfrm>
              <a:off x="1017020" y="-76200"/>
              <a:ext cx="692992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Write a company name here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 rot="-10800000">
              <a:off x="0" y="107772"/>
              <a:ext cx="454982" cy="394057"/>
              <a:chOff x="0" y="0"/>
              <a:chExt cx="6202680" cy="53721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514960" y="6731996"/>
            <a:ext cx="5960207" cy="457200"/>
            <a:chOff x="0" y="0"/>
            <a:chExt cx="7946942" cy="609600"/>
          </a:xfrm>
        </p:grpSpPr>
        <p:sp>
          <p:nvSpPr>
            <p:cNvPr id="18" name="TextBox 18"/>
            <p:cNvSpPr txBox="1"/>
            <p:nvPr/>
          </p:nvSpPr>
          <p:spPr>
            <a:xfrm>
              <a:off x="1017020" y="-76200"/>
              <a:ext cx="692992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Write a company name here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 rot="-10800000">
              <a:off x="0" y="107772"/>
              <a:ext cx="454982" cy="394057"/>
              <a:chOff x="0" y="0"/>
              <a:chExt cx="6202680" cy="53721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514960" y="8042899"/>
            <a:ext cx="5960207" cy="457200"/>
            <a:chOff x="0" y="0"/>
            <a:chExt cx="7946942" cy="609600"/>
          </a:xfrm>
        </p:grpSpPr>
        <p:sp>
          <p:nvSpPr>
            <p:cNvPr id="22" name="TextBox 22"/>
            <p:cNvSpPr txBox="1"/>
            <p:nvPr/>
          </p:nvSpPr>
          <p:spPr>
            <a:xfrm>
              <a:off x="1017020" y="-76200"/>
              <a:ext cx="692992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Write a company name here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 rot="-10800000">
              <a:off x="0" y="107772"/>
              <a:ext cx="454982" cy="394057"/>
              <a:chOff x="0" y="0"/>
              <a:chExt cx="6202680" cy="53721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9332122" y="2152987"/>
            <a:ext cx="5958161" cy="24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16"/>
              </a:lnSpc>
              <a:spcBef>
                <a:spcPct val="0"/>
              </a:spcBef>
            </a:pPr>
            <a:r>
              <a:rPr lang="en-US" sz="6868" b="1" spc="206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INDIRECT COMPETITORS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332122" y="5457791"/>
            <a:ext cx="5960207" cy="457200"/>
            <a:chOff x="0" y="0"/>
            <a:chExt cx="7946942" cy="609600"/>
          </a:xfrm>
        </p:grpSpPr>
        <p:sp>
          <p:nvSpPr>
            <p:cNvPr id="27" name="TextBox 27"/>
            <p:cNvSpPr txBox="1"/>
            <p:nvPr/>
          </p:nvSpPr>
          <p:spPr>
            <a:xfrm>
              <a:off x="1017020" y="-76200"/>
              <a:ext cx="692992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Write a company name here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 rot="-10800000">
              <a:off x="0" y="107772"/>
              <a:ext cx="454982" cy="394057"/>
              <a:chOff x="0" y="0"/>
              <a:chExt cx="6202680" cy="53721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9334168" y="6768694"/>
            <a:ext cx="5960207" cy="457200"/>
            <a:chOff x="0" y="0"/>
            <a:chExt cx="7946942" cy="609600"/>
          </a:xfrm>
        </p:grpSpPr>
        <p:sp>
          <p:nvSpPr>
            <p:cNvPr id="31" name="TextBox 31"/>
            <p:cNvSpPr txBox="1"/>
            <p:nvPr/>
          </p:nvSpPr>
          <p:spPr>
            <a:xfrm>
              <a:off x="1017020" y="-76200"/>
              <a:ext cx="692992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Write a company name here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 rot="-10800000">
              <a:off x="0" y="107772"/>
              <a:ext cx="454982" cy="394057"/>
              <a:chOff x="0" y="0"/>
              <a:chExt cx="6202680" cy="53721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9334168" y="8079597"/>
            <a:ext cx="5960207" cy="457200"/>
            <a:chOff x="0" y="0"/>
            <a:chExt cx="7946942" cy="609600"/>
          </a:xfrm>
        </p:grpSpPr>
        <p:sp>
          <p:nvSpPr>
            <p:cNvPr id="35" name="TextBox 35"/>
            <p:cNvSpPr txBox="1"/>
            <p:nvPr/>
          </p:nvSpPr>
          <p:spPr>
            <a:xfrm>
              <a:off x="1017020" y="-76200"/>
              <a:ext cx="6929922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Write a company name here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 rot="-10800000">
              <a:off x="0" y="107772"/>
              <a:ext cx="454982" cy="394057"/>
              <a:chOff x="0" y="0"/>
              <a:chExt cx="6202680" cy="53721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3903347" y="2303698"/>
            <a:ext cx="14384653" cy="7137090"/>
          </a:xfrm>
          <a:custGeom>
            <a:avLst/>
            <a:gdLst/>
            <a:ahLst/>
            <a:cxnLst/>
            <a:rect l="l" t="t" r="r" b="b"/>
            <a:pathLst>
              <a:path w="14384653" h="7137090">
                <a:moveTo>
                  <a:pt x="0" y="0"/>
                </a:moveTo>
                <a:lnTo>
                  <a:pt x="14384653" y="0"/>
                </a:lnTo>
                <a:lnTo>
                  <a:pt x="14384653" y="7137090"/>
                </a:lnTo>
                <a:lnTo>
                  <a:pt x="0" y="7137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28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891319" y="1028700"/>
            <a:ext cx="9483194" cy="3050009"/>
            <a:chOff x="0" y="0"/>
            <a:chExt cx="12644259" cy="406667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42875"/>
              <a:ext cx="12644259" cy="3207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799"/>
                </a:lnSpc>
                <a:spcBef>
                  <a:spcPct val="0"/>
                </a:spcBef>
              </a:pPr>
              <a:r>
                <a:rPr lang="en-US" sz="6999" b="1" spc="209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UNIQUE VALUE PROPOSITION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380879"/>
              <a:ext cx="12644259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Why choose you?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 rot="-10800000">
            <a:off x="1793012" y="2719503"/>
            <a:ext cx="341236" cy="295542"/>
            <a:chOff x="0" y="0"/>
            <a:chExt cx="6202680" cy="5372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27862" y="2601976"/>
            <a:ext cx="5714493" cy="2247900"/>
            <a:chOff x="0" y="0"/>
            <a:chExt cx="7619324" cy="29972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89000"/>
              <a:ext cx="7619324" cy="210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Visualize your competitive advantages using a quadrant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for easy scanning.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619324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Advantage 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793012" y="6616942"/>
            <a:ext cx="341236" cy="295542"/>
            <a:chOff x="0" y="0"/>
            <a:chExt cx="6202680" cy="5372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27862" y="6499415"/>
            <a:ext cx="5714493" cy="2247900"/>
            <a:chOff x="0" y="0"/>
            <a:chExt cx="7619324" cy="299720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889000"/>
              <a:ext cx="7619324" cy="210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What can you do better than your competition? How will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you outperform them?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7619324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Advantage 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10045645" y="2719503"/>
            <a:ext cx="341236" cy="295542"/>
            <a:chOff x="0" y="0"/>
            <a:chExt cx="6202680" cy="5372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780495" y="2601976"/>
            <a:ext cx="5714493" cy="2247900"/>
            <a:chOff x="0" y="0"/>
            <a:chExt cx="7619324" cy="299720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889000"/>
              <a:ext cx="7619324" cy="210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How is the landscape differentiated, and what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makes you different.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7619324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Advantage 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 rot="-10800000">
            <a:off x="10045645" y="6616942"/>
            <a:ext cx="341236" cy="295542"/>
            <a:chOff x="0" y="0"/>
            <a:chExt cx="6202680" cy="5372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80495" y="6499415"/>
            <a:ext cx="5714493" cy="2247900"/>
            <a:chOff x="0" y="0"/>
            <a:chExt cx="7619324" cy="299720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89000"/>
              <a:ext cx="7619324" cy="210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 company with strong competitive advantages is likely to survive in the long term.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7619324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Advantage 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424311" y="1028700"/>
            <a:ext cx="9483194" cy="3050009"/>
            <a:chOff x="0" y="0"/>
            <a:chExt cx="12644259" cy="406667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42875"/>
              <a:ext cx="12644259" cy="3207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799"/>
                </a:lnSpc>
              </a:pPr>
              <a:r>
                <a:rPr lang="en-US" sz="6999" b="1" spc="209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BUSINESS OR</a:t>
              </a:r>
            </a:p>
            <a:p>
              <a:pPr algn="l">
                <a:lnSpc>
                  <a:spcPts val="9799"/>
                </a:lnSpc>
                <a:spcBef>
                  <a:spcPct val="0"/>
                </a:spcBef>
              </a:pPr>
              <a:r>
                <a:rPr lang="en-US" sz="6999" b="1" spc="209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REVENUE MODEL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380879"/>
              <a:ext cx="12644259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Show the ways your company plans to make money.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24311" y="6049413"/>
            <a:ext cx="3775343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Through a graph, timeline, or chart, present the viability of your product or service and tell how your company will make money and achieve goals.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6328" y="6487563"/>
            <a:ext cx="3775343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you have plenty of ways to make money, focus on one main method, such as subscription or ads.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88345" y="6487563"/>
            <a:ext cx="3775343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Touch upon key metrics here, such as Life Time Value (LTV) and Customer Acquisition Cost (CAC).</a:t>
            </a:r>
          </a:p>
        </p:txBody>
      </p:sp>
      <p:sp>
        <p:nvSpPr>
          <p:cNvPr id="18" name="AutoShape 18"/>
          <p:cNvSpPr/>
          <p:nvPr/>
        </p:nvSpPr>
        <p:spPr>
          <a:xfrm rot="-5400000">
            <a:off x="4604462" y="7341638"/>
            <a:ext cx="3247059" cy="0"/>
          </a:xfrm>
          <a:prstGeom prst="line">
            <a:avLst/>
          </a:prstGeom>
          <a:ln w="76200" cap="rnd">
            <a:solidFill>
              <a:srgbClr val="5271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rot="-5400000">
            <a:off x="10436479" y="7341638"/>
            <a:ext cx="3247059" cy="0"/>
          </a:xfrm>
          <a:prstGeom prst="line">
            <a:avLst/>
          </a:prstGeom>
          <a:ln w="76200" cap="rnd">
            <a:solidFill>
              <a:srgbClr val="5271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059045" y="3507969"/>
            <a:ext cx="2841997" cy="2841986"/>
            <a:chOff x="0" y="0"/>
            <a:chExt cx="6350000" cy="6349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59045" y="7558410"/>
            <a:ext cx="3406867" cy="1000521"/>
            <a:chOff x="0" y="0"/>
            <a:chExt cx="4542489" cy="133402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786869"/>
              <a:ext cx="454248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Designation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83" y="-19050"/>
              <a:ext cx="4523406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Name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90631" y="1096189"/>
            <a:ext cx="11131456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209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MEET OUR TEAM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581784" y="3507969"/>
            <a:ext cx="2841997" cy="2841986"/>
            <a:chOff x="0" y="0"/>
            <a:chExt cx="6350000" cy="63499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3104523" y="3507969"/>
            <a:ext cx="2841997" cy="2841986"/>
            <a:chOff x="0" y="0"/>
            <a:chExt cx="6350000" cy="63499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40566" y="7558410"/>
            <a:ext cx="3406867" cy="1000521"/>
            <a:chOff x="0" y="0"/>
            <a:chExt cx="4542489" cy="1334028"/>
          </a:xfrm>
        </p:grpSpPr>
        <p:sp>
          <p:nvSpPr>
            <p:cNvPr id="23" name="TextBox 23"/>
            <p:cNvSpPr txBox="1"/>
            <p:nvPr/>
          </p:nvSpPr>
          <p:spPr>
            <a:xfrm>
              <a:off x="0" y="786869"/>
              <a:ext cx="454248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Designation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83" y="-19050"/>
              <a:ext cx="4523406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Name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104523" y="7559630"/>
            <a:ext cx="3406867" cy="1000521"/>
            <a:chOff x="0" y="0"/>
            <a:chExt cx="4542489" cy="1334028"/>
          </a:xfrm>
        </p:grpSpPr>
        <p:sp>
          <p:nvSpPr>
            <p:cNvPr id="26" name="TextBox 26"/>
            <p:cNvSpPr txBox="1"/>
            <p:nvPr/>
          </p:nvSpPr>
          <p:spPr>
            <a:xfrm>
              <a:off x="0" y="786869"/>
              <a:ext cx="454248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Designation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083" y="-19050"/>
              <a:ext cx="4523406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Name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37929" y="3717907"/>
            <a:ext cx="6881239" cy="2851187"/>
            <a:chOff x="0" y="0"/>
            <a:chExt cx="9174985" cy="380158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23825"/>
              <a:ext cx="9174985" cy="1374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83"/>
                </a:lnSpc>
                <a:spcBef>
                  <a:spcPct val="0"/>
                </a:spcBef>
              </a:pPr>
              <a:r>
                <a:rPr lang="en-US" sz="6202" b="1" spc="186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ROADMAP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93382"/>
              <a:ext cx="9174985" cy="210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Where are you now? What are your next steps and goals? How much support do you need from investors, and what will it get you?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45603" y="1774132"/>
            <a:ext cx="3406867" cy="1000521"/>
            <a:chOff x="0" y="0"/>
            <a:chExt cx="4542489" cy="133402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786869"/>
              <a:ext cx="454248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Q1 2025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83" y="-19050"/>
              <a:ext cx="4523406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500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Step 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45603" y="3699570"/>
            <a:ext cx="3406867" cy="1000521"/>
            <a:chOff x="0" y="0"/>
            <a:chExt cx="4542489" cy="133402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786869"/>
              <a:ext cx="454248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Q2 2025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83" y="-19050"/>
              <a:ext cx="4523406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500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Step 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45603" y="5625009"/>
            <a:ext cx="3406867" cy="1000521"/>
            <a:chOff x="0" y="0"/>
            <a:chExt cx="4542489" cy="133402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786869"/>
              <a:ext cx="454248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Q3 2025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83" y="-19050"/>
              <a:ext cx="4523406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500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Step 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45603" y="7550447"/>
            <a:ext cx="3406867" cy="1000521"/>
            <a:chOff x="0" y="0"/>
            <a:chExt cx="4542489" cy="1334028"/>
          </a:xfrm>
        </p:grpSpPr>
        <p:sp>
          <p:nvSpPr>
            <p:cNvPr id="25" name="TextBox 25"/>
            <p:cNvSpPr txBox="1"/>
            <p:nvPr/>
          </p:nvSpPr>
          <p:spPr>
            <a:xfrm>
              <a:off x="0" y="786869"/>
              <a:ext cx="454248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12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Q4 2025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083" y="-19050"/>
              <a:ext cx="4523406" cy="730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500" u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Step 4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 rot="-10800000">
            <a:off x="10705449" y="1871884"/>
            <a:ext cx="442745" cy="383458"/>
            <a:chOff x="0" y="0"/>
            <a:chExt cx="6202680" cy="5372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/>
          <p:cNvSpPr/>
          <p:nvPr/>
        </p:nvSpPr>
        <p:spPr>
          <a:xfrm rot="5400000">
            <a:off x="10494286" y="2981606"/>
            <a:ext cx="865071" cy="89453"/>
          </a:xfrm>
          <a:custGeom>
            <a:avLst/>
            <a:gdLst/>
            <a:ahLst/>
            <a:cxnLst/>
            <a:rect l="l" t="t" r="r" b="b"/>
            <a:pathLst>
              <a:path w="865071" h="89453">
                <a:moveTo>
                  <a:pt x="0" y="0"/>
                </a:moveTo>
                <a:lnTo>
                  <a:pt x="865071" y="0"/>
                </a:lnTo>
                <a:lnTo>
                  <a:pt x="865071" y="89453"/>
                </a:lnTo>
                <a:lnTo>
                  <a:pt x="0" y="89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222314" r="-41479" b="-11409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 rot="-10800000">
            <a:off x="10705449" y="3797323"/>
            <a:ext cx="442745" cy="383458"/>
            <a:chOff x="0" y="0"/>
            <a:chExt cx="6202680" cy="5372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-10800000">
            <a:off x="10705449" y="5722761"/>
            <a:ext cx="442745" cy="383458"/>
            <a:chOff x="0" y="0"/>
            <a:chExt cx="6202680" cy="53721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 rot="-10800000">
            <a:off x="10705449" y="7648199"/>
            <a:ext cx="442745" cy="383458"/>
            <a:chOff x="0" y="0"/>
            <a:chExt cx="6202680" cy="53721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02680" cy="5372100"/>
            </a:xfrm>
            <a:custGeom>
              <a:avLst/>
              <a:gdLst/>
              <a:ahLst/>
              <a:cxnLst/>
              <a:rect l="l" t="t" r="r" b="b"/>
              <a:pathLst>
                <a:path w="6202680" h="537210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AutoShape 36"/>
          <p:cNvSpPr/>
          <p:nvPr/>
        </p:nvSpPr>
        <p:spPr>
          <a:xfrm rot="-5400000">
            <a:off x="10494286" y="6839109"/>
            <a:ext cx="865071" cy="0"/>
          </a:xfrm>
          <a:prstGeom prst="line">
            <a:avLst/>
          </a:prstGeom>
          <a:ln w="76200" cap="rnd">
            <a:solidFill>
              <a:srgbClr val="5271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 rot="-5400000">
            <a:off x="10494286" y="4913671"/>
            <a:ext cx="865071" cy="0"/>
          </a:xfrm>
          <a:prstGeom prst="line">
            <a:avLst/>
          </a:prstGeom>
          <a:ln w="76200" cap="rnd">
            <a:solidFill>
              <a:srgbClr val="5271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266587" y="4463564"/>
            <a:ext cx="4596550" cy="1982157"/>
            <a:chOff x="0" y="0"/>
            <a:chExt cx="1210614" cy="522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0614" cy="522050"/>
            </a:xfrm>
            <a:custGeom>
              <a:avLst/>
              <a:gdLst/>
              <a:ahLst/>
              <a:cxnLst/>
              <a:rect l="l" t="t" r="r" b="b"/>
              <a:pathLst>
                <a:path w="1210614" h="522050">
                  <a:moveTo>
                    <a:pt x="0" y="0"/>
                  </a:moveTo>
                  <a:lnTo>
                    <a:pt x="1210614" y="0"/>
                  </a:lnTo>
                  <a:lnTo>
                    <a:pt x="1210614" y="522050"/>
                  </a:lnTo>
                  <a:lnTo>
                    <a:pt x="0" y="52205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210614" cy="598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Product development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USDXXX,XXX</a:t>
              </a:r>
            </a:p>
            <a:p>
              <a:pPr algn="ctr">
                <a:lnSpc>
                  <a:spcPts val="4479"/>
                </a:lnSpc>
              </a:pPr>
              <a:endPara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1333613"/>
            <a:ext cx="6881239" cy="2317787"/>
            <a:chOff x="0" y="0"/>
            <a:chExt cx="9174985" cy="309038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23825"/>
              <a:ext cx="9174985" cy="1374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83"/>
                </a:lnSpc>
                <a:spcBef>
                  <a:spcPct val="0"/>
                </a:spcBef>
              </a:pPr>
              <a:r>
                <a:rPr lang="en-US" sz="6202" b="1" spc="186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THE ASK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693382"/>
              <a:ext cx="9174985" cy="1397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How much funds do you want to raise and for what?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45725" y="4463564"/>
            <a:ext cx="4596550" cy="1982157"/>
            <a:chOff x="0" y="0"/>
            <a:chExt cx="1210614" cy="5220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0614" cy="522050"/>
            </a:xfrm>
            <a:custGeom>
              <a:avLst/>
              <a:gdLst/>
              <a:ahLst/>
              <a:cxnLst/>
              <a:rect l="l" t="t" r="r" b="b"/>
              <a:pathLst>
                <a:path w="1210614" h="522050">
                  <a:moveTo>
                    <a:pt x="0" y="0"/>
                  </a:moveTo>
                  <a:lnTo>
                    <a:pt x="1210614" y="0"/>
                  </a:lnTo>
                  <a:lnTo>
                    <a:pt x="1210614" y="522050"/>
                  </a:lnTo>
                  <a:lnTo>
                    <a:pt x="0" y="52205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1210614" cy="598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Manpower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USDXXX,XXX</a:t>
              </a:r>
            </a:p>
            <a:p>
              <a:pPr algn="ctr">
                <a:lnSpc>
                  <a:spcPts val="4479"/>
                </a:lnSpc>
              </a:pPr>
              <a:endPara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23350" y="4463564"/>
            <a:ext cx="4596550" cy="1982157"/>
            <a:chOff x="0" y="0"/>
            <a:chExt cx="1210614" cy="522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10614" cy="522050"/>
            </a:xfrm>
            <a:custGeom>
              <a:avLst/>
              <a:gdLst/>
              <a:ahLst/>
              <a:cxnLst/>
              <a:rect l="l" t="t" r="r" b="b"/>
              <a:pathLst>
                <a:path w="1210614" h="522050">
                  <a:moveTo>
                    <a:pt x="0" y="0"/>
                  </a:moveTo>
                  <a:lnTo>
                    <a:pt x="1210614" y="0"/>
                  </a:lnTo>
                  <a:lnTo>
                    <a:pt x="1210614" y="522050"/>
                  </a:lnTo>
                  <a:lnTo>
                    <a:pt x="0" y="52205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1210614" cy="598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Capex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USDXXX,XXX</a:t>
              </a:r>
            </a:p>
            <a:p>
              <a:pPr algn="ctr">
                <a:lnSpc>
                  <a:spcPts val="4479"/>
                </a:lnSpc>
              </a:pPr>
              <a:endPara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49464" y="6605532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8514" y="6605532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06202" y="6605532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9464" y="7312791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28514" y="7312791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06202" y="7312791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9464" y="8017641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28514" y="8017641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06202" y="8017641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9464" y="8724900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28514" y="8724900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06202" y="8724900"/>
            <a:ext cx="461367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3140347" y="4185717"/>
            <a:ext cx="11417031" cy="4795153"/>
          </a:xfrm>
          <a:custGeom>
            <a:avLst/>
            <a:gdLst/>
            <a:ahLst/>
            <a:cxnLst/>
            <a:rect l="l" t="t" r="r" b="b"/>
            <a:pathLst>
              <a:path w="11417031" h="4795153">
                <a:moveTo>
                  <a:pt x="0" y="0"/>
                </a:moveTo>
                <a:lnTo>
                  <a:pt x="11417031" y="0"/>
                </a:lnTo>
                <a:lnTo>
                  <a:pt x="11417031" y="4795153"/>
                </a:lnTo>
                <a:lnTo>
                  <a:pt x="0" y="4795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028700" y="1600313"/>
            <a:ext cx="6881239" cy="1784387"/>
            <a:chOff x="0" y="0"/>
            <a:chExt cx="9174985" cy="2379182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23825"/>
              <a:ext cx="9174985" cy="1374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83"/>
                </a:lnSpc>
                <a:spcBef>
                  <a:spcPct val="0"/>
                </a:spcBef>
              </a:pPr>
              <a:r>
                <a:rPr lang="en-US" sz="6202" b="1" spc="186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THE ASK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693382"/>
              <a:ext cx="9174985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Roadmap of how the funding will be used.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420357" y="3636988"/>
            <a:ext cx="15065529" cy="6054898"/>
          </a:xfrm>
          <a:custGeom>
            <a:avLst/>
            <a:gdLst/>
            <a:ahLst/>
            <a:cxnLst/>
            <a:rect l="l" t="t" r="r" b="b"/>
            <a:pathLst>
              <a:path w="15065529" h="6054898">
                <a:moveTo>
                  <a:pt x="0" y="0"/>
                </a:moveTo>
                <a:lnTo>
                  <a:pt x="15065529" y="0"/>
                </a:lnTo>
                <a:lnTo>
                  <a:pt x="15065529" y="6054898"/>
                </a:lnTo>
                <a:lnTo>
                  <a:pt x="0" y="6054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561" r="-59100" b="-528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476488"/>
            <a:ext cx="8115300" cy="106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3"/>
              </a:lnSpc>
              <a:spcBef>
                <a:spcPct val="0"/>
              </a:spcBef>
            </a:pPr>
            <a:r>
              <a:rPr lang="en-US" sz="6202" b="1" spc="186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EXIT STRATEGY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398738"/>
            <a:ext cx="1384884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business exit strategy outlines the steps that a business owner needs to take to generate maximum value from selling their company.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84827" y="6029414"/>
            <a:ext cx="413658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timeline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295786" y="2806526"/>
            <a:ext cx="7242768" cy="1934339"/>
            <a:chOff x="0" y="0"/>
            <a:chExt cx="9657024" cy="257911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76200"/>
              <a:ext cx="9657024" cy="1863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18"/>
                </a:lnSpc>
              </a:pPr>
              <a:r>
                <a:rPr lang="en-US" sz="9562" b="1" spc="286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CONTACT US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0" y="2560068"/>
              <a:ext cx="9657024" cy="0"/>
            </a:xfrm>
            <a:prstGeom prst="line">
              <a:avLst/>
            </a:prstGeom>
            <a:ln w="38100" cap="rnd">
              <a:solidFill>
                <a:srgbClr val="5271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9812912" y="3557917"/>
            <a:ext cx="5512287" cy="4492514"/>
          </a:xfrm>
          <a:custGeom>
            <a:avLst/>
            <a:gdLst/>
            <a:ahLst/>
            <a:cxnLst/>
            <a:rect l="l" t="t" r="r" b="b"/>
            <a:pathLst>
              <a:path w="5512287" h="4492514">
                <a:moveTo>
                  <a:pt x="0" y="0"/>
                </a:moveTo>
                <a:lnTo>
                  <a:pt x="5512288" y="0"/>
                </a:lnTo>
                <a:lnTo>
                  <a:pt x="5512288" y="4492514"/>
                </a:lnTo>
                <a:lnTo>
                  <a:pt x="0" y="4492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295786" y="6693265"/>
            <a:ext cx="6067698" cy="2334827"/>
            <a:chOff x="0" y="0"/>
            <a:chExt cx="8090263" cy="311310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76200"/>
              <a:ext cx="8090263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123-456-7890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175551"/>
              <a:ext cx="8090263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Email address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427302"/>
              <a:ext cx="8090263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Website URL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42640" y="3592720"/>
            <a:ext cx="2652832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LOGO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3120390" y="4274503"/>
            <a:ext cx="1204722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SUPPORTING SLIDES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1360413" y="3352501"/>
            <a:ext cx="15898887" cy="5703706"/>
          </a:xfrm>
          <a:custGeom>
            <a:avLst/>
            <a:gdLst/>
            <a:ahLst/>
            <a:cxnLst/>
            <a:rect l="l" t="t" r="r" b="b"/>
            <a:pathLst>
              <a:path w="15898887" h="5703706">
                <a:moveTo>
                  <a:pt x="0" y="0"/>
                </a:moveTo>
                <a:lnTo>
                  <a:pt x="15898887" y="0"/>
                </a:lnTo>
                <a:lnTo>
                  <a:pt x="15898887" y="5703706"/>
                </a:lnTo>
                <a:lnTo>
                  <a:pt x="0" y="5703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8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360413" y="1096189"/>
            <a:ext cx="11131456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209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KEY TRENDS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520691" y="1261080"/>
            <a:ext cx="11131456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 spc="209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OTHER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Macintosh PowerPoint</Application>
  <PresentationFormat>Custom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Montserrat Ultra-Bold</vt:lpstr>
      <vt:lpstr>Poppins</vt:lpstr>
      <vt:lpstr>Roboto Condensed</vt:lpstr>
      <vt:lpstr>Poppins Bold</vt:lpstr>
      <vt:lpstr>Roboto Condensed Bold</vt:lpstr>
      <vt:lpstr>Calibri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ITEC PITCH DECK</dc:title>
  <cp:lastModifiedBy>Caroline Ang</cp:lastModifiedBy>
  <cp:revision>2</cp:revision>
  <dcterms:created xsi:type="dcterms:W3CDTF">2006-08-16T00:00:00Z</dcterms:created>
  <dcterms:modified xsi:type="dcterms:W3CDTF">2026-10-02T22:44:08Z</dcterms:modified>
  <dc:identifier>DAFt2xZYbnU</dc:identifier>
</cp:coreProperties>
</file>